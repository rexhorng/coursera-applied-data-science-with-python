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977639"/>
            <a:ext cx="12191695" cy="38100"/>
          </a:xfrm>
          <a:prstGeom prst="rect">
            <a:avLst/>
          </a:prstGeom>
          <a:solidFill>
            <a:srgbClr val="12B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1874519"/>
            <a:ext cx="146304" cy="1554480"/>
          </a:xfrm>
          <a:prstGeom prst="rect">
            <a:avLst/>
          </a:prstGeom>
          <a:solidFill>
            <a:srgbClr val="12B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1828800"/>
            <a:ext cx="10058400" cy="1371600"/>
          </a:xfrm>
          <a:prstGeom prst="rect">
            <a:avLst/>
          </a:prstGeom>
          <a:noFill/>
        </p:spPr>
        <p:txBody>
          <a:bodyPr wrap="square" anchor="t" lIns="25400" rIns="25400" tIns="25400" bIns="25400">
            <a:spAutoFit/>
          </a:bodyPr>
          <a:lstStyle/>
          <a:p>
            <a:pPr algn="l"/>
            <a:r>
              <a:rPr sz="4400" b="1" i="0">
                <a:solidFill>
                  <a:srgbClr val="FFFFFF"/>
                </a:solidFill>
                <a:latin typeface="Calibri"/>
              </a:rPr>
              <a:t>Agentic AI Developer-Tool Adoption</a:t>
            </a:r>
          </a:p>
        </p:txBody>
      </p:sp>
      <p:sp>
        <p:nvSpPr>
          <p:cNvPr id="6" name="TextBox 5"/>
          <p:cNvSpPr txBox="1"/>
          <p:nvPr/>
        </p:nvSpPr>
        <p:spPr>
          <a:xfrm>
            <a:off x="1161288" y="3154680"/>
            <a:ext cx="10058400" cy="731520"/>
          </a:xfrm>
          <a:prstGeom prst="rect">
            <a:avLst/>
          </a:prstGeom>
          <a:noFill/>
        </p:spPr>
        <p:txBody>
          <a:bodyPr wrap="square" anchor="t" lIns="25400" rIns="25400" tIns="25400" bIns="25400">
            <a:spAutoFit/>
          </a:bodyPr>
          <a:lstStyle/>
          <a:p>
            <a:pPr algn="l"/>
            <a:r>
              <a:rPr sz="2000" b="0" i="0">
                <a:solidFill>
                  <a:srgbClr val="8EC7E8"/>
                </a:solidFill>
                <a:latin typeface="Calibri"/>
              </a:rPr>
              <a:t>Enterprise Public-Intelligence Sweep — 10 Technology Companies</a:t>
            </a:r>
          </a:p>
        </p:txBody>
      </p:sp>
      <p:sp>
        <p:nvSpPr>
          <p:cNvPr id="7" name="TextBox 6"/>
          <p:cNvSpPr txBox="1"/>
          <p:nvPr/>
        </p:nvSpPr>
        <p:spPr>
          <a:xfrm>
            <a:off x="1161288" y="4206240"/>
            <a:ext cx="10058400" cy="457200"/>
          </a:xfrm>
          <a:prstGeom prst="rect">
            <a:avLst/>
          </a:prstGeom>
          <a:noFill/>
        </p:spPr>
        <p:txBody>
          <a:bodyPr wrap="square" anchor="t" lIns="25400" rIns="25400" tIns="25400" bIns="25400">
            <a:spAutoFit/>
          </a:bodyPr>
          <a:lstStyle/>
          <a:p>
            <a:pPr algn="l"/>
            <a:r>
              <a:rPr sz="1250" b="0" i="0">
                <a:solidFill>
                  <a:srgbClr val="CFDDE8"/>
                </a:solidFill>
                <a:latin typeface="Calibri"/>
              </a:rPr>
              <a:t>Apple · AMD · NVIDIA · Broadcom · MediaTek · Qualcomm · Alphabet/Google · Marvell · Cisco · Microsoft</a:t>
            </a:r>
          </a:p>
        </p:txBody>
      </p:sp>
      <p:sp>
        <p:nvSpPr>
          <p:cNvPr id="8" name="TextBox 7"/>
          <p:cNvSpPr txBox="1"/>
          <p:nvPr/>
        </p:nvSpPr>
        <p:spPr>
          <a:xfrm>
            <a:off x="1161288" y="4983480"/>
            <a:ext cx="10058400" cy="365760"/>
          </a:xfrm>
          <a:prstGeom prst="rect">
            <a:avLst/>
          </a:prstGeom>
          <a:noFill/>
        </p:spPr>
        <p:txBody>
          <a:bodyPr wrap="square" anchor="t" lIns="25400" rIns="25400" tIns="25400" bIns="25400">
            <a:spAutoFit/>
          </a:bodyPr>
          <a:lstStyle/>
          <a:p>
            <a:pPr algn="l"/>
            <a:r>
              <a:rPr sz="1300" b="1" i="0">
                <a:solidFill>
                  <a:srgbClr val="FFFFFF"/>
                </a:solidFill>
                <a:latin typeface="Calibri"/>
              </a:rPr>
              <a:t>Research date:  2026-05-25</a:t>
            </a:r>
          </a:p>
        </p:txBody>
      </p:sp>
      <p:sp>
        <p:nvSpPr>
          <p:cNvPr id="9" name="TextBox 8"/>
          <p:cNvSpPr txBox="1"/>
          <p:nvPr/>
        </p:nvSpPr>
        <p:spPr>
          <a:xfrm>
            <a:off x="1161288" y="5852160"/>
            <a:ext cx="10241280" cy="548640"/>
          </a:xfrm>
          <a:prstGeom prst="rect">
            <a:avLst/>
          </a:prstGeom>
          <a:noFill/>
        </p:spPr>
        <p:txBody>
          <a:bodyPr wrap="square" anchor="t" lIns="25400" rIns="25400" tIns="25400" bIns="25400">
            <a:spAutoFit/>
          </a:bodyPr>
          <a:lstStyle/>
          <a:p>
            <a:pPr algn="l"/>
            <a:r>
              <a:rPr sz="1050" b="0" i="1">
                <a:solidFill>
                  <a:srgbClr val="9FB6C9"/>
                </a:solidFill>
                <a:latin typeface="Calibri"/>
              </a:rPr>
              <a:t>Confidence tiers:  T1 confirmed   ·   T2 strong   ·   T3 weak   ·   T4 none          Public sources only · figures are self/vendor-reported (directional)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38100"/>
          </a:xfrm>
          <a:prstGeom prst="rect">
            <a:avLst/>
          </a:prstGeom>
          <a:solidFill>
            <a:srgbClr val="12B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11338560" cy="566928"/>
          </a:xfrm>
          <a:prstGeom prst="rect">
            <a:avLst/>
          </a:prstGeom>
          <a:noFill/>
        </p:spPr>
        <p:txBody>
          <a:bodyPr wrap="square" anchor="ctr" lIns="25400" rIns="25400" tIns="25400" bIns="25400">
            <a:spAutoFit/>
          </a:bodyPr>
          <a:lstStyle/>
          <a:p>
            <a:pPr algn="l"/>
            <a:r>
              <a:rPr sz="2600" b="1" i="0">
                <a:solidFill>
                  <a:srgbClr val="FFFFFF"/>
                </a:solidFill>
                <a:latin typeface="Calibri"/>
              </a:rPr>
              <a:t>Executive Summary</a:t>
            </a:r>
          </a:p>
        </p:txBody>
      </p:sp>
      <p:sp>
        <p:nvSpPr>
          <p:cNvPr id="5" name="TextBox 4"/>
          <p:cNvSpPr txBox="1"/>
          <p:nvPr/>
        </p:nvSpPr>
        <p:spPr>
          <a:xfrm>
            <a:off x="640080" y="1234440"/>
            <a:ext cx="10972800" cy="5029200"/>
          </a:xfrm>
          <a:prstGeom prst="rect">
            <a:avLst/>
          </a:prstGeom>
          <a:noFill/>
        </p:spPr>
        <p:txBody>
          <a:bodyPr wrap="square" anchor="t" lIns="25400" rIns="25400" tIns="25400" bIns="25400">
            <a:spAutoFit/>
          </a:bodyPr>
          <a:lstStyle/>
          <a:p>
            <a:pPr algn="l">
              <a:lnSpc>
                <a:spcPct val="104000"/>
              </a:lnSpc>
              <a:spcAft>
                <a:spcPts val="1300"/>
              </a:spcAft>
            </a:pPr>
            <a:r>
              <a:rPr sz="1450" b="0" i="0">
                <a:solidFill>
                  <a:srgbClr val="1B2A38"/>
                </a:solidFill>
                <a:latin typeface="Calibri"/>
              </a:rPr>
              <a:t>•  Scope: 10 semiconductor, hardware and hyperscaler firms assessed for agentic AI developer-tool adoption using only public sources — 36 company-tool pairings evidence-tiered (T1 confirmed → T4 none).</a:t>
            </a:r>
          </a:p>
          <a:p>
            <a:pPr algn="l">
              <a:lnSpc>
                <a:spcPct val="104000"/>
              </a:lnSpc>
              <a:spcAft>
                <a:spcPts val="1300"/>
              </a:spcAft>
            </a:pPr>
            <a:r>
              <a:rPr sz="1450" b="0" i="0">
                <a:solidFill>
                  <a:srgbClr val="1B2A38"/>
                </a:solidFill>
                <a:latin typeface="Calibri"/>
              </a:rPr>
              <a:t>•  Adoption is real and broad: 7 of 10 firms show at least one confirmed (T1) internal-use signal; every firm shows some adoption except where it is purely domain-specific.</a:t>
            </a:r>
          </a:p>
          <a:p>
            <a:pPr algn="l">
              <a:lnSpc>
                <a:spcPct val="104000"/>
              </a:lnSpc>
              <a:spcAft>
                <a:spcPts val="1300"/>
              </a:spcAft>
            </a:pPr>
            <a:r>
              <a:rPr sz="1450" b="0" i="0">
                <a:solidFill>
                  <a:srgbClr val="1B2A38"/>
                </a:solidFill>
                <a:latin typeface="Calibri"/>
              </a:rPr>
              <a:t>•  Two camps emerge — third-party-agent adopters (NVIDIA, AMD, Microsoft, Cisco, Apple) vs in-house / on-device builders (Google, Qualcomm, MediaTek) — driven by IP-secrecy and silicon-showcase motives.</a:t>
            </a:r>
          </a:p>
          <a:p>
            <a:pPr algn="l">
              <a:lnSpc>
                <a:spcPct val="104000"/>
              </a:lnSpc>
              <a:spcAft>
                <a:spcPts val="1300"/>
              </a:spcAft>
            </a:pPr>
            <a:r>
              <a:rPr sz="1450" b="0" i="0">
                <a:solidFill>
                  <a:srgbClr val="1B2A38"/>
                </a:solidFill>
                <a:latin typeface="Calibri"/>
              </a:rPr>
              <a:t>•  Claude Code is the single most pervasive tool, surfacing at ~6 of 10 companies; OpenAI Codex and GitHub Copilot follow.</a:t>
            </a:r>
          </a:p>
          <a:p>
            <a:pPr algn="l">
              <a:lnSpc>
                <a:spcPct val="104000"/>
              </a:lnSpc>
              <a:spcAft>
                <a:spcPts val="1300"/>
              </a:spcAft>
            </a:pPr>
            <a:r>
              <a:rPr sz="1450" b="0" i="0">
                <a:solidFill>
                  <a:srgbClr val="1B2A38"/>
                </a:solidFill>
                <a:latin typeface="Calibri"/>
              </a:rPr>
              <a:t>•  Largest disclosed scale: NVIDIA (~30k Cursor + ~10k Codex), Cisco (~6k Copilot), Qualcomm (~1,500 in-house); Google reports &gt;25% of new code is AI-generated.</a:t>
            </a:r>
          </a:p>
          <a:p>
            <a:pPr algn="l">
              <a:lnSpc>
                <a:spcPct val="104000"/>
              </a:lnSpc>
              <a:spcAft>
                <a:spcPts val="1300"/>
              </a:spcAft>
            </a:pPr>
            <a:r>
              <a:rPr sz="1450" b="0" i="0">
                <a:solidFill>
                  <a:srgbClr val="1B2A38"/>
                </a:solidFill>
                <a:latin typeface="Calibri"/>
              </a:rPr>
              <a:t>•  Evidence caveats: nearly all scale figures are self / vendor-reported (directional) and source fetches were snippet-level (HTTP 403); claims were corroborated across multiple sources where possible.</a:t>
            </a:r>
          </a:p>
        </p:txBody>
      </p:sp>
      <p:sp>
        <p:nvSpPr>
          <p:cNvPr id="6" name="Rectangle 5"/>
          <p:cNvSpPr/>
          <p:nvPr/>
        </p:nvSpPr>
        <p:spPr>
          <a:xfrm>
            <a:off x="640080" y="5806440"/>
            <a:ext cx="2651760" cy="5029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5806440"/>
            <a:ext cx="2651760" cy="502920"/>
          </a:xfrm>
          <a:prstGeom prst="rect">
            <a:avLst/>
          </a:prstGeom>
          <a:noFill/>
        </p:spPr>
        <p:txBody>
          <a:bodyPr wrap="square" anchor="ctr" lIns="25400" rIns="25400" tIns="25400" bIns="25400">
            <a:spAutoFit/>
          </a:bodyPr>
          <a:lstStyle/>
          <a:p>
            <a:pPr algn="ctr"/>
            <a:r>
              <a:rPr sz="1300" b="1" i="0">
                <a:solidFill>
                  <a:srgbClr val="FFFFFF"/>
                </a:solidFill>
                <a:latin typeface="Calibri"/>
              </a:rPr>
              <a:t>11   T1 confirmed</a:t>
            </a:r>
          </a:p>
        </p:txBody>
      </p:sp>
      <p:sp>
        <p:nvSpPr>
          <p:cNvPr id="8" name="Rectangle 7"/>
          <p:cNvSpPr/>
          <p:nvPr/>
        </p:nvSpPr>
        <p:spPr>
          <a:xfrm>
            <a:off x="3410712" y="5806440"/>
            <a:ext cx="2651760" cy="502920"/>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10712" y="5806440"/>
            <a:ext cx="2651760" cy="502920"/>
          </a:xfrm>
          <a:prstGeom prst="rect">
            <a:avLst/>
          </a:prstGeom>
          <a:noFill/>
        </p:spPr>
        <p:txBody>
          <a:bodyPr wrap="square" anchor="ctr" lIns="25400" rIns="25400" tIns="25400" bIns="25400">
            <a:spAutoFit/>
          </a:bodyPr>
          <a:lstStyle/>
          <a:p>
            <a:pPr algn="ctr"/>
            <a:r>
              <a:rPr sz="1300" b="1" i="0">
                <a:solidFill>
                  <a:srgbClr val="FFFFFF"/>
                </a:solidFill>
                <a:latin typeface="Calibri"/>
              </a:rPr>
              <a:t>9   T2 strong</a:t>
            </a:r>
          </a:p>
        </p:txBody>
      </p:sp>
      <p:sp>
        <p:nvSpPr>
          <p:cNvPr id="10" name="Rectangle 9"/>
          <p:cNvSpPr/>
          <p:nvPr/>
        </p:nvSpPr>
        <p:spPr>
          <a:xfrm>
            <a:off x="6181344" y="5806440"/>
            <a:ext cx="2651760" cy="502920"/>
          </a:xfrm>
          <a:prstGeom prst="rect">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81344" y="5806440"/>
            <a:ext cx="2651760" cy="502920"/>
          </a:xfrm>
          <a:prstGeom prst="rect">
            <a:avLst/>
          </a:prstGeom>
          <a:noFill/>
        </p:spPr>
        <p:txBody>
          <a:bodyPr wrap="square" anchor="ctr" lIns="25400" rIns="25400" tIns="25400" bIns="25400">
            <a:spAutoFit/>
          </a:bodyPr>
          <a:lstStyle/>
          <a:p>
            <a:pPr algn="ctr"/>
            <a:r>
              <a:rPr sz="1300" b="1" i="0">
                <a:solidFill>
                  <a:srgbClr val="FFFFFF"/>
                </a:solidFill>
                <a:latin typeface="Calibri"/>
              </a:rPr>
              <a:t>5   T3 weak</a:t>
            </a:r>
          </a:p>
        </p:txBody>
      </p:sp>
      <p:sp>
        <p:nvSpPr>
          <p:cNvPr id="12" name="Rectangle 11"/>
          <p:cNvSpPr/>
          <p:nvPr/>
        </p:nvSpPr>
        <p:spPr>
          <a:xfrm>
            <a:off x="8951976" y="5806440"/>
            <a:ext cx="2651760" cy="502920"/>
          </a:xfrm>
          <a:prstGeom prst="rect">
            <a:avLst/>
          </a:prstGeom>
          <a:solidFill>
            <a:srgbClr val="9E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51976" y="5806440"/>
            <a:ext cx="2651760" cy="502920"/>
          </a:xfrm>
          <a:prstGeom prst="rect">
            <a:avLst/>
          </a:prstGeom>
          <a:noFill/>
        </p:spPr>
        <p:txBody>
          <a:bodyPr wrap="square" anchor="ctr" lIns="25400" rIns="25400" tIns="25400" bIns="25400">
            <a:spAutoFit/>
          </a:bodyPr>
          <a:lstStyle/>
          <a:p>
            <a:pPr algn="ctr"/>
            <a:r>
              <a:rPr sz="1300" b="1" i="0">
                <a:solidFill>
                  <a:srgbClr val="FFFFFF"/>
                </a:solidFill>
                <a:latin typeface="Calibri"/>
              </a:rPr>
              <a:t>11   T4 none</a:t>
            </a:r>
          </a:p>
        </p:txBody>
      </p:sp>
      <p:sp>
        <p:nvSpPr>
          <p:cNvPr id="14" name="TextBox 13"/>
          <p:cNvSpPr txBox="1"/>
          <p:nvPr/>
        </p:nvSpPr>
        <p:spPr>
          <a:xfrm>
            <a:off x="411480" y="6510528"/>
            <a:ext cx="8229600" cy="274320"/>
          </a:xfrm>
          <a:prstGeom prst="rect">
            <a:avLst/>
          </a:prstGeom>
          <a:noFill/>
        </p:spPr>
        <p:txBody>
          <a:bodyPr wrap="square" anchor="t" lIns="25400" rIns="25400" tIns="25400" bIns="25400">
            <a:spAutoFit/>
          </a:bodyPr>
          <a:lstStyle/>
          <a:p>
            <a:pPr algn="l"/>
            <a:r>
              <a:rPr sz="800" b="0" i="0">
                <a:solidFill>
                  <a:srgbClr val="5A6B7B"/>
                </a:solidFill>
                <a:latin typeface="Calibri"/>
              </a:rPr>
              <a:t>Agentic AI Developer-Tool Adoption  ·  Public-intelligence sweep  ·  2026-05-25</a:t>
            </a:r>
          </a:p>
        </p:txBody>
      </p:sp>
      <p:sp>
        <p:nvSpPr>
          <p:cNvPr id="15" name="TextBox 14"/>
          <p:cNvSpPr txBox="1"/>
          <p:nvPr/>
        </p:nvSpPr>
        <p:spPr>
          <a:xfrm>
            <a:off x="11247120" y="6510528"/>
            <a:ext cx="731520" cy="274320"/>
          </a:xfrm>
          <a:prstGeom prst="rect">
            <a:avLst/>
          </a:prstGeom>
          <a:noFill/>
        </p:spPr>
        <p:txBody>
          <a:bodyPr wrap="square" anchor="t" lIns="25400" rIns="25400" tIns="25400" bIns="25400">
            <a:spAutoFit/>
          </a:bodyPr>
          <a:lstStyle/>
          <a:p>
            <a:pPr algn="r"/>
            <a:r>
              <a:rPr sz="900" b="1" i="0">
                <a:solidFill>
                  <a:srgbClr val="5A6B7B"/>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38100"/>
          </a:xfrm>
          <a:prstGeom prst="rect">
            <a:avLst/>
          </a:prstGeom>
          <a:solidFill>
            <a:srgbClr val="12B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11338560" cy="566928"/>
          </a:xfrm>
          <a:prstGeom prst="rect">
            <a:avLst/>
          </a:prstGeom>
          <a:noFill/>
        </p:spPr>
        <p:txBody>
          <a:bodyPr wrap="square" anchor="ctr" lIns="25400" rIns="25400" tIns="25400" bIns="25400">
            <a:spAutoFit/>
          </a:bodyPr>
          <a:lstStyle/>
          <a:p>
            <a:pPr algn="l"/>
            <a:r>
              <a:rPr sz="2600" b="1" i="0">
                <a:solidFill>
                  <a:srgbClr val="FFFFFF"/>
                </a:solidFill>
                <a:latin typeface="Calibri"/>
              </a:rPr>
              <a:t>Key Findings — Overview</a:t>
            </a:r>
          </a:p>
        </p:txBody>
      </p:sp>
      <p:sp>
        <p:nvSpPr>
          <p:cNvPr id="5" name="TextBox 4"/>
          <p:cNvSpPr txBox="1"/>
          <p:nvPr/>
        </p:nvSpPr>
        <p:spPr>
          <a:xfrm>
            <a:off x="429768" y="603504"/>
            <a:ext cx="11338560" cy="274320"/>
          </a:xfrm>
          <a:prstGeom prst="rect">
            <a:avLst/>
          </a:prstGeom>
          <a:noFill/>
        </p:spPr>
        <p:txBody>
          <a:bodyPr wrap="square" anchor="t" lIns="25400" rIns="25400" tIns="25400" bIns="25400">
            <a:spAutoFit/>
          </a:bodyPr>
          <a:lstStyle/>
          <a:p>
            <a:pPr algn="l"/>
            <a:r>
              <a:rPr sz="1200" b="0" i="0">
                <a:solidFill>
                  <a:srgbClr val="BFD7EA"/>
                </a:solidFill>
                <a:latin typeface="Calibri"/>
              </a:rPr>
              <a:t>Headline tool, strongest evidence tier, and adoption posture per company</a:t>
            </a:r>
          </a:p>
        </p:txBody>
      </p:sp>
      <p:graphicFrame>
        <p:nvGraphicFramePr>
          <p:cNvPr id="6" name="Table 5"/>
          <p:cNvGraphicFramePr>
            <a:graphicFrameLocks noGrp="1"/>
          </p:cNvGraphicFramePr>
          <p:nvPr/>
        </p:nvGraphicFramePr>
        <p:xfrm>
          <a:off x="411480" y="1188720"/>
          <a:ext cx="11155680" cy="4956048"/>
        </p:xfrm>
        <a:graphic>
          <a:graphicData uri="http://schemas.openxmlformats.org/drawingml/2006/table">
            <a:tbl>
              <a:tblPr>
                <a:tableStyleId>{5C22544A-7EE6-4342-B048-85BDC9FD1C3A}</a:tableStyleId>
              </a:tblPr>
              <a:tblGrid>
                <a:gridCol w="2331720"/>
                <a:gridCol w="2788920"/>
                <a:gridCol w="1234440"/>
                <a:gridCol w="4800600"/>
              </a:tblGrid>
              <a:tr h="384048">
                <a:tc>
                  <a:txBody>
                    <a:bodyPr wrap="square"/>
                    <a:lstStyle/>
                    <a:p>
                      <a:pPr algn="l"/>
                      <a:r>
                        <a:rPr sz="1200" b="1">
                          <a:solidFill>
                            <a:srgbClr val="FFFFFF"/>
                          </a:solidFill>
                          <a:latin typeface="Calibri"/>
                        </a:rPr>
                        <a:t>Company</a:t>
                      </a:r>
                    </a:p>
                  </a:txBody>
                  <a:tcPr anchor="ctr" marL="76200" marR="76200" marT="25400" marB="25400">
                    <a:solidFill>
                      <a:srgbClr val="0F2A4A"/>
                    </a:solidFill>
                  </a:tcPr>
                </a:tc>
                <a:tc>
                  <a:txBody>
                    <a:bodyPr wrap="square"/>
                    <a:lstStyle/>
                    <a:p>
                      <a:pPr algn="l"/>
                      <a:r>
                        <a:rPr sz="1200" b="1">
                          <a:solidFill>
                            <a:srgbClr val="FFFFFF"/>
                          </a:solidFill>
                          <a:latin typeface="Calibri"/>
                        </a:rPr>
                        <a:t>Headline tool(s)</a:t>
                      </a:r>
                    </a:p>
                  </a:txBody>
                  <a:tcPr anchor="ctr" marL="76200" marR="76200" marT="25400" marB="25400">
                    <a:solidFill>
                      <a:srgbClr val="0F2A4A"/>
                    </a:solidFill>
                  </a:tcPr>
                </a:tc>
                <a:tc>
                  <a:txBody>
                    <a:bodyPr wrap="square"/>
                    <a:lstStyle/>
                    <a:p>
                      <a:pPr algn="ctr"/>
                      <a:r>
                        <a:rPr sz="1200" b="1">
                          <a:solidFill>
                            <a:srgbClr val="FFFFFF"/>
                          </a:solidFill>
                          <a:latin typeface="Calibri"/>
                        </a:rPr>
                        <a:t>Tier</a:t>
                      </a:r>
                    </a:p>
                  </a:txBody>
                  <a:tcPr anchor="ctr" marL="76200" marR="76200" marT="25400" marB="25400">
                    <a:solidFill>
                      <a:srgbClr val="0F2A4A"/>
                    </a:solidFill>
                  </a:tcPr>
                </a:tc>
                <a:tc>
                  <a:txBody>
                    <a:bodyPr wrap="square"/>
                    <a:lstStyle/>
                    <a:p>
                      <a:pPr algn="l"/>
                      <a:r>
                        <a:rPr sz="1200" b="1">
                          <a:solidFill>
                            <a:srgbClr val="FFFFFF"/>
                          </a:solidFill>
                          <a:latin typeface="Calibri"/>
                        </a:rPr>
                        <a:t>Adoption posture</a:t>
                      </a:r>
                    </a:p>
                  </a:txBody>
                  <a:tcPr anchor="ctr" marL="76200" marR="76200" marT="25400" marB="25400">
                    <a:solidFill>
                      <a:srgbClr val="0F2A4A"/>
                    </a:solidFill>
                  </a:tcPr>
                </a:tc>
              </a:tr>
              <a:tr h="457200">
                <a:tc>
                  <a:txBody>
                    <a:bodyPr wrap="square"/>
                    <a:lstStyle/>
                    <a:p>
                      <a:pPr algn="l"/>
                      <a:r>
                        <a:rPr sz="1100" b="1">
                          <a:solidFill>
                            <a:srgbClr val="1B2A38"/>
                          </a:solidFill>
                          <a:latin typeface="Calibri"/>
                        </a:rPr>
                        <a:t>Apple  (AAPL)</a:t>
                      </a:r>
                    </a:p>
                  </a:txBody>
                  <a:tcPr anchor="ctr" marL="76200" marR="76200" marT="25400" marB="25400">
                    <a:solidFill>
                      <a:srgbClr val="FFFFFF"/>
                    </a:solidFill>
                  </a:tcPr>
                </a:tc>
                <a:tc>
                  <a:txBody>
                    <a:bodyPr wrap="square"/>
                    <a:lstStyle/>
                    <a:p>
                      <a:pPr algn="l"/>
                      <a:r>
                        <a:rPr sz="1050" b="0">
                          <a:solidFill>
                            <a:srgbClr val="1B2A38"/>
                          </a:solidFill>
                          <a:latin typeface="Calibri"/>
                        </a:rPr>
                        <a:t>Claude Code / Agent SDK</a:t>
                      </a:r>
                    </a:p>
                  </a:txBody>
                  <a:tcPr anchor="ctr" marL="76200" marR="76200" marT="25400" marB="25400">
                    <a:solidFill>
                      <a:srgbClr val="FFFFFF"/>
                    </a:solidFill>
                  </a:tcPr>
                </a:tc>
                <a:tc>
                  <a:txBody>
                    <a:bodyPr wrap="square"/>
                    <a:lstStyle/>
                    <a:p>
                      <a:pPr algn="ctr"/>
                      <a:r>
                        <a:rPr sz="1100" b="1">
                          <a:solidFill>
                            <a:srgbClr val="FFFFFF"/>
                          </a:solidFill>
                          <a:latin typeface="Calibri"/>
                        </a:rPr>
                        <a:t>T2</a:t>
                      </a:r>
                    </a:p>
                  </a:txBody>
                  <a:tcPr anchor="ctr" marL="76200" marR="76200" marT="25400" marB="25400">
                    <a:solidFill>
                      <a:srgbClr val="1565C0"/>
                    </a:solidFill>
                  </a:tcPr>
                </a:tc>
                <a:tc>
                  <a:txBody>
                    <a:bodyPr wrap="square"/>
                    <a:lstStyle/>
                    <a:p>
                      <a:pPr algn="l"/>
                      <a:r>
                        <a:rPr sz="1000" b="0">
                          <a:solidFill>
                            <a:srgbClr val="1B2A38"/>
                          </a:solidFill>
                          <a:latin typeface="Calibri"/>
                        </a:rPr>
                        <a:t>Internal Claude/Claude Code + Xcode 26.3 SDK; Copilot banned</a:t>
                      </a:r>
                    </a:p>
                  </a:txBody>
                  <a:tcPr anchor="ctr" marL="76200" marR="76200" marT="25400" marB="25400">
                    <a:solidFill>
                      <a:srgbClr val="FFFFFF"/>
                    </a:solidFill>
                  </a:tcPr>
                </a:tc>
              </a:tr>
              <a:tr h="457200">
                <a:tc>
                  <a:txBody>
                    <a:bodyPr wrap="square"/>
                    <a:lstStyle/>
                    <a:p>
                      <a:pPr algn="l"/>
                      <a:r>
                        <a:rPr sz="1100" b="1">
                          <a:solidFill>
                            <a:srgbClr val="1B2A38"/>
                          </a:solidFill>
                          <a:latin typeface="Calibri"/>
                        </a:rPr>
                        <a:t>AMD  (AMD)</a:t>
                      </a:r>
                    </a:p>
                  </a:txBody>
                  <a:tcPr anchor="ctr" marL="76200" marR="76200" marT="25400" marB="25400">
                    <a:solidFill>
                      <a:srgbClr val="E7EDF3"/>
                    </a:solidFill>
                  </a:tcPr>
                </a:tc>
                <a:tc>
                  <a:txBody>
                    <a:bodyPr wrap="square"/>
                    <a:lstStyle/>
                    <a:p>
                      <a:pPr algn="l"/>
                      <a:r>
                        <a:rPr sz="1050" b="0">
                          <a:solidFill>
                            <a:srgbClr val="1B2A38"/>
                          </a:solidFill>
                          <a:latin typeface="Calibri"/>
                        </a:rPr>
                        <a:t>Claude Code</a:t>
                      </a:r>
                    </a:p>
                  </a:txBody>
                  <a:tcPr anchor="ctr" marL="76200" marR="76200" marT="25400" marB="25400">
                    <a:solidFill>
                      <a:srgbClr val="E7EDF3"/>
                    </a:solidFill>
                  </a:tcPr>
                </a:tc>
                <a:tc>
                  <a:txBody>
                    <a:bodyPr wrap="square"/>
                    <a:lstStyle/>
                    <a:p>
                      <a:pPr algn="ctr"/>
                      <a:r>
                        <a:rPr sz="1100" b="1">
                          <a:solidFill>
                            <a:srgbClr val="FFFFFF"/>
                          </a:solidFill>
                          <a:latin typeface="Calibri"/>
                        </a:rPr>
                        <a:t>T1</a:t>
                      </a:r>
                    </a:p>
                  </a:txBody>
                  <a:tcPr anchor="ctr" marL="76200" marR="76200" marT="25400" marB="25400">
                    <a:solidFill>
                      <a:srgbClr val="2E7D32"/>
                    </a:solidFill>
                  </a:tcPr>
                </a:tc>
                <a:tc>
                  <a:txBody>
                    <a:bodyPr wrap="square"/>
                    <a:lstStyle/>
                    <a:p>
                      <a:pPr algn="l"/>
                      <a:r>
                        <a:rPr sz="1000" b="0">
                          <a:solidFill>
                            <a:srgbClr val="1B2A38"/>
                          </a:solidFill>
                          <a:latin typeface="Calibri"/>
                        </a:rPr>
                        <a:t>Claude Code dogfooding by the AI Group (public telemetry)</a:t>
                      </a:r>
                    </a:p>
                  </a:txBody>
                  <a:tcPr anchor="ctr" marL="76200" marR="76200" marT="25400" marB="25400">
                    <a:solidFill>
                      <a:srgbClr val="E7EDF3"/>
                    </a:solidFill>
                  </a:tcPr>
                </a:tc>
              </a:tr>
              <a:tr h="457200">
                <a:tc>
                  <a:txBody>
                    <a:bodyPr wrap="square"/>
                    <a:lstStyle/>
                    <a:p>
                      <a:pPr algn="l"/>
                      <a:r>
                        <a:rPr sz="1100" b="1">
                          <a:solidFill>
                            <a:srgbClr val="1B2A38"/>
                          </a:solidFill>
                          <a:latin typeface="Calibri"/>
                        </a:rPr>
                        <a:t>NVIDIA  (NVDA)</a:t>
                      </a:r>
                    </a:p>
                  </a:txBody>
                  <a:tcPr anchor="ctr" marL="76200" marR="76200" marT="25400" marB="25400">
                    <a:solidFill>
                      <a:srgbClr val="FFFFFF"/>
                    </a:solidFill>
                  </a:tcPr>
                </a:tc>
                <a:tc>
                  <a:txBody>
                    <a:bodyPr wrap="square"/>
                    <a:lstStyle/>
                    <a:p>
                      <a:pPr algn="l"/>
                      <a:r>
                        <a:rPr sz="1050" b="0">
                          <a:solidFill>
                            <a:srgbClr val="1B2A38"/>
                          </a:solidFill>
                          <a:latin typeface="Calibri"/>
                        </a:rPr>
                        <a:t>Cursor + OpenAI Codex</a:t>
                      </a:r>
                    </a:p>
                  </a:txBody>
                  <a:tcPr anchor="ctr" marL="76200" marR="76200" marT="25400" marB="25400">
                    <a:solidFill>
                      <a:srgbClr val="FFFFFF"/>
                    </a:solidFill>
                  </a:tcPr>
                </a:tc>
                <a:tc>
                  <a:txBody>
                    <a:bodyPr wrap="square"/>
                    <a:lstStyle/>
                    <a:p>
                      <a:pPr algn="ctr"/>
                      <a:r>
                        <a:rPr sz="1100" b="1">
                          <a:solidFill>
                            <a:srgbClr val="FFFFFF"/>
                          </a:solidFill>
                          <a:latin typeface="Calibri"/>
                        </a:rPr>
                        <a:t>T1</a:t>
                      </a:r>
                    </a:p>
                  </a:txBody>
                  <a:tcPr anchor="ctr" marL="76200" marR="76200" marT="25400" marB="25400">
                    <a:solidFill>
                      <a:srgbClr val="2E7D32"/>
                    </a:solidFill>
                  </a:tcPr>
                </a:tc>
                <a:tc>
                  <a:txBody>
                    <a:bodyPr wrap="square"/>
                    <a:lstStyle/>
                    <a:p>
                      <a:pPr algn="l"/>
                      <a:r>
                        <a:rPr sz="1000" b="0">
                          <a:solidFill>
                            <a:srgbClr val="1B2A38"/>
                          </a:solidFill>
                          <a:latin typeface="Calibri"/>
                        </a:rPr>
                        <a:t>Cursor (~30k eng) + Codex (~10k) at scale</a:t>
                      </a:r>
                    </a:p>
                  </a:txBody>
                  <a:tcPr anchor="ctr" marL="76200" marR="76200" marT="25400" marB="25400">
                    <a:solidFill>
                      <a:srgbClr val="FFFFFF"/>
                    </a:solidFill>
                  </a:tcPr>
                </a:tc>
              </a:tr>
              <a:tr h="457200">
                <a:tc>
                  <a:txBody>
                    <a:bodyPr wrap="square"/>
                    <a:lstStyle/>
                    <a:p>
                      <a:pPr algn="l"/>
                      <a:r>
                        <a:rPr sz="1100" b="1">
                          <a:solidFill>
                            <a:srgbClr val="1B2A38"/>
                          </a:solidFill>
                          <a:latin typeface="Calibri"/>
                        </a:rPr>
                        <a:t>Broadcom  (AVGO)</a:t>
                      </a:r>
                    </a:p>
                  </a:txBody>
                  <a:tcPr anchor="ctr" marL="76200" marR="76200" marT="25400" marB="25400">
                    <a:solidFill>
                      <a:srgbClr val="E7EDF3"/>
                    </a:solidFill>
                  </a:tcPr>
                </a:tc>
                <a:tc>
                  <a:txBody>
                    <a:bodyPr wrap="square"/>
                    <a:lstStyle/>
                    <a:p>
                      <a:pPr algn="l"/>
                      <a:r>
                        <a:rPr sz="1050" b="0">
                          <a:solidFill>
                            <a:srgbClr val="1B2A38"/>
                          </a:solidFill>
                          <a:latin typeface="Calibri"/>
                        </a:rPr>
                        <a:t>Agentic assistants (Tanzu)</a:t>
                      </a:r>
                    </a:p>
                  </a:txBody>
                  <a:tcPr anchor="ctr" marL="76200" marR="76200" marT="25400" marB="25400">
                    <a:solidFill>
                      <a:srgbClr val="E7EDF3"/>
                    </a:solidFill>
                  </a:tcPr>
                </a:tc>
                <a:tc>
                  <a:txBody>
                    <a:bodyPr wrap="square"/>
                    <a:lstStyle/>
                    <a:p>
                      <a:pPr algn="ctr"/>
                      <a:r>
                        <a:rPr sz="1100" b="1">
                          <a:solidFill>
                            <a:srgbClr val="FFFFFF"/>
                          </a:solidFill>
                          <a:latin typeface="Calibri"/>
                        </a:rPr>
                        <a:t>T2</a:t>
                      </a:r>
                    </a:p>
                  </a:txBody>
                  <a:tcPr anchor="ctr" marL="76200" marR="76200" marT="25400" marB="25400">
                    <a:solidFill>
                      <a:srgbClr val="1565C0"/>
                    </a:solidFill>
                  </a:tcPr>
                </a:tc>
                <a:tc>
                  <a:txBody>
                    <a:bodyPr wrap="square"/>
                    <a:lstStyle/>
                    <a:p>
                      <a:pPr algn="l"/>
                      <a:r>
                        <a:rPr sz="1000" b="0">
                          <a:solidFill>
                            <a:srgbClr val="1B2A38"/>
                          </a:solidFill>
                          <a:latin typeface="Calibri"/>
                        </a:rPr>
                        <a:t>Internal ticket-to-PR agents; vendor tool unnamed</a:t>
                      </a:r>
                    </a:p>
                  </a:txBody>
                  <a:tcPr anchor="ctr" marL="76200" marR="76200" marT="25400" marB="25400">
                    <a:solidFill>
                      <a:srgbClr val="E7EDF3"/>
                    </a:solidFill>
                  </a:tcPr>
                </a:tc>
              </a:tr>
              <a:tr h="457200">
                <a:tc>
                  <a:txBody>
                    <a:bodyPr wrap="square"/>
                    <a:lstStyle/>
                    <a:p>
                      <a:pPr algn="l"/>
                      <a:r>
                        <a:rPr sz="1100" b="1">
                          <a:solidFill>
                            <a:srgbClr val="1B2A38"/>
                          </a:solidFill>
                          <a:latin typeface="Calibri"/>
                        </a:rPr>
                        <a:t>MediaTek  (2454.TW)</a:t>
                      </a:r>
                    </a:p>
                  </a:txBody>
                  <a:tcPr anchor="ctr" marL="76200" marR="76200" marT="25400" marB="25400">
                    <a:solidFill>
                      <a:srgbClr val="FFFFFF"/>
                    </a:solidFill>
                  </a:tcPr>
                </a:tc>
                <a:tc>
                  <a:txBody>
                    <a:bodyPr wrap="square"/>
                    <a:lstStyle/>
                    <a:p>
                      <a:pPr algn="l"/>
                      <a:r>
                        <a:rPr sz="1050" b="0">
                          <a:solidFill>
                            <a:srgbClr val="1B2A38"/>
                          </a:solidFill>
                          <a:latin typeface="Calibri"/>
                        </a:rPr>
                        <a:t>In-house GPT-4 / DaVinci</a:t>
                      </a:r>
                    </a:p>
                  </a:txBody>
                  <a:tcPr anchor="ctr" marL="76200" marR="76200" marT="25400" marB="25400">
                    <a:solidFill>
                      <a:srgbClr val="FFFFFF"/>
                    </a:solidFill>
                  </a:tcPr>
                </a:tc>
                <a:tc>
                  <a:txBody>
                    <a:bodyPr wrap="square"/>
                    <a:lstStyle/>
                    <a:p>
                      <a:pPr algn="ctr"/>
                      <a:r>
                        <a:rPr sz="1100" b="1">
                          <a:solidFill>
                            <a:srgbClr val="FFFFFF"/>
                          </a:solidFill>
                          <a:latin typeface="Calibri"/>
                        </a:rPr>
                        <a:t>T1</a:t>
                      </a:r>
                    </a:p>
                  </a:txBody>
                  <a:tcPr anchor="ctr" marL="76200" marR="76200" marT="25400" marB="25400">
                    <a:solidFill>
                      <a:srgbClr val="2E7D32"/>
                    </a:solidFill>
                  </a:tcPr>
                </a:tc>
                <a:tc>
                  <a:txBody>
                    <a:bodyPr wrap="square"/>
                    <a:lstStyle/>
                    <a:p>
                      <a:pPr algn="l"/>
                      <a:r>
                        <a:rPr sz="1000" b="0">
                          <a:solidFill>
                            <a:srgbClr val="1B2A38"/>
                          </a:solidFill>
                          <a:latin typeface="Calibri"/>
                        </a:rPr>
                        <a:t>Home-built GPT-4 IDE + DGX code agents</a:t>
                      </a:r>
                    </a:p>
                  </a:txBody>
                  <a:tcPr anchor="ctr" marL="76200" marR="76200" marT="25400" marB="25400">
                    <a:solidFill>
                      <a:srgbClr val="FFFFFF"/>
                    </a:solidFill>
                  </a:tcPr>
                </a:tc>
              </a:tr>
              <a:tr h="457200">
                <a:tc>
                  <a:txBody>
                    <a:bodyPr wrap="square"/>
                    <a:lstStyle/>
                    <a:p>
                      <a:pPr algn="l"/>
                      <a:r>
                        <a:rPr sz="1100" b="1">
                          <a:solidFill>
                            <a:srgbClr val="1B2A38"/>
                          </a:solidFill>
                          <a:latin typeface="Calibri"/>
                        </a:rPr>
                        <a:t>Qualcomm  (QCOM)</a:t>
                      </a:r>
                    </a:p>
                  </a:txBody>
                  <a:tcPr anchor="ctr" marL="76200" marR="76200" marT="25400" marB="25400">
                    <a:solidFill>
                      <a:srgbClr val="E7EDF3"/>
                    </a:solidFill>
                  </a:tcPr>
                </a:tc>
                <a:tc>
                  <a:txBody>
                    <a:bodyPr wrap="square"/>
                    <a:lstStyle/>
                    <a:p>
                      <a:pPr algn="l"/>
                      <a:r>
                        <a:rPr sz="1050" b="0">
                          <a:solidFill>
                            <a:srgbClr val="1B2A38"/>
                          </a:solidFill>
                          <a:latin typeface="Calibri"/>
                        </a:rPr>
                        <a:t>In-house on-device</a:t>
                      </a:r>
                    </a:p>
                  </a:txBody>
                  <a:tcPr anchor="ctr" marL="76200" marR="76200" marT="25400" marB="25400">
                    <a:solidFill>
                      <a:srgbClr val="E7EDF3"/>
                    </a:solidFill>
                  </a:tcPr>
                </a:tc>
                <a:tc>
                  <a:txBody>
                    <a:bodyPr wrap="square"/>
                    <a:lstStyle/>
                    <a:p>
                      <a:pPr algn="ctr"/>
                      <a:r>
                        <a:rPr sz="1100" b="1">
                          <a:solidFill>
                            <a:srgbClr val="FFFFFF"/>
                          </a:solidFill>
                          <a:latin typeface="Calibri"/>
                        </a:rPr>
                        <a:t>T2</a:t>
                      </a:r>
                    </a:p>
                  </a:txBody>
                  <a:tcPr anchor="ctr" marL="76200" marR="76200" marT="25400" marB="25400">
                    <a:solidFill>
                      <a:srgbClr val="1565C0"/>
                    </a:solidFill>
                  </a:tcPr>
                </a:tc>
                <a:tc>
                  <a:txBody>
                    <a:bodyPr wrap="square"/>
                    <a:lstStyle/>
                    <a:p>
                      <a:pPr algn="l"/>
                      <a:r>
                        <a:rPr sz="1000" b="0">
                          <a:solidFill>
                            <a:srgbClr val="1B2A38"/>
                          </a:solidFill>
                          <a:latin typeface="Calibri"/>
                        </a:rPr>
                        <a:t>On-device Snapdragon assistant (~1,500 eng); no 3rd-party</a:t>
                      </a:r>
                    </a:p>
                  </a:txBody>
                  <a:tcPr anchor="ctr" marL="76200" marR="76200" marT="25400" marB="25400">
                    <a:solidFill>
                      <a:srgbClr val="E7EDF3"/>
                    </a:solidFill>
                  </a:tcPr>
                </a:tc>
              </a:tr>
              <a:tr h="457200">
                <a:tc>
                  <a:txBody>
                    <a:bodyPr wrap="square"/>
                    <a:lstStyle/>
                    <a:p>
                      <a:pPr algn="l"/>
                      <a:r>
                        <a:rPr sz="1100" b="1">
                          <a:solidFill>
                            <a:srgbClr val="1B2A38"/>
                          </a:solidFill>
                          <a:latin typeface="Calibri"/>
                        </a:rPr>
                        <a:t>Alphabet / Google  (GOOGL)</a:t>
                      </a:r>
                    </a:p>
                  </a:txBody>
                  <a:tcPr anchor="ctr" marL="76200" marR="76200" marT="25400" marB="25400">
                    <a:solidFill>
                      <a:srgbClr val="FFFFFF"/>
                    </a:solidFill>
                  </a:tcPr>
                </a:tc>
                <a:tc>
                  <a:txBody>
                    <a:bodyPr wrap="square"/>
                    <a:lstStyle/>
                    <a:p>
                      <a:pPr algn="l"/>
                      <a:r>
                        <a:rPr sz="1050" b="0">
                          <a:solidFill>
                            <a:srgbClr val="1B2A38"/>
                          </a:solidFill>
                          <a:latin typeface="Calibri"/>
                        </a:rPr>
                        <a:t>Internal Gemini stack</a:t>
                      </a:r>
                    </a:p>
                  </a:txBody>
                  <a:tcPr anchor="ctr" marL="76200" marR="76200" marT="25400" marB="25400">
                    <a:solidFill>
                      <a:srgbClr val="FFFFFF"/>
                    </a:solidFill>
                  </a:tcPr>
                </a:tc>
                <a:tc>
                  <a:txBody>
                    <a:bodyPr wrap="square"/>
                    <a:lstStyle/>
                    <a:p>
                      <a:pPr algn="ctr"/>
                      <a:r>
                        <a:rPr sz="1100" b="1">
                          <a:solidFill>
                            <a:srgbClr val="FFFFFF"/>
                          </a:solidFill>
                          <a:latin typeface="Calibri"/>
                        </a:rPr>
                        <a:t>T1</a:t>
                      </a:r>
                    </a:p>
                  </a:txBody>
                  <a:tcPr anchor="ctr" marL="76200" marR="76200" marT="25400" marB="25400">
                    <a:solidFill>
                      <a:srgbClr val="2E7D32"/>
                    </a:solidFill>
                  </a:tcPr>
                </a:tc>
                <a:tc>
                  <a:txBody>
                    <a:bodyPr wrap="square"/>
                    <a:lstStyle/>
                    <a:p>
                      <a:pPr algn="l"/>
                      <a:r>
                        <a:rPr sz="1000" b="0">
                          <a:solidFill>
                            <a:srgbClr val="1B2A38"/>
                          </a:solidFill>
                          <a:latin typeface="Calibri"/>
                        </a:rPr>
                        <a:t>Builds &amp; dogfoods own stack; restricts 3rd-party agents</a:t>
                      </a:r>
                    </a:p>
                  </a:txBody>
                  <a:tcPr anchor="ctr" marL="76200" marR="76200" marT="25400" marB="25400">
                    <a:solidFill>
                      <a:srgbClr val="FFFFFF"/>
                    </a:solidFill>
                  </a:tcPr>
                </a:tc>
              </a:tr>
              <a:tr h="457200">
                <a:tc>
                  <a:txBody>
                    <a:bodyPr wrap="square"/>
                    <a:lstStyle/>
                    <a:p>
                      <a:pPr algn="l"/>
                      <a:r>
                        <a:rPr sz="1100" b="1">
                          <a:solidFill>
                            <a:srgbClr val="1B2A38"/>
                          </a:solidFill>
                          <a:latin typeface="Calibri"/>
                        </a:rPr>
                        <a:t>Marvell Technology  (MRVL)</a:t>
                      </a:r>
                    </a:p>
                  </a:txBody>
                  <a:tcPr anchor="ctr" marL="76200" marR="76200" marT="25400" marB="25400">
                    <a:solidFill>
                      <a:srgbClr val="E7EDF3"/>
                    </a:solidFill>
                  </a:tcPr>
                </a:tc>
                <a:tc>
                  <a:txBody>
                    <a:bodyPr wrap="square"/>
                    <a:lstStyle/>
                    <a:p>
                      <a:pPr algn="l"/>
                      <a:r>
                        <a:rPr sz="1050" b="0">
                          <a:solidFill>
                            <a:srgbClr val="1B2A38"/>
                          </a:solidFill>
                          <a:latin typeface="Calibri"/>
                        </a:rPr>
                        <a:t>Synopsys EDA AI</a:t>
                      </a:r>
                    </a:p>
                  </a:txBody>
                  <a:tcPr anchor="ctr" marL="76200" marR="76200" marT="25400" marB="25400">
                    <a:solidFill>
                      <a:srgbClr val="E7EDF3"/>
                    </a:solidFill>
                  </a:tcPr>
                </a:tc>
                <a:tc>
                  <a:txBody>
                    <a:bodyPr wrap="square"/>
                    <a:lstStyle/>
                    <a:p>
                      <a:pPr algn="ctr"/>
                      <a:r>
                        <a:rPr sz="1100" b="1">
                          <a:solidFill>
                            <a:srgbClr val="FFFFFF"/>
                          </a:solidFill>
                          <a:latin typeface="Calibri"/>
                        </a:rPr>
                        <a:t>T1</a:t>
                      </a:r>
                    </a:p>
                  </a:txBody>
                  <a:tcPr anchor="ctr" marL="76200" marR="76200" marT="25400" marB="25400">
                    <a:solidFill>
                      <a:srgbClr val="2E7D32"/>
                    </a:solidFill>
                  </a:tcPr>
                </a:tc>
                <a:tc>
                  <a:txBody>
                    <a:bodyPr wrap="square"/>
                    <a:lstStyle/>
                    <a:p>
                      <a:pPr algn="l"/>
                      <a:r>
                        <a:rPr sz="1000" b="0">
                          <a:solidFill>
                            <a:srgbClr val="1B2A38"/>
                          </a:solidFill>
                          <a:latin typeface="Calibri"/>
                        </a:rPr>
                        <a:t>EDA-only (chip verification); no general coding agent</a:t>
                      </a:r>
                    </a:p>
                  </a:txBody>
                  <a:tcPr anchor="ctr" marL="76200" marR="76200" marT="25400" marB="25400">
                    <a:solidFill>
                      <a:srgbClr val="E7EDF3"/>
                    </a:solidFill>
                  </a:tcPr>
                </a:tc>
              </a:tr>
              <a:tr h="457200">
                <a:tc>
                  <a:txBody>
                    <a:bodyPr wrap="square"/>
                    <a:lstStyle/>
                    <a:p>
                      <a:pPr algn="l"/>
                      <a:r>
                        <a:rPr sz="1100" b="1">
                          <a:solidFill>
                            <a:srgbClr val="1B2A38"/>
                          </a:solidFill>
                          <a:latin typeface="Calibri"/>
                        </a:rPr>
                        <a:t>Cisco Systems  (CSCO)</a:t>
                      </a:r>
                    </a:p>
                  </a:txBody>
                  <a:tcPr anchor="ctr" marL="76200" marR="76200" marT="25400" marB="25400">
                    <a:solidFill>
                      <a:srgbClr val="FFFFFF"/>
                    </a:solidFill>
                  </a:tcPr>
                </a:tc>
                <a:tc>
                  <a:txBody>
                    <a:bodyPr wrap="square"/>
                    <a:lstStyle/>
                    <a:p>
                      <a:pPr algn="l"/>
                      <a:r>
                        <a:rPr sz="1050" b="0">
                          <a:solidFill>
                            <a:srgbClr val="1B2A38"/>
                          </a:solidFill>
                          <a:latin typeface="Calibri"/>
                        </a:rPr>
                        <a:t>GitHub Copilot</a:t>
                      </a:r>
                    </a:p>
                  </a:txBody>
                  <a:tcPr anchor="ctr" marL="76200" marR="76200" marT="25400" marB="25400">
                    <a:solidFill>
                      <a:srgbClr val="FFFFFF"/>
                    </a:solidFill>
                  </a:tcPr>
                </a:tc>
                <a:tc>
                  <a:txBody>
                    <a:bodyPr wrap="square"/>
                    <a:lstStyle/>
                    <a:p>
                      <a:pPr algn="ctr"/>
                      <a:r>
                        <a:rPr sz="1100" b="1">
                          <a:solidFill>
                            <a:srgbClr val="FFFFFF"/>
                          </a:solidFill>
                          <a:latin typeface="Calibri"/>
                        </a:rPr>
                        <a:t>T1</a:t>
                      </a:r>
                    </a:p>
                  </a:txBody>
                  <a:tcPr anchor="ctr" marL="76200" marR="76200" marT="25400" marB="25400">
                    <a:solidFill>
                      <a:srgbClr val="2E7D32"/>
                    </a:solidFill>
                  </a:tcPr>
                </a:tc>
                <a:tc>
                  <a:txBody>
                    <a:bodyPr wrap="square"/>
                    <a:lstStyle/>
                    <a:p>
                      <a:pPr algn="l"/>
                      <a:r>
                        <a:rPr sz="1000" b="0">
                          <a:solidFill>
                            <a:srgbClr val="1B2A38"/>
                          </a:solidFill>
                          <a:latin typeface="Calibri"/>
                        </a:rPr>
                        <a:t>Copilot (~6k devs) + in-house JARVIS agent</a:t>
                      </a:r>
                    </a:p>
                  </a:txBody>
                  <a:tcPr anchor="ctr" marL="76200" marR="76200" marT="25400" marB="25400">
                    <a:solidFill>
                      <a:srgbClr val="FFFFFF"/>
                    </a:solidFill>
                  </a:tcPr>
                </a:tc>
              </a:tr>
              <a:tr h="457200">
                <a:tc>
                  <a:txBody>
                    <a:bodyPr wrap="square"/>
                    <a:lstStyle/>
                    <a:p>
                      <a:pPr algn="l"/>
                      <a:r>
                        <a:rPr sz="1100" b="1">
                          <a:solidFill>
                            <a:srgbClr val="1B2A38"/>
                          </a:solidFill>
                          <a:latin typeface="Calibri"/>
                        </a:rPr>
                        <a:t>Microsoft  (MSFT)</a:t>
                      </a:r>
                    </a:p>
                  </a:txBody>
                  <a:tcPr anchor="ctr" marL="76200" marR="76200" marT="25400" marB="25400">
                    <a:solidFill>
                      <a:srgbClr val="E7EDF3"/>
                    </a:solidFill>
                  </a:tcPr>
                </a:tc>
                <a:tc>
                  <a:txBody>
                    <a:bodyPr wrap="square"/>
                    <a:lstStyle/>
                    <a:p>
                      <a:pPr algn="l"/>
                      <a:r>
                        <a:rPr sz="1050" b="0">
                          <a:solidFill>
                            <a:srgbClr val="1B2A38"/>
                          </a:solidFill>
                          <a:latin typeface="Calibri"/>
                        </a:rPr>
                        <a:t>GitHub Copilot</a:t>
                      </a:r>
                    </a:p>
                  </a:txBody>
                  <a:tcPr anchor="ctr" marL="76200" marR="76200" marT="25400" marB="25400">
                    <a:solidFill>
                      <a:srgbClr val="E7EDF3"/>
                    </a:solidFill>
                  </a:tcPr>
                </a:tc>
                <a:tc>
                  <a:txBody>
                    <a:bodyPr wrap="square"/>
                    <a:lstStyle/>
                    <a:p>
                      <a:pPr algn="ctr"/>
                      <a:r>
                        <a:rPr sz="1100" b="1">
                          <a:solidFill>
                            <a:srgbClr val="FFFFFF"/>
                          </a:solidFill>
                          <a:latin typeface="Calibri"/>
                        </a:rPr>
                        <a:t>T1</a:t>
                      </a:r>
                    </a:p>
                  </a:txBody>
                  <a:tcPr anchor="ctr" marL="76200" marR="76200" marT="25400" marB="25400">
                    <a:solidFill>
                      <a:srgbClr val="2E7D32"/>
                    </a:solidFill>
                  </a:tcPr>
                </a:tc>
                <a:tc>
                  <a:txBody>
                    <a:bodyPr wrap="square"/>
                    <a:lstStyle/>
                    <a:p>
                      <a:pPr algn="l"/>
                      <a:r>
                        <a:rPr sz="1000" b="0">
                          <a:solidFill>
                            <a:srgbClr val="1B2A38"/>
                          </a:solidFill>
                          <a:latin typeface="Calibri"/>
                        </a:rPr>
                        <a:t>Copilot maker + dogfooder; Claude Code phasing out</a:t>
                      </a:r>
                    </a:p>
                  </a:txBody>
                  <a:tcPr anchor="ctr" marL="76200" marR="76200" marT="25400" marB="25400">
                    <a:solidFill>
                      <a:srgbClr val="E7EDF3"/>
                    </a:solidFill>
                  </a:tcPr>
                </a:tc>
              </a:tr>
            </a:tbl>
          </a:graphicData>
        </a:graphic>
      </p:graphicFrame>
      <p:sp>
        <p:nvSpPr>
          <p:cNvPr id="7" name="TextBox 6"/>
          <p:cNvSpPr txBox="1"/>
          <p:nvPr/>
        </p:nvSpPr>
        <p:spPr>
          <a:xfrm>
            <a:off x="411480" y="6510528"/>
            <a:ext cx="8229600" cy="274320"/>
          </a:xfrm>
          <a:prstGeom prst="rect">
            <a:avLst/>
          </a:prstGeom>
          <a:noFill/>
        </p:spPr>
        <p:txBody>
          <a:bodyPr wrap="square" anchor="t" lIns="25400" rIns="25400" tIns="25400" bIns="25400">
            <a:spAutoFit/>
          </a:bodyPr>
          <a:lstStyle/>
          <a:p>
            <a:pPr algn="l"/>
            <a:r>
              <a:rPr sz="800" b="0" i="0">
                <a:solidFill>
                  <a:srgbClr val="5A6B7B"/>
                </a:solidFill>
                <a:latin typeface="Calibri"/>
              </a:rPr>
              <a:t>Agentic AI Developer-Tool Adoption  ·  Public-intelligence sweep  ·  2026-05-25</a:t>
            </a:r>
          </a:p>
        </p:txBody>
      </p:sp>
      <p:sp>
        <p:nvSpPr>
          <p:cNvPr id="8" name="TextBox 7"/>
          <p:cNvSpPr txBox="1"/>
          <p:nvPr/>
        </p:nvSpPr>
        <p:spPr>
          <a:xfrm>
            <a:off x="11247120" y="6510528"/>
            <a:ext cx="731520" cy="274320"/>
          </a:xfrm>
          <a:prstGeom prst="rect">
            <a:avLst/>
          </a:prstGeom>
          <a:noFill/>
        </p:spPr>
        <p:txBody>
          <a:bodyPr wrap="square" anchor="t" lIns="25400" rIns="25400" tIns="25400" bIns="25400">
            <a:spAutoFit/>
          </a:bodyPr>
          <a:lstStyle/>
          <a:p>
            <a:pPr algn="r"/>
            <a:r>
              <a:rPr sz="900" b="1" i="0">
                <a:solidFill>
                  <a:srgbClr val="5A6B7B"/>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38100"/>
          </a:xfrm>
          <a:prstGeom prst="rect">
            <a:avLst/>
          </a:prstGeom>
          <a:solidFill>
            <a:srgbClr val="12B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11338560" cy="566928"/>
          </a:xfrm>
          <a:prstGeom prst="rect">
            <a:avLst/>
          </a:prstGeom>
          <a:noFill/>
        </p:spPr>
        <p:txBody>
          <a:bodyPr wrap="square" anchor="ctr" lIns="25400" rIns="25400" tIns="25400" bIns="25400">
            <a:spAutoFit/>
          </a:bodyPr>
          <a:lstStyle/>
          <a:p>
            <a:pPr algn="l"/>
            <a:r>
              <a:rPr sz="2600" b="1" i="0">
                <a:solidFill>
                  <a:srgbClr val="FFFFFF"/>
                </a:solidFill>
                <a:latin typeface="Calibri"/>
              </a:rPr>
              <a:t>Apple  (AAPL)</a:t>
            </a:r>
          </a:p>
        </p:txBody>
      </p:sp>
      <p:sp>
        <p:nvSpPr>
          <p:cNvPr id="5" name="TextBox 4"/>
          <p:cNvSpPr txBox="1"/>
          <p:nvPr/>
        </p:nvSpPr>
        <p:spPr>
          <a:xfrm>
            <a:off x="429768" y="603504"/>
            <a:ext cx="11338560" cy="274320"/>
          </a:xfrm>
          <a:prstGeom prst="rect">
            <a:avLst/>
          </a:prstGeom>
          <a:noFill/>
        </p:spPr>
        <p:txBody>
          <a:bodyPr wrap="square" anchor="t" lIns="25400" rIns="25400" tIns="25400" bIns="25400">
            <a:spAutoFit/>
          </a:bodyPr>
          <a:lstStyle/>
          <a:p>
            <a:pPr algn="l"/>
            <a:r>
              <a:rPr sz="1200" b="0" i="0">
                <a:solidFill>
                  <a:srgbClr val="BFD7EA"/>
                </a:solidFill>
                <a:latin typeface="Calibri"/>
              </a:rPr>
              <a:t>Internal Claude/Claude Code + Xcode 26.3 SDK; Copilot banned</a:t>
            </a:r>
          </a:p>
        </p:txBody>
      </p:sp>
      <p:sp>
        <p:nvSpPr>
          <p:cNvPr id="6" name="Rectangle 5"/>
          <p:cNvSpPr/>
          <p:nvPr/>
        </p:nvSpPr>
        <p:spPr>
          <a:xfrm>
            <a:off x="9601200" y="256032"/>
            <a:ext cx="2194560" cy="402336"/>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56032"/>
            <a:ext cx="2194560" cy="402336"/>
          </a:xfrm>
          <a:prstGeom prst="rect">
            <a:avLst/>
          </a:prstGeom>
          <a:noFill/>
        </p:spPr>
        <p:txBody>
          <a:bodyPr wrap="square" anchor="ctr" lIns="25400" rIns="25400" tIns="25400" bIns="25400">
            <a:spAutoFit/>
          </a:bodyPr>
          <a:lstStyle/>
          <a:p>
            <a:pPr algn="ctr"/>
            <a:r>
              <a:rPr sz="1100" b="1" i="0">
                <a:solidFill>
                  <a:srgbClr val="FFFFFF"/>
                </a:solidFill>
                <a:latin typeface="Calibri"/>
              </a:rPr>
              <a:t>Evidence: Medium (T2)</a:t>
            </a:r>
          </a:p>
        </p:txBody>
      </p:sp>
      <p:sp>
        <p:nvSpPr>
          <p:cNvPr id="8" name="TextBox 7"/>
          <p:cNvSpPr txBox="1"/>
          <p:nvPr/>
        </p:nvSpPr>
        <p:spPr>
          <a:xfrm>
            <a:off x="502920" y="1097280"/>
            <a:ext cx="11155680" cy="274320"/>
          </a:xfrm>
          <a:prstGeom prst="rect">
            <a:avLst/>
          </a:prstGeom>
          <a:noFill/>
        </p:spPr>
        <p:txBody>
          <a:bodyPr wrap="square" anchor="t" lIns="25400" rIns="25400" tIns="25400" bIns="25400">
            <a:spAutoFit/>
          </a:bodyPr>
          <a:lstStyle/>
          <a:p>
            <a:pPr algn="l"/>
            <a:r>
              <a:rPr sz="1100" b="1" i="0">
                <a:solidFill>
                  <a:srgbClr val="1F77B4"/>
                </a:solidFill>
                <a:latin typeface="Calibri"/>
              </a:rPr>
              <a:t>OVERALL ASSESSMENT</a:t>
            </a:r>
          </a:p>
        </p:txBody>
      </p:sp>
      <p:sp>
        <p:nvSpPr>
          <p:cNvPr id="9" name="TextBox 8"/>
          <p:cNvSpPr txBox="1"/>
          <p:nvPr/>
        </p:nvSpPr>
        <p:spPr>
          <a:xfrm>
            <a:off x="502920" y="1371600"/>
            <a:ext cx="11155680" cy="1691640"/>
          </a:xfrm>
          <a:prstGeom prst="rect">
            <a:avLst/>
          </a:prstGeom>
          <a:noFill/>
        </p:spPr>
        <p:txBody>
          <a:bodyPr wrap="square" anchor="t" lIns="25400" rIns="25400" tIns="25400" bIns="25400">
            <a:spAutoFit/>
          </a:bodyPr>
          <a:lstStyle/>
          <a:p>
            <a:pPr algn="l">
              <a:lnSpc>
                <a:spcPct val="103000"/>
              </a:lnSpc>
            </a:pPr>
            <a:r>
              <a:rPr sz="1200" b="0" i="0">
                <a:solidFill>
                  <a:srgbClr val="1B2A38"/>
                </a:solidFill>
                <a:latin typeface="Calibri"/>
              </a:rPr>
              <a:t>Apple's strongest agentic-AI-dev-tool signal centers on Anthropic's Claude / Claude Code: a primary Apple Newsroom + Anthropic case study confirm the Claude Agent SDK shipped as a product integration in Xcode 26.3, and internal dogfooding is well-supported by an accidental CLAUDE.md leak in the Apple Support app plus Bloomberg's report of an Apple-Anthropic internal Xcode 'vibe-coding' platform. Codex is a confirmed Xcode product integration but with no internal-use evidence; Cursor is only external MCP enablement; GitHub Copilot was restricted internally in 2023.</a:t>
            </a:r>
          </a:p>
        </p:txBody>
      </p:sp>
      <p:sp>
        <p:nvSpPr>
          <p:cNvPr id="10" name="TextBox 9"/>
          <p:cNvSpPr txBox="1"/>
          <p:nvPr/>
        </p:nvSpPr>
        <p:spPr>
          <a:xfrm>
            <a:off x="502920" y="3154680"/>
            <a:ext cx="10972800" cy="274320"/>
          </a:xfrm>
          <a:prstGeom prst="rect">
            <a:avLst/>
          </a:prstGeom>
          <a:noFill/>
        </p:spPr>
        <p:txBody>
          <a:bodyPr wrap="square" anchor="t" lIns="25400" rIns="25400" tIns="25400" bIns="25400">
            <a:spAutoFit/>
          </a:bodyPr>
          <a:lstStyle/>
          <a:p>
            <a:pPr algn="l"/>
            <a:r>
              <a:rPr sz="1100" b="1" i="0">
                <a:solidFill>
                  <a:srgbClr val="1F77B4"/>
                </a:solidFill>
                <a:latin typeface="Calibri"/>
              </a:rPr>
              <a:t>TOOLS &amp; EVIDENCE</a:t>
            </a:r>
          </a:p>
        </p:txBody>
      </p:sp>
      <p:graphicFrame>
        <p:nvGraphicFramePr>
          <p:cNvPr id="11" name="Table 10"/>
          <p:cNvGraphicFramePr>
            <a:graphicFrameLocks noGrp="1"/>
          </p:cNvGraphicFramePr>
          <p:nvPr/>
        </p:nvGraphicFramePr>
        <p:xfrm>
          <a:off x="502920" y="3429000"/>
          <a:ext cx="11201400" cy="2011680"/>
        </p:xfrm>
        <a:graphic>
          <a:graphicData uri="http://schemas.openxmlformats.org/drawingml/2006/table">
            <a:tbl>
              <a:tblPr>
                <a:tableStyleId>{5C22544A-7EE6-4342-B048-85BDC9FD1C3A}</a:tableStyleId>
              </a:tblPr>
              <a:tblGrid>
                <a:gridCol w="5486400"/>
                <a:gridCol w="1828800"/>
                <a:gridCol w="3886200"/>
              </a:tblGrid>
              <a:tr h="329184">
                <a:tc>
                  <a:txBody>
                    <a:bodyPr wrap="square"/>
                    <a:lstStyle/>
                    <a:p>
                      <a:pPr algn="l"/>
                      <a:r>
                        <a:rPr sz="1100" b="1">
                          <a:solidFill>
                            <a:srgbClr val="FFFFFF"/>
                          </a:solidFill>
                          <a:latin typeface="Calibri"/>
                        </a:rPr>
                        <a:t>Tool</a:t>
                      </a:r>
                    </a:p>
                  </a:txBody>
                  <a:tcPr anchor="ctr" marL="76200" marR="76200" marT="25400" marB="25400">
                    <a:solidFill>
                      <a:srgbClr val="0F2A4A"/>
                    </a:solidFill>
                  </a:tcPr>
                </a:tc>
                <a:tc>
                  <a:txBody>
                    <a:bodyPr wrap="square"/>
                    <a:lstStyle/>
                    <a:p>
                      <a:pPr algn="ctr"/>
                      <a:r>
                        <a:rPr sz="1100" b="1">
                          <a:solidFill>
                            <a:srgbClr val="FFFFFF"/>
                          </a:solidFill>
                          <a:latin typeface="Calibri"/>
                        </a:rPr>
                        <a:t>Internal-use tier</a:t>
                      </a:r>
                    </a:p>
                  </a:txBody>
                  <a:tcPr anchor="ctr" marL="76200" marR="76200" marT="25400" marB="25400">
                    <a:solidFill>
                      <a:srgbClr val="0F2A4A"/>
                    </a:solidFill>
                  </a:tcPr>
                </a:tc>
                <a:tc>
                  <a:txBody>
                    <a:bodyPr wrap="square"/>
                    <a:lstStyle/>
                    <a:p>
                      <a:pPr algn="l"/>
                      <a:r>
                        <a:rPr sz="1100" b="1">
                          <a:solidFill>
                            <a:srgbClr val="FFFFFF"/>
                          </a:solidFill>
                          <a:latin typeface="Calibri"/>
                        </a:rPr>
                        <a:t>Signal type(s)</a:t>
                      </a:r>
                    </a:p>
                  </a:txBody>
                  <a:tcPr anchor="ctr" marL="76200" marR="76200" marT="25400" marB="25400">
                    <a:solidFill>
                      <a:srgbClr val="0F2A4A"/>
                    </a:solidFill>
                  </a:tcPr>
                </a:tc>
              </a:tr>
              <a:tr h="420624">
                <a:tc>
                  <a:txBody>
                    <a:bodyPr wrap="square"/>
                    <a:lstStyle/>
                    <a:p>
                      <a:pPr algn="l"/>
                      <a:r>
                        <a:rPr sz="1050" b="1">
                          <a:solidFill>
                            <a:srgbClr val="1B2A38"/>
                          </a:solidFill>
                          <a:latin typeface="Calibri"/>
                        </a:rPr>
                        <a:t>Claude Code / Agent SDK</a:t>
                      </a:r>
                    </a:p>
                  </a:txBody>
                  <a:tcPr anchor="ctr" marL="76200" marR="76200" marT="25400" marB="25400">
                    <a:solidFill>
                      <a:srgbClr val="FFFFFF"/>
                    </a:solidFill>
                  </a:tcPr>
                </a:tc>
                <a:tc>
                  <a:txBody>
                    <a:bodyPr wrap="square"/>
                    <a:lstStyle/>
                    <a:p>
                      <a:pPr algn="ctr"/>
                      <a:r>
                        <a:rPr sz="1050" b="1">
                          <a:solidFill>
                            <a:srgbClr val="FFFFFF"/>
                          </a:solidFill>
                          <a:latin typeface="Calibri"/>
                        </a:rPr>
                        <a:t>T2 · strong</a:t>
                      </a:r>
                    </a:p>
                  </a:txBody>
                  <a:tcPr anchor="ctr" marL="76200" marR="76200" marT="25400" marB="25400">
                    <a:solidFill>
                      <a:srgbClr val="1565C0"/>
                    </a:solidFill>
                  </a:tcPr>
                </a:tc>
                <a:tc>
                  <a:txBody>
                    <a:bodyPr wrap="square"/>
                    <a:lstStyle/>
                    <a:p>
                      <a:pPr algn="l"/>
                      <a:r>
                        <a:rPr sz="1000" b="0">
                          <a:solidFill>
                            <a:srgbClr val="1B2A38"/>
                          </a:solidFill>
                          <a:latin typeface="Calibri"/>
                        </a:rPr>
                        <a:t>Internal use · Product</a:t>
                      </a:r>
                    </a:p>
                  </a:txBody>
                  <a:tcPr anchor="ctr" marL="76200" marR="76200" marT="25400" marB="25400">
                    <a:solidFill>
                      <a:srgbClr val="FFFFFF"/>
                    </a:solidFill>
                  </a:tcPr>
                </a:tc>
              </a:tr>
              <a:tr h="420624">
                <a:tc>
                  <a:txBody>
                    <a:bodyPr wrap="square"/>
                    <a:lstStyle/>
                    <a:p>
                      <a:pPr algn="l"/>
                      <a:r>
                        <a:rPr sz="1050" b="1">
                          <a:solidFill>
                            <a:srgbClr val="1B2A38"/>
                          </a:solidFill>
                          <a:latin typeface="Calibri"/>
                        </a:rPr>
                        <a:t>OpenAI Codex</a:t>
                      </a:r>
                    </a:p>
                  </a:txBody>
                  <a:tcPr anchor="ctr" marL="76200" marR="76200" marT="25400" marB="25400">
                    <a:solidFill>
                      <a:srgbClr val="E7EDF3"/>
                    </a:solidFill>
                  </a:tcPr>
                </a:tc>
                <a:tc>
                  <a:txBody>
                    <a:bodyPr wrap="square"/>
                    <a:lstStyle/>
                    <a:p>
                      <a:pPr algn="ctr"/>
                      <a:r>
                        <a:rPr sz="1050" b="1">
                          <a:solidFill>
                            <a:srgbClr val="FFFFFF"/>
                          </a:solidFill>
                          <a:latin typeface="Calibri"/>
                        </a:rPr>
                        <a:t>T4 · none</a:t>
                      </a:r>
                    </a:p>
                  </a:txBody>
                  <a:tcPr anchor="ctr" marL="76200" marR="76200" marT="25400" marB="25400">
                    <a:solidFill>
                      <a:srgbClr val="9E9E9E"/>
                    </a:solidFill>
                  </a:tcPr>
                </a:tc>
                <a:tc>
                  <a:txBody>
                    <a:bodyPr wrap="square"/>
                    <a:lstStyle/>
                    <a:p>
                      <a:pPr algn="l"/>
                      <a:r>
                        <a:rPr sz="1000" b="0">
                          <a:solidFill>
                            <a:srgbClr val="1B2A38"/>
                          </a:solidFill>
                          <a:latin typeface="Calibri"/>
                        </a:rPr>
                        <a:t>Product</a:t>
                      </a:r>
                    </a:p>
                  </a:txBody>
                  <a:tcPr anchor="ctr" marL="76200" marR="76200" marT="25400" marB="25400">
                    <a:solidFill>
                      <a:srgbClr val="E7EDF3"/>
                    </a:solidFill>
                  </a:tcPr>
                </a:tc>
              </a:tr>
              <a:tr h="420624">
                <a:tc>
                  <a:txBody>
                    <a:bodyPr wrap="square"/>
                    <a:lstStyle/>
                    <a:p>
                      <a:pPr algn="l"/>
                      <a:r>
                        <a:rPr sz="1050" b="1">
                          <a:solidFill>
                            <a:srgbClr val="1B2A38"/>
                          </a:solidFill>
                          <a:latin typeface="Calibri"/>
                        </a:rPr>
                        <a:t>Cursor (MCP, external)</a:t>
                      </a:r>
                    </a:p>
                  </a:txBody>
                  <a:tcPr anchor="ctr" marL="76200" marR="76200" marT="25400" marB="25400">
                    <a:solidFill>
                      <a:srgbClr val="FFFFFF"/>
                    </a:solidFill>
                  </a:tcPr>
                </a:tc>
                <a:tc>
                  <a:txBody>
                    <a:bodyPr wrap="square"/>
                    <a:lstStyle/>
                    <a:p>
                      <a:pPr algn="ctr"/>
                      <a:r>
                        <a:rPr sz="1050" b="1">
                          <a:solidFill>
                            <a:srgbClr val="FFFFFF"/>
                          </a:solidFill>
                          <a:latin typeface="Calibri"/>
                        </a:rPr>
                        <a:t>T4 · none</a:t>
                      </a:r>
                    </a:p>
                  </a:txBody>
                  <a:tcPr anchor="ctr" marL="76200" marR="76200" marT="25400" marB="25400">
                    <a:solidFill>
                      <a:srgbClr val="9E9E9E"/>
                    </a:solidFill>
                  </a:tcPr>
                </a:tc>
                <a:tc>
                  <a:txBody>
                    <a:bodyPr wrap="square"/>
                    <a:lstStyle/>
                    <a:p>
                      <a:pPr algn="l"/>
                      <a:r>
                        <a:rPr sz="1000" b="0">
                          <a:solidFill>
                            <a:srgbClr val="1B2A38"/>
                          </a:solidFill>
                          <a:latin typeface="Calibri"/>
                        </a:rPr>
                        <a:t>Product</a:t>
                      </a:r>
                    </a:p>
                  </a:txBody>
                  <a:tcPr anchor="ctr" marL="76200" marR="76200" marT="25400" marB="25400">
                    <a:solidFill>
                      <a:srgbClr val="FFFFFF"/>
                    </a:solidFill>
                  </a:tcPr>
                </a:tc>
              </a:tr>
              <a:tr h="420624">
                <a:tc>
                  <a:txBody>
                    <a:bodyPr wrap="square"/>
                    <a:lstStyle/>
                    <a:p>
                      <a:pPr algn="l"/>
                      <a:r>
                        <a:rPr sz="1050" b="1">
                          <a:solidFill>
                            <a:srgbClr val="1B2A38"/>
                          </a:solidFill>
                          <a:latin typeface="Calibri"/>
                        </a:rPr>
                        <a:t>GitHub Copilot</a:t>
                      </a:r>
                    </a:p>
                  </a:txBody>
                  <a:tcPr anchor="ctr" marL="76200" marR="76200" marT="25400" marB="25400">
                    <a:solidFill>
                      <a:srgbClr val="E7EDF3"/>
                    </a:solidFill>
                  </a:tcPr>
                </a:tc>
                <a:tc>
                  <a:txBody>
                    <a:bodyPr wrap="square"/>
                    <a:lstStyle/>
                    <a:p>
                      <a:pPr algn="ctr"/>
                      <a:r>
                        <a:rPr sz="1050" b="1">
                          <a:solidFill>
                            <a:srgbClr val="FFFFFF"/>
                          </a:solidFill>
                          <a:latin typeface="Calibri"/>
                        </a:rPr>
                        <a:t>T4 · none</a:t>
                      </a:r>
                    </a:p>
                  </a:txBody>
                  <a:tcPr anchor="ctr" marL="76200" marR="76200" marT="25400" marB="25400">
                    <a:solidFill>
                      <a:srgbClr val="9E9E9E"/>
                    </a:solidFill>
                  </a:tcPr>
                </a:tc>
                <a:tc>
                  <a:txBody>
                    <a:bodyPr wrap="square"/>
                    <a:lstStyle/>
                    <a:p>
                      <a:pPr algn="l"/>
                      <a:r>
                        <a:rPr sz="1000" b="0">
                          <a:solidFill>
                            <a:srgbClr val="1B2A38"/>
                          </a:solidFill>
                          <a:latin typeface="Calibri"/>
                        </a:rPr>
                        <a:t>—</a:t>
                      </a:r>
                    </a:p>
                  </a:txBody>
                  <a:tcPr anchor="ctr" marL="76200" marR="76200" marT="25400" marB="25400">
                    <a:solidFill>
                      <a:srgbClr val="E7EDF3"/>
                    </a:solidFill>
                  </a:tcPr>
                </a:tc>
              </a:tr>
            </a:tbl>
          </a:graphicData>
        </a:graphic>
      </p:graphicFrame>
      <p:sp>
        <p:nvSpPr>
          <p:cNvPr id="12" name="TextBox 11"/>
          <p:cNvSpPr txBox="1"/>
          <p:nvPr/>
        </p:nvSpPr>
        <p:spPr>
          <a:xfrm>
            <a:off x="502920" y="5550408"/>
            <a:ext cx="11155680" cy="457200"/>
          </a:xfrm>
          <a:prstGeom prst="rect">
            <a:avLst/>
          </a:prstGeom>
          <a:noFill/>
        </p:spPr>
        <p:txBody>
          <a:bodyPr wrap="square" anchor="t" lIns="25400" rIns="25400" tIns="25400" bIns="25400">
            <a:spAutoFit/>
          </a:bodyPr>
          <a:lstStyle/>
          <a:p>
            <a:pPr algn="l">
              <a:lnSpc>
                <a:spcPct val="100000"/>
              </a:lnSpc>
            </a:pPr>
            <a:r>
              <a:rPr sz="950" b="0" i="1">
                <a:solidFill>
                  <a:srgbClr val="5A6B7B"/>
                </a:solidFill>
                <a:latin typeface="Calibri"/>
              </a:rPr>
              <a:t>Not confirmed / no evidence: OpenAI Codex internal dogfooding (only product integration found); Cursor internal use (only external MCP enablement)</a:t>
            </a:r>
          </a:p>
        </p:txBody>
      </p:sp>
      <p:sp>
        <p:nvSpPr>
          <p:cNvPr id="13" name="TextBox 12"/>
          <p:cNvSpPr txBox="1"/>
          <p:nvPr/>
        </p:nvSpPr>
        <p:spPr>
          <a:xfrm>
            <a:off x="411480" y="6510528"/>
            <a:ext cx="8229600" cy="274320"/>
          </a:xfrm>
          <a:prstGeom prst="rect">
            <a:avLst/>
          </a:prstGeom>
          <a:noFill/>
        </p:spPr>
        <p:txBody>
          <a:bodyPr wrap="square" anchor="t" lIns="25400" rIns="25400" tIns="25400" bIns="25400">
            <a:spAutoFit/>
          </a:bodyPr>
          <a:lstStyle/>
          <a:p>
            <a:pPr algn="l"/>
            <a:r>
              <a:rPr sz="800" b="0" i="0">
                <a:solidFill>
                  <a:srgbClr val="5A6B7B"/>
                </a:solidFill>
                <a:latin typeface="Calibri"/>
              </a:rPr>
              <a:t>Agentic AI Developer-Tool Adoption  ·  Public-intelligence sweep  ·  2026-05-25</a:t>
            </a:r>
          </a:p>
        </p:txBody>
      </p:sp>
      <p:sp>
        <p:nvSpPr>
          <p:cNvPr id="14" name="TextBox 13"/>
          <p:cNvSpPr txBox="1"/>
          <p:nvPr/>
        </p:nvSpPr>
        <p:spPr>
          <a:xfrm>
            <a:off x="11247120" y="6510528"/>
            <a:ext cx="731520" cy="274320"/>
          </a:xfrm>
          <a:prstGeom prst="rect">
            <a:avLst/>
          </a:prstGeom>
          <a:noFill/>
        </p:spPr>
        <p:txBody>
          <a:bodyPr wrap="square" anchor="t" lIns="25400" rIns="25400" tIns="25400" bIns="25400">
            <a:spAutoFit/>
          </a:bodyPr>
          <a:lstStyle/>
          <a:p>
            <a:pPr algn="r"/>
            <a:r>
              <a:rPr sz="900" b="1" i="0">
                <a:solidFill>
                  <a:srgbClr val="5A6B7B"/>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38100"/>
          </a:xfrm>
          <a:prstGeom prst="rect">
            <a:avLst/>
          </a:prstGeom>
          <a:solidFill>
            <a:srgbClr val="12B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11338560" cy="566928"/>
          </a:xfrm>
          <a:prstGeom prst="rect">
            <a:avLst/>
          </a:prstGeom>
          <a:noFill/>
        </p:spPr>
        <p:txBody>
          <a:bodyPr wrap="square" anchor="ctr" lIns="25400" rIns="25400" tIns="25400" bIns="25400">
            <a:spAutoFit/>
          </a:bodyPr>
          <a:lstStyle/>
          <a:p>
            <a:pPr algn="l"/>
            <a:r>
              <a:rPr sz="2600" b="1" i="0">
                <a:solidFill>
                  <a:srgbClr val="FFFFFF"/>
                </a:solidFill>
                <a:latin typeface="Calibri"/>
              </a:rPr>
              <a:t>AMD  (AMD)</a:t>
            </a:r>
          </a:p>
        </p:txBody>
      </p:sp>
      <p:sp>
        <p:nvSpPr>
          <p:cNvPr id="5" name="TextBox 4"/>
          <p:cNvSpPr txBox="1"/>
          <p:nvPr/>
        </p:nvSpPr>
        <p:spPr>
          <a:xfrm>
            <a:off x="429768" y="603504"/>
            <a:ext cx="11338560" cy="274320"/>
          </a:xfrm>
          <a:prstGeom prst="rect">
            <a:avLst/>
          </a:prstGeom>
          <a:noFill/>
        </p:spPr>
        <p:txBody>
          <a:bodyPr wrap="square" anchor="t" lIns="25400" rIns="25400" tIns="25400" bIns="25400">
            <a:spAutoFit/>
          </a:bodyPr>
          <a:lstStyle/>
          <a:p>
            <a:pPr algn="l"/>
            <a:r>
              <a:rPr sz="1200" b="0" i="0">
                <a:solidFill>
                  <a:srgbClr val="BFD7EA"/>
                </a:solidFill>
                <a:latin typeface="Calibri"/>
              </a:rPr>
              <a:t>Claude Code dogfooding by the AI Group (public telemetry)</a:t>
            </a:r>
          </a:p>
        </p:txBody>
      </p:sp>
      <p:sp>
        <p:nvSpPr>
          <p:cNvPr id="6" name="Rectangle 5"/>
          <p:cNvSpPr/>
          <p:nvPr/>
        </p:nvSpPr>
        <p:spPr>
          <a:xfrm>
            <a:off x="9601200" y="256032"/>
            <a:ext cx="2194560" cy="40233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56032"/>
            <a:ext cx="2194560" cy="402336"/>
          </a:xfrm>
          <a:prstGeom prst="rect">
            <a:avLst/>
          </a:prstGeom>
          <a:noFill/>
        </p:spPr>
        <p:txBody>
          <a:bodyPr wrap="square" anchor="ctr" lIns="25400" rIns="25400" tIns="25400" bIns="25400">
            <a:spAutoFit/>
          </a:bodyPr>
          <a:lstStyle/>
          <a:p>
            <a:pPr algn="ctr"/>
            <a:r>
              <a:rPr sz="1100" b="1" i="0">
                <a:solidFill>
                  <a:srgbClr val="FFFFFF"/>
                </a:solidFill>
                <a:latin typeface="Calibri"/>
              </a:rPr>
              <a:t>Evidence: High (T1)</a:t>
            </a:r>
          </a:p>
        </p:txBody>
      </p:sp>
      <p:sp>
        <p:nvSpPr>
          <p:cNvPr id="8" name="TextBox 7"/>
          <p:cNvSpPr txBox="1"/>
          <p:nvPr/>
        </p:nvSpPr>
        <p:spPr>
          <a:xfrm>
            <a:off x="502920" y="1097280"/>
            <a:ext cx="11155680" cy="274320"/>
          </a:xfrm>
          <a:prstGeom prst="rect">
            <a:avLst/>
          </a:prstGeom>
          <a:noFill/>
        </p:spPr>
        <p:txBody>
          <a:bodyPr wrap="square" anchor="t" lIns="25400" rIns="25400" tIns="25400" bIns="25400">
            <a:spAutoFit/>
          </a:bodyPr>
          <a:lstStyle/>
          <a:p>
            <a:pPr algn="l"/>
            <a:r>
              <a:rPr sz="1100" b="1" i="0">
                <a:solidFill>
                  <a:srgbClr val="1F77B4"/>
                </a:solidFill>
                <a:latin typeface="Calibri"/>
              </a:rPr>
              <a:t>OVERALL ASSESSMENT</a:t>
            </a:r>
          </a:p>
        </p:txBody>
      </p:sp>
      <p:sp>
        <p:nvSpPr>
          <p:cNvPr id="9" name="TextBox 8"/>
          <p:cNvSpPr txBox="1"/>
          <p:nvPr/>
        </p:nvSpPr>
        <p:spPr>
          <a:xfrm>
            <a:off x="502920" y="1371600"/>
            <a:ext cx="11155680" cy="1691640"/>
          </a:xfrm>
          <a:prstGeom prst="rect">
            <a:avLst/>
          </a:prstGeom>
          <a:noFill/>
        </p:spPr>
        <p:txBody>
          <a:bodyPr wrap="square" anchor="t" lIns="25400" rIns="25400" tIns="25400" bIns="25400">
            <a:spAutoFit/>
          </a:bodyPr>
          <a:lstStyle/>
          <a:p>
            <a:pPr algn="l">
              <a:lnSpc>
                <a:spcPct val="103000"/>
              </a:lnSpc>
            </a:pPr>
            <a:r>
              <a:rPr sz="1200" b="0" i="0">
                <a:solidFill>
                  <a:srgbClr val="1B2A38"/>
                </a:solidFill>
                <a:latin typeface="Calibri"/>
              </a:rPr>
              <a:t>AMD's AI Group has unusually well-documented internal Claude Code dogfooding, self-quantified by a named senior director (Stella Laurenzo) in a public GitHub issue and corroborated by reputable tech press, though the disclosure arose in the context of a regression COMPLAINT. AMD's own open-source Apex repo confirms internal tooling that drives Claude Code, OpenAI Codex, and Cursor Agent as interchangeable backends for ROCm GPU-kernel optimization.</a:t>
            </a:r>
          </a:p>
        </p:txBody>
      </p:sp>
      <p:sp>
        <p:nvSpPr>
          <p:cNvPr id="10" name="TextBox 9"/>
          <p:cNvSpPr txBox="1"/>
          <p:nvPr/>
        </p:nvSpPr>
        <p:spPr>
          <a:xfrm>
            <a:off x="502920" y="3154680"/>
            <a:ext cx="10972800" cy="274320"/>
          </a:xfrm>
          <a:prstGeom prst="rect">
            <a:avLst/>
          </a:prstGeom>
          <a:noFill/>
        </p:spPr>
        <p:txBody>
          <a:bodyPr wrap="square" anchor="t" lIns="25400" rIns="25400" tIns="25400" bIns="25400">
            <a:spAutoFit/>
          </a:bodyPr>
          <a:lstStyle/>
          <a:p>
            <a:pPr algn="l"/>
            <a:r>
              <a:rPr sz="1100" b="1" i="0">
                <a:solidFill>
                  <a:srgbClr val="1F77B4"/>
                </a:solidFill>
                <a:latin typeface="Calibri"/>
              </a:rPr>
              <a:t>TOOLS &amp; EVIDENCE</a:t>
            </a:r>
          </a:p>
        </p:txBody>
      </p:sp>
      <p:graphicFrame>
        <p:nvGraphicFramePr>
          <p:cNvPr id="11" name="Table 10"/>
          <p:cNvGraphicFramePr>
            <a:graphicFrameLocks noGrp="1"/>
          </p:cNvGraphicFramePr>
          <p:nvPr/>
        </p:nvGraphicFramePr>
        <p:xfrm>
          <a:off x="502920" y="3429000"/>
          <a:ext cx="11201400" cy="1591056"/>
        </p:xfrm>
        <a:graphic>
          <a:graphicData uri="http://schemas.openxmlformats.org/drawingml/2006/table">
            <a:tbl>
              <a:tblPr>
                <a:tableStyleId>{5C22544A-7EE6-4342-B048-85BDC9FD1C3A}</a:tableStyleId>
              </a:tblPr>
              <a:tblGrid>
                <a:gridCol w="5486400"/>
                <a:gridCol w="1828800"/>
                <a:gridCol w="3886200"/>
              </a:tblGrid>
              <a:tr h="329184">
                <a:tc>
                  <a:txBody>
                    <a:bodyPr wrap="square"/>
                    <a:lstStyle/>
                    <a:p>
                      <a:pPr algn="l"/>
                      <a:r>
                        <a:rPr sz="1100" b="1">
                          <a:solidFill>
                            <a:srgbClr val="FFFFFF"/>
                          </a:solidFill>
                          <a:latin typeface="Calibri"/>
                        </a:rPr>
                        <a:t>Tool</a:t>
                      </a:r>
                    </a:p>
                  </a:txBody>
                  <a:tcPr anchor="ctr" marL="76200" marR="76200" marT="25400" marB="25400">
                    <a:solidFill>
                      <a:srgbClr val="0F2A4A"/>
                    </a:solidFill>
                  </a:tcPr>
                </a:tc>
                <a:tc>
                  <a:txBody>
                    <a:bodyPr wrap="square"/>
                    <a:lstStyle/>
                    <a:p>
                      <a:pPr algn="ctr"/>
                      <a:r>
                        <a:rPr sz="1100" b="1">
                          <a:solidFill>
                            <a:srgbClr val="FFFFFF"/>
                          </a:solidFill>
                          <a:latin typeface="Calibri"/>
                        </a:rPr>
                        <a:t>Internal-use tier</a:t>
                      </a:r>
                    </a:p>
                  </a:txBody>
                  <a:tcPr anchor="ctr" marL="76200" marR="76200" marT="25400" marB="25400">
                    <a:solidFill>
                      <a:srgbClr val="0F2A4A"/>
                    </a:solidFill>
                  </a:tcPr>
                </a:tc>
                <a:tc>
                  <a:txBody>
                    <a:bodyPr wrap="square"/>
                    <a:lstStyle/>
                    <a:p>
                      <a:pPr algn="l"/>
                      <a:r>
                        <a:rPr sz="1100" b="1">
                          <a:solidFill>
                            <a:srgbClr val="FFFFFF"/>
                          </a:solidFill>
                          <a:latin typeface="Calibri"/>
                        </a:rPr>
                        <a:t>Signal type(s)</a:t>
                      </a:r>
                    </a:p>
                  </a:txBody>
                  <a:tcPr anchor="ctr" marL="76200" marR="76200" marT="25400" marB="25400">
                    <a:solidFill>
                      <a:srgbClr val="0F2A4A"/>
                    </a:solidFill>
                  </a:tcPr>
                </a:tc>
              </a:tr>
              <a:tr h="420624">
                <a:tc>
                  <a:txBody>
                    <a:bodyPr wrap="square"/>
                    <a:lstStyle/>
                    <a:p>
                      <a:pPr algn="l"/>
                      <a:r>
                        <a:rPr sz="1050" b="1">
                          <a:solidFill>
                            <a:srgbClr val="1B2A38"/>
                          </a:solidFill>
                          <a:latin typeface="Calibri"/>
                        </a:rPr>
                        <a:t>Claude Code</a:t>
                      </a:r>
                    </a:p>
                  </a:txBody>
                  <a:tcPr anchor="ctr" marL="76200" marR="76200" marT="25400" marB="25400">
                    <a:solidFill>
                      <a:srgbClr val="FFFFFF"/>
                    </a:solidFill>
                  </a:tcPr>
                </a:tc>
                <a:tc>
                  <a:txBody>
                    <a:bodyPr wrap="square"/>
                    <a:lstStyle/>
                    <a:p>
                      <a:pPr algn="ctr"/>
                      <a:r>
                        <a:rPr sz="1050" b="1">
                          <a:solidFill>
                            <a:srgbClr val="FFFFFF"/>
                          </a:solidFill>
                          <a:latin typeface="Calibri"/>
                        </a:rPr>
                        <a:t>T1 · confirmed</a:t>
                      </a:r>
                    </a:p>
                  </a:txBody>
                  <a:tcPr anchor="ctr" marL="76200" marR="76200" marT="25400" marB="25400">
                    <a:solidFill>
                      <a:srgbClr val="2E7D32"/>
                    </a:solidFill>
                  </a:tcPr>
                </a:tc>
                <a:tc>
                  <a:txBody>
                    <a:bodyPr wrap="square"/>
                    <a:lstStyle/>
                    <a:p>
                      <a:pPr algn="l"/>
                      <a:r>
                        <a:rPr sz="1000" b="0">
                          <a:solidFill>
                            <a:srgbClr val="1B2A38"/>
                          </a:solidFill>
                          <a:latin typeface="Calibri"/>
                        </a:rPr>
                        <a:t>Internal use</a:t>
                      </a:r>
                    </a:p>
                  </a:txBody>
                  <a:tcPr anchor="ctr" marL="76200" marR="76200" marT="25400" marB="25400">
                    <a:solidFill>
                      <a:srgbClr val="FFFFFF"/>
                    </a:solidFill>
                  </a:tcPr>
                </a:tc>
              </a:tr>
              <a:tr h="420624">
                <a:tc>
                  <a:txBody>
                    <a:bodyPr wrap="square"/>
                    <a:lstStyle/>
                    <a:p>
                      <a:pPr algn="l"/>
                      <a:r>
                        <a:rPr sz="1050" b="1">
                          <a:solidFill>
                            <a:srgbClr val="1B2A38"/>
                          </a:solidFill>
                          <a:latin typeface="Calibri"/>
                        </a:rPr>
                        <a:t>OpenAI Codex</a:t>
                      </a:r>
                    </a:p>
                  </a:txBody>
                  <a:tcPr anchor="ctr" marL="76200" marR="76200" marT="25400" marB="25400">
                    <a:solidFill>
                      <a:srgbClr val="E7EDF3"/>
                    </a:solidFill>
                  </a:tcPr>
                </a:tc>
                <a:tc>
                  <a:txBody>
                    <a:bodyPr wrap="square"/>
                    <a:lstStyle/>
                    <a:p>
                      <a:pPr algn="ctr"/>
                      <a:r>
                        <a:rPr sz="1050" b="1">
                          <a:solidFill>
                            <a:srgbClr val="FFFFFF"/>
                          </a:solidFill>
                          <a:latin typeface="Calibri"/>
                        </a:rPr>
                        <a:t>T2 · strong</a:t>
                      </a:r>
                    </a:p>
                  </a:txBody>
                  <a:tcPr anchor="ctr" marL="76200" marR="76200" marT="25400" marB="25400">
                    <a:solidFill>
                      <a:srgbClr val="1565C0"/>
                    </a:solidFill>
                  </a:tcPr>
                </a:tc>
                <a:tc>
                  <a:txBody>
                    <a:bodyPr wrap="square"/>
                    <a:lstStyle/>
                    <a:p>
                      <a:pPr algn="l"/>
                      <a:r>
                        <a:rPr sz="1000" b="0">
                          <a:solidFill>
                            <a:srgbClr val="1B2A38"/>
                          </a:solidFill>
                          <a:latin typeface="Calibri"/>
                        </a:rPr>
                        <a:t>Internal use</a:t>
                      </a:r>
                    </a:p>
                  </a:txBody>
                  <a:tcPr anchor="ctr" marL="76200" marR="76200" marT="25400" marB="25400">
                    <a:solidFill>
                      <a:srgbClr val="E7EDF3"/>
                    </a:solidFill>
                  </a:tcPr>
                </a:tc>
              </a:tr>
              <a:tr h="420624">
                <a:tc>
                  <a:txBody>
                    <a:bodyPr wrap="square"/>
                    <a:lstStyle/>
                    <a:p>
                      <a:pPr algn="l"/>
                      <a:r>
                        <a:rPr sz="1050" b="1">
                          <a:solidFill>
                            <a:srgbClr val="1B2A38"/>
                          </a:solidFill>
                          <a:latin typeface="Calibri"/>
                        </a:rPr>
                        <a:t>Cursor (agent mode)</a:t>
                      </a:r>
                    </a:p>
                  </a:txBody>
                  <a:tcPr anchor="ctr" marL="76200" marR="76200" marT="25400" marB="25400">
                    <a:solidFill>
                      <a:srgbClr val="FFFFFF"/>
                    </a:solidFill>
                  </a:tcPr>
                </a:tc>
                <a:tc>
                  <a:txBody>
                    <a:bodyPr wrap="square"/>
                    <a:lstStyle/>
                    <a:p>
                      <a:pPr algn="ctr"/>
                      <a:r>
                        <a:rPr sz="1050" b="1">
                          <a:solidFill>
                            <a:srgbClr val="FFFFFF"/>
                          </a:solidFill>
                          <a:latin typeface="Calibri"/>
                        </a:rPr>
                        <a:t>T3 · weak</a:t>
                      </a:r>
                    </a:p>
                  </a:txBody>
                  <a:tcPr anchor="ctr" marL="76200" marR="76200" marT="25400" marB="25400">
                    <a:solidFill>
                      <a:srgbClr val="E67E00"/>
                    </a:solidFill>
                  </a:tcPr>
                </a:tc>
                <a:tc>
                  <a:txBody>
                    <a:bodyPr wrap="square"/>
                    <a:lstStyle/>
                    <a:p>
                      <a:pPr algn="l"/>
                      <a:r>
                        <a:rPr sz="1000" b="0">
                          <a:solidFill>
                            <a:srgbClr val="1B2A38"/>
                          </a:solidFill>
                          <a:latin typeface="Calibri"/>
                        </a:rPr>
                        <a:t>Internal use</a:t>
                      </a:r>
                    </a:p>
                  </a:txBody>
                  <a:tcPr anchor="ctr" marL="76200" marR="76200" marT="25400" marB="25400">
                    <a:solidFill>
                      <a:srgbClr val="FFFFFF"/>
                    </a:solidFill>
                  </a:tcPr>
                </a:tc>
              </a:tr>
            </a:tbl>
          </a:graphicData>
        </a:graphic>
      </p:graphicFrame>
      <p:sp>
        <p:nvSpPr>
          <p:cNvPr id="12" name="TextBox 11"/>
          <p:cNvSpPr txBox="1"/>
          <p:nvPr/>
        </p:nvSpPr>
        <p:spPr>
          <a:xfrm>
            <a:off x="502920" y="5129784"/>
            <a:ext cx="11155680" cy="457200"/>
          </a:xfrm>
          <a:prstGeom prst="rect">
            <a:avLst/>
          </a:prstGeom>
          <a:noFill/>
        </p:spPr>
        <p:txBody>
          <a:bodyPr wrap="square" anchor="t" lIns="25400" rIns="25400" tIns="25400" bIns="25400">
            <a:spAutoFit/>
          </a:bodyPr>
          <a:lstStyle/>
          <a:p>
            <a:pPr algn="l">
              <a:lnSpc>
                <a:spcPct val="100000"/>
              </a:lnSpc>
            </a:pPr>
            <a:r>
              <a:rPr sz="950" b="0" i="1">
                <a:solidFill>
                  <a:srgbClr val="5A6B7B"/>
                </a:solidFill>
                <a:latin typeface="Calibri"/>
              </a:rPr>
              <a:t>Not confirmed / no evidence: GitHub Copilot internal use (only generic Fortune-100 stats/listicles); Amazon Q Developer, Gemini CLI, Devin, Windsurf, Antigravity, Cowork internal use</a:t>
            </a:r>
          </a:p>
        </p:txBody>
      </p:sp>
      <p:sp>
        <p:nvSpPr>
          <p:cNvPr id="13" name="TextBox 12"/>
          <p:cNvSpPr txBox="1"/>
          <p:nvPr/>
        </p:nvSpPr>
        <p:spPr>
          <a:xfrm>
            <a:off x="411480" y="6510528"/>
            <a:ext cx="8229600" cy="274320"/>
          </a:xfrm>
          <a:prstGeom prst="rect">
            <a:avLst/>
          </a:prstGeom>
          <a:noFill/>
        </p:spPr>
        <p:txBody>
          <a:bodyPr wrap="square" anchor="t" lIns="25400" rIns="25400" tIns="25400" bIns="25400">
            <a:spAutoFit/>
          </a:bodyPr>
          <a:lstStyle/>
          <a:p>
            <a:pPr algn="l"/>
            <a:r>
              <a:rPr sz="800" b="0" i="0">
                <a:solidFill>
                  <a:srgbClr val="5A6B7B"/>
                </a:solidFill>
                <a:latin typeface="Calibri"/>
              </a:rPr>
              <a:t>Agentic AI Developer-Tool Adoption  ·  Public-intelligence sweep  ·  2026-05-25</a:t>
            </a:r>
          </a:p>
        </p:txBody>
      </p:sp>
      <p:sp>
        <p:nvSpPr>
          <p:cNvPr id="14" name="TextBox 13"/>
          <p:cNvSpPr txBox="1"/>
          <p:nvPr/>
        </p:nvSpPr>
        <p:spPr>
          <a:xfrm>
            <a:off x="11247120" y="6510528"/>
            <a:ext cx="731520" cy="274320"/>
          </a:xfrm>
          <a:prstGeom prst="rect">
            <a:avLst/>
          </a:prstGeom>
          <a:noFill/>
        </p:spPr>
        <p:txBody>
          <a:bodyPr wrap="square" anchor="t" lIns="25400" rIns="25400" tIns="25400" bIns="25400">
            <a:spAutoFit/>
          </a:bodyPr>
          <a:lstStyle/>
          <a:p>
            <a:pPr algn="r"/>
            <a:r>
              <a:rPr sz="900" b="1" i="0">
                <a:solidFill>
                  <a:srgbClr val="5A6B7B"/>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38100"/>
          </a:xfrm>
          <a:prstGeom prst="rect">
            <a:avLst/>
          </a:prstGeom>
          <a:solidFill>
            <a:srgbClr val="12B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11338560" cy="566928"/>
          </a:xfrm>
          <a:prstGeom prst="rect">
            <a:avLst/>
          </a:prstGeom>
          <a:noFill/>
        </p:spPr>
        <p:txBody>
          <a:bodyPr wrap="square" anchor="ctr" lIns="25400" rIns="25400" tIns="25400" bIns="25400">
            <a:spAutoFit/>
          </a:bodyPr>
          <a:lstStyle/>
          <a:p>
            <a:pPr algn="l"/>
            <a:r>
              <a:rPr sz="2600" b="1" i="0">
                <a:solidFill>
                  <a:srgbClr val="FFFFFF"/>
                </a:solidFill>
                <a:latin typeface="Calibri"/>
              </a:rPr>
              <a:t>NVIDIA  (NVDA)</a:t>
            </a:r>
          </a:p>
        </p:txBody>
      </p:sp>
      <p:sp>
        <p:nvSpPr>
          <p:cNvPr id="5" name="TextBox 4"/>
          <p:cNvSpPr txBox="1"/>
          <p:nvPr/>
        </p:nvSpPr>
        <p:spPr>
          <a:xfrm>
            <a:off x="429768" y="603504"/>
            <a:ext cx="11338560" cy="274320"/>
          </a:xfrm>
          <a:prstGeom prst="rect">
            <a:avLst/>
          </a:prstGeom>
          <a:noFill/>
        </p:spPr>
        <p:txBody>
          <a:bodyPr wrap="square" anchor="t" lIns="25400" rIns="25400" tIns="25400" bIns="25400">
            <a:spAutoFit/>
          </a:bodyPr>
          <a:lstStyle/>
          <a:p>
            <a:pPr algn="l"/>
            <a:r>
              <a:rPr sz="1200" b="0" i="0">
                <a:solidFill>
                  <a:srgbClr val="BFD7EA"/>
                </a:solidFill>
                <a:latin typeface="Calibri"/>
              </a:rPr>
              <a:t>Cursor (~30k eng) + Codex (~10k) at scale</a:t>
            </a:r>
          </a:p>
        </p:txBody>
      </p:sp>
      <p:sp>
        <p:nvSpPr>
          <p:cNvPr id="6" name="Rectangle 5"/>
          <p:cNvSpPr/>
          <p:nvPr/>
        </p:nvSpPr>
        <p:spPr>
          <a:xfrm>
            <a:off x="9601200" y="256032"/>
            <a:ext cx="2194560" cy="40233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56032"/>
            <a:ext cx="2194560" cy="402336"/>
          </a:xfrm>
          <a:prstGeom prst="rect">
            <a:avLst/>
          </a:prstGeom>
          <a:noFill/>
        </p:spPr>
        <p:txBody>
          <a:bodyPr wrap="square" anchor="ctr" lIns="25400" rIns="25400" tIns="25400" bIns="25400">
            <a:spAutoFit/>
          </a:bodyPr>
          <a:lstStyle/>
          <a:p>
            <a:pPr algn="ctr"/>
            <a:r>
              <a:rPr sz="1100" b="1" i="0">
                <a:solidFill>
                  <a:srgbClr val="FFFFFF"/>
                </a:solidFill>
                <a:latin typeface="Calibri"/>
              </a:rPr>
              <a:t>Evidence: High (T1)</a:t>
            </a:r>
          </a:p>
        </p:txBody>
      </p:sp>
      <p:sp>
        <p:nvSpPr>
          <p:cNvPr id="8" name="TextBox 7"/>
          <p:cNvSpPr txBox="1"/>
          <p:nvPr/>
        </p:nvSpPr>
        <p:spPr>
          <a:xfrm>
            <a:off x="502920" y="1097280"/>
            <a:ext cx="11155680" cy="274320"/>
          </a:xfrm>
          <a:prstGeom prst="rect">
            <a:avLst/>
          </a:prstGeom>
          <a:noFill/>
        </p:spPr>
        <p:txBody>
          <a:bodyPr wrap="square" anchor="t" lIns="25400" rIns="25400" tIns="25400" bIns="25400">
            <a:spAutoFit/>
          </a:bodyPr>
          <a:lstStyle/>
          <a:p>
            <a:pPr algn="l"/>
            <a:r>
              <a:rPr sz="1100" b="1" i="0">
                <a:solidFill>
                  <a:srgbClr val="1F77B4"/>
                </a:solidFill>
                <a:latin typeface="Calibri"/>
              </a:rPr>
              <a:t>OVERALL ASSESSMENT</a:t>
            </a:r>
          </a:p>
        </p:txBody>
      </p:sp>
      <p:sp>
        <p:nvSpPr>
          <p:cNvPr id="9" name="TextBox 8"/>
          <p:cNvSpPr txBox="1"/>
          <p:nvPr/>
        </p:nvSpPr>
        <p:spPr>
          <a:xfrm>
            <a:off x="502920" y="1371600"/>
            <a:ext cx="11155680" cy="1691640"/>
          </a:xfrm>
          <a:prstGeom prst="rect">
            <a:avLst/>
          </a:prstGeom>
          <a:noFill/>
        </p:spPr>
        <p:txBody>
          <a:bodyPr wrap="square" anchor="t" lIns="25400" rIns="25400" tIns="25400" bIns="25400">
            <a:spAutoFit/>
          </a:bodyPr>
          <a:lstStyle/>
          <a:p>
            <a:pPr algn="l">
              <a:lnSpc>
                <a:spcPct val="103000"/>
              </a:lnSpc>
            </a:pPr>
            <a:r>
              <a:rPr sz="1200" b="0" i="0">
                <a:solidFill>
                  <a:srgbClr val="1B2A38"/>
                </a:solidFill>
                <a:latin typeface="Calibri"/>
              </a:rPr>
              <a:t>NVIDIA is one of the most evidence-rich companies: Cursor (official vendor case study naming NVIDIA + repeated Jensen Huang quotes) and OpenAI Codex (official OpenAI case study + NVIDIA's own blog + reputable news on a 10,000-employee rollout) are both T1-confirmed internal adoption at very large scale. Claude Code internal use is weaker, resting mainly on a single keynote line grouping it with Codex and Cursor.</a:t>
            </a:r>
          </a:p>
        </p:txBody>
      </p:sp>
      <p:sp>
        <p:nvSpPr>
          <p:cNvPr id="10" name="TextBox 9"/>
          <p:cNvSpPr txBox="1"/>
          <p:nvPr/>
        </p:nvSpPr>
        <p:spPr>
          <a:xfrm>
            <a:off x="502920" y="3154680"/>
            <a:ext cx="10972800" cy="274320"/>
          </a:xfrm>
          <a:prstGeom prst="rect">
            <a:avLst/>
          </a:prstGeom>
          <a:noFill/>
        </p:spPr>
        <p:txBody>
          <a:bodyPr wrap="square" anchor="t" lIns="25400" rIns="25400" tIns="25400" bIns="25400">
            <a:spAutoFit/>
          </a:bodyPr>
          <a:lstStyle/>
          <a:p>
            <a:pPr algn="l"/>
            <a:r>
              <a:rPr sz="1100" b="1" i="0">
                <a:solidFill>
                  <a:srgbClr val="1F77B4"/>
                </a:solidFill>
                <a:latin typeface="Calibri"/>
              </a:rPr>
              <a:t>TOOLS &amp; EVIDENCE</a:t>
            </a:r>
          </a:p>
        </p:txBody>
      </p:sp>
      <p:graphicFrame>
        <p:nvGraphicFramePr>
          <p:cNvPr id="11" name="Table 10"/>
          <p:cNvGraphicFramePr>
            <a:graphicFrameLocks noGrp="1"/>
          </p:cNvGraphicFramePr>
          <p:nvPr/>
        </p:nvGraphicFramePr>
        <p:xfrm>
          <a:off x="502920" y="3429000"/>
          <a:ext cx="11201400" cy="1591056"/>
        </p:xfrm>
        <a:graphic>
          <a:graphicData uri="http://schemas.openxmlformats.org/drawingml/2006/table">
            <a:tbl>
              <a:tblPr>
                <a:tableStyleId>{5C22544A-7EE6-4342-B048-85BDC9FD1C3A}</a:tableStyleId>
              </a:tblPr>
              <a:tblGrid>
                <a:gridCol w="5486400"/>
                <a:gridCol w="1828800"/>
                <a:gridCol w="3886200"/>
              </a:tblGrid>
              <a:tr h="329184">
                <a:tc>
                  <a:txBody>
                    <a:bodyPr wrap="square"/>
                    <a:lstStyle/>
                    <a:p>
                      <a:pPr algn="l"/>
                      <a:r>
                        <a:rPr sz="1100" b="1">
                          <a:solidFill>
                            <a:srgbClr val="FFFFFF"/>
                          </a:solidFill>
                          <a:latin typeface="Calibri"/>
                        </a:rPr>
                        <a:t>Tool</a:t>
                      </a:r>
                    </a:p>
                  </a:txBody>
                  <a:tcPr anchor="ctr" marL="76200" marR="76200" marT="25400" marB="25400">
                    <a:solidFill>
                      <a:srgbClr val="0F2A4A"/>
                    </a:solidFill>
                  </a:tcPr>
                </a:tc>
                <a:tc>
                  <a:txBody>
                    <a:bodyPr wrap="square"/>
                    <a:lstStyle/>
                    <a:p>
                      <a:pPr algn="ctr"/>
                      <a:r>
                        <a:rPr sz="1100" b="1">
                          <a:solidFill>
                            <a:srgbClr val="FFFFFF"/>
                          </a:solidFill>
                          <a:latin typeface="Calibri"/>
                        </a:rPr>
                        <a:t>Internal-use tier</a:t>
                      </a:r>
                    </a:p>
                  </a:txBody>
                  <a:tcPr anchor="ctr" marL="76200" marR="76200" marT="25400" marB="25400">
                    <a:solidFill>
                      <a:srgbClr val="0F2A4A"/>
                    </a:solidFill>
                  </a:tcPr>
                </a:tc>
                <a:tc>
                  <a:txBody>
                    <a:bodyPr wrap="square"/>
                    <a:lstStyle/>
                    <a:p>
                      <a:pPr algn="l"/>
                      <a:r>
                        <a:rPr sz="1100" b="1">
                          <a:solidFill>
                            <a:srgbClr val="FFFFFF"/>
                          </a:solidFill>
                          <a:latin typeface="Calibri"/>
                        </a:rPr>
                        <a:t>Signal type(s)</a:t>
                      </a:r>
                    </a:p>
                  </a:txBody>
                  <a:tcPr anchor="ctr" marL="76200" marR="76200" marT="25400" marB="25400">
                    <a:solidFill>
                      <a:srgbClr val="0F2A4A"/>
                    </a:solidFill>
                  </a:tcPr>
                </a:tc>
              </a:tr>
              <a:tr h="420624">
                <a:tc>
                  <a:txBody>
                    <a:bodyPr wrap="square"/>
                    <a:lstStyle/>
                    <a:p>
                      <a:pPr algn="l"/>
                      <a:r>
                        <a:rPr sz="1050" b="1">
                          <a:solidFill>
                            <a:srgbClr val="1B2A38"/>
                          </a:solidFill>
                          <a:latin typeface="Calibri"/>
                        </a:rPr>
                        <a:t>Cursor</a:t>
                      </a:r>
                    </a:p>
                  </a:txBody>
                  <a:tcPr anchor="ctr" marL="76200" marR="76200" marT="25400" marB="25400">
                    <a:solidFill>
                      <a:srgbClr val="FFFFFF"/>
                    </a:solidFill>
                  </a:tcPr>
                </a:tc>
                <a:tc>
                  <a:txBody>
                    <a:bodyPr wrap="square"/>
                    <a:lstStyle/>
                    <a:p>
                      <a:pPr algn="ctr"/>
                      <a:r>
                        <a:rPr sz="1050" b="1">
                          <a:solidFill>
                            <a:srgbClr val="FFFFFF"/>
                          </a:solidFill>
                          <a:latin typeface="Calibri"/>
                        </a:rPr>
                        <a:t>T1 · confirmed</a:t>
                      </a:r>
                    </a:p>
                  </a:txBody>
                  <a:tcPr anchor="ctr" marL="76200" marR="76200" marT="25400" marB="25400">
                    <a:solidFill>
                      <a:srgbClr val="2E7D32"/>
                    </a:solidFill>
                  </a:tcPr>
                </a:tc>
                <a:tc>
                  <a:txBody>
                    <a:bodyPr wrap="square"/>
                    <a:lstStyle/>
                    <a:p>
                      <a:pPr algn="l"/>
                      <a:r>
                        <a:rPr sz="1000" b="0">
                          <a:solidFill>
                            <a:srgbClr val="1B2A38"/>
                          </a:solidFill>
                          <a:latin typeface="Calibri"/>
                        </a:rPr>
                        <a:t>Internal use</a:t>
                      </a:r>
                    </a:p>
                  </a:txBody>
                  <a:tcPr anchor="ctr" marL="76200" marR="76200" marT="25400" marB="25400">
                    <a:solidFill>
                      <a:srgbClr val="FFFFFF"/>
                    </a:solidFill>
                  </a:tcPr>
                </a:tc>
              </a:tr>
              <a:tr h="420624">
                <a:tc>
                  <a:txBody>
                    <a:bodyPr wrap="square"/>
                    <a:lstStyle/>
                    <a:p>
                      <a:pPr algn="l"/>
                      <a:r>
                        <a:rPr sz="1050" b="1">
                          <a:solidFill>
                            <a:srgbClr val="1B2A38"/>
                          </a:solidFill>
                          <a:latin typeface="Calibri"/>
                        </a:rPr>
                        <a:t>OpenAI Codex</a:t>
                      </a:r>
                    </a:p>
                  </a:txBody>
                  <a:tcPr anchor="ctr" marL="76200" marR="76200" marT="25400" marB="25400">
                    <a:solidFill>
                      <a:srgbClr val="E7EDF3"/>
                    </a:solidFill>
                  </a:tcPr>
                </a:tc>
                <a:tc>
                  <a:txBody>
                    <a:bodyPr wrap="square"/>
                    <a:lstStyle/>
                    <a:p>
                      <a:pPr algn="ctr"/>
                      <a:r>
                        <a:rPr sz="1050" b="1">
                          <a:solidFill>
                            <a:srgbClr val="FFFFFF"/>
                          </a:solidFill>
                          <a:latin typeface="Calibri"/>
                        </a:rPr>
                        <a:t>T1 · confirmed</a:t>
                      </a:r>
                    </a:p>
                  </a:txBody>
                  <a:tcPr anchor="ctr" marL="76200" marR="76200" marT="25400" marB="25400">
                    <a:solidFill>
                      <a:srgbClr val="2E7D32"/>
                    </a:solidFill>
                  </a:tcPr>
                </a:tc>
                <a:tc>
                  <a:txBody>
                    <a:bodyPr wrap="square"/>
                    <a:lstStyle/>
                    <a:p>
                      <a:pPr algn="l"/>
                      <a:r>
                        <a:rPr sz="1000" b="0">
                          <a:solidFill>
                            <a:srgbClr val="1B2A38"/>
                          </a:solidFill>
                          <a:latin typeface="Calibri"/>
                        </a:rPr>
                        <a:t>Internal use · Product</a:t>
                      </a:r>
                    </a:p>
                  </a:txBody>
                  <a:tcPr anchor="ctr" marL="76200" marR="76200" marT="25400" marB="25400">
                    <a:solidFill>
                      <a:srgbClr val="E7EDF3"/>
                    </a:solidFill>
                  </a:tcPr>
                </a:tc>
              </a:tr>
              <a:tr h="420624">
                <a:tc>
                  <a:txBody>
                    <a:bodyPr wrap="square"/>
                    <a:lstStyle/>
                    <a:p>
                      <a:pPr algn="l"/>
                      <a:r>
                        <a:rPr sz="1050" b="1">
                          <a:solidFill>
                            <a:srgbClr val="1B2A38"/>
                          </a:solidFill>
                          <a:latin typeface="Calibri"/>
                        </a:rPr>
                        <a:t>Claude Code</a:t>
                      </a:r>
                    </a:p>
                  </a:txBody>
                  <a:tcPr anchor="ctr" marL="76200" marR="76200" marT="25400" marB="25400">
                    <a:solidFill>
                      <a:srgbClr val="FFFFFF"/>
                    </a:solidFill>
                  </a:tcPr>
                </a:tc>
                <a:tc>
                  <a:txBody>
                    <a:bodyPr wrap="square"/>
                    <a:lstStyle/>
                    <a:p>
                      <a:pPr algn="ctr"/>
                      <a:r>
                        <a:rPr sz="1050" b="1">
                          <a:solidFill>
                            <a:srgbClr val="FFFFFF"/>
                          </a:solidFill>
                          <a:latin typeface="Calibri"/>
                        </a:rPr>
                        <a:t>T3 · weak</a:t>
                      </a:r>
                    </a:p>
                  </a:txBody>
                  <a:tcPr anchor="ctr" marL="76200" marR="76200" marT="25400" marB="25400">
                    <a:solidFill>
                      <a:srgbClr val="E67E00"/>
                    </a:solidFill>
                  </a:tcPr>
                </a:tc>
                <a:tc>
                  <a:txBody>
                    <a:bodyPr wrap="square"/>
                    <a:lstStyle/>
                    <a:p>
                      <a:pPr algn="l"/>
                      <a:r>
                        <a:rPr sz="1000" b="0">
                          <a:solidFill>
                            <a:srgbClr val="1B2A38"/>
                          </a:solidFill>
                          <a:latin typeface="Calibri"/>
                        </a:rPr>
                        <a:t>Internal use · Product</a:t>
                      </a:r>
                    </a:p>
                  </a:txBody>
                  <a:tcPr anchor="ctr" marL="76200" marR="76200" marT="25400" marB="25400">
                    <a:solidFill>
                      <a:srgbClr val="FFFFFF"/>
                    </a:solidFill>
                  </a:tcPr>
                </a:tc>
              </a:tr>
            </a:tbl>
          </a:graphicData>
        </a:graphic>
      </p:graphicFrame>
      <p:sp>
        <p:nvSpPr>
          <p:cNvPr id="12" name="TextBox 11"/>
          <p:cNvSpPr txBox="1"/>
          <p:nvPr/>
        </p:nvSpPr>
        <p:spPr>
          <a:xfrm>
            <a:off x="502920" y="5129784"/>
            <a:ext cx="11155680" cy="457200"/>
          </a:xfrm>
          <a:prstGeom prst="rect">
            <a:avLst/>
          </a:prstGeom>
          <a:noFill/>
        </p:spPr>
        <p:txBody>
          <a:bodyPr wrap="square" anchor="t" lIns="25400" rIns="25400" tIns="25400" bIns="25400">
            <a:spAutoFit/>
          </a:bodyPr>
          <a:lstStyle/>
          <a:p>
            <a:pPr algn="l">
              <a:lnSpc>
                <a:spcPct val="100000"/>
              </a:lnSpc>
            </a:pPr>
            <a:r>
              <a:rPr sz="950" b="0" i="1">
                <a:solidFill>
                  <a:srgbClr val="5A6B7B"/>
                </a:solidFill>
                <a:latin typeface="Calibri"/>
              </a:rPr>
              <a:t>Not confirmed / no evidence: GitHub Copilot internal use (only ecosystem/integration noise: JFrog, jetson-copilot, NIM provider); Amazon Q Developer, Windsurf, Devin, Gemini CLI, Antigravity internal use</a:t>
            </a:r>
          </a:p>
        </p:txBody>
      </p:sp>
      <p:sp>
        <p:nvSpPr>
          <p:cNvPr id="13" name="TextBox 12"/>
          <p:cNvSpPr txBox="1"/>
          <p:nvPr/>
        </p:nvSpPr>
        <p:spPr>
          <a:xfrm>
            <a:off x="411480" y="6510528"/>
            <a:ext cx="8229600" cy="274320"/>
          </a:xfrm>
          <a:prstGeom prst="rect">
            <a:avLst/>
          </a:prstGeom>
          <a:noFill/>
        </p:spPr>
        <p:txBody>
          <a:bodyPr wrap="square" anchor="t" lIns="25400" rIns="25400" tIns="25400" bIns="25400">
            <a:spAutoFit/>
          </a:bodyPr>
          <a:lstStyle/>
          <a:p>
            <a:pPr algn="l"/>
            <a:r>
              <a:rPr sz="800" b="0" i="0">
                <a:solidFill>
                  <a:srgbClr val="5A6B7B"/>
                </a:solidFill>
                <a:latin typeface="Calibri"/>
              </a:rPr>
              <a:t>Agentic AI Developer-Tool Adoption  ·  Public-intelligence sweep  ·  2026-05-25</a:t>
            </a:r>
          </a:p>
        </p:txBody>
      </p:sp>
      <p:sp>
        <p:nvSpPr>
          <p:cNvPr id="14" name="TextBox 13"/>
          <p:cNvSpPr txBox="1"/>
          <p:nvPr/>
        </p:nvSpPr>
        <p:spPr>
          <a:xfrm>
            <a:off x="11247120" y="6510528"/>
            <a:ext cx="731520" cy="274320"/>
          </a:xfrm>
          <a:prstGeom prst="rect">
            <a:avLst/>
          </a:prstGeom>
          <a:noFill/>
        </p:spPr>
        <p:txBody>
          <a:bodyPr wrap="square" anchor="t" lIns="25400" rIns="25400" tIns="25400" bIns="25400">
            <a:spAutoFit/>
          </a:bodyPr>
          <a:lstStyle/>
          <a:p>
            <a:pPr algn="r"/>
            <a:r>
              <a:rPr sz="900" b="1" i="0">
                <a:solidFill>
                  <a:srgbClr val="5A6B7B"/>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38100"/>
          </a:xfrm>
          <a:prstGeom prst="rect">
            <a:avLst/>
          </a:prstGeom>
          <a:solidFill>
            <a:srgbClr val="12B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11338560" cy="566928"/>
          </a:xfrm>
          <a:prstGeom prst="rect">
            <a:avLst/>
          </a:prstGeom>
          <a:noFill/>
        </p:spPr>
        <p:txBody>
          <a:bodyPr wrap="square" anchor="ctr" lIns="25400" rIns="25400" tIns="25400" bIns="25400">
            <a:spAutoFit/>
          </a:bodyPr>
          <a:lstStyle/>
          <a:p>
            <a:pPr algn="l"/>
            <a:r>
              <a:rPr sz="2600" b="1" i="0">
                <a:solidFill>
                  <a:srgbClr val="FFFFFF"/>
                </a:solidFill>
                <a:latin typeface="Calibri"/>
              </a:rPr>
              <a:t>Broadcom  (AVGO)</a:t>
            </a:r>
          </a:p>
        </p:txBody>
      </p:sp>
      <p:sp>
        <p:nvSpPr>
          <p:cNvPr id="5" name="TextBox 4"/>
          <p:cNvSpPr txBox="1"/>
          <p:nvPr/>
        </p:nvSpPr>
        <p:spPr>
          <a:xfrm>
            <a:off x="429768" y="603504"/>
            <a:ext cx="11338560" cy="274320"/>
          </a:xfrm>
          <a:prstGeom prst="rect">
            <a:avLst/>
          </a:prstGeom>
          <a:noFill/>
        </p:spPr>
        <p:txBody>
          <a:bodyPr wrap="square" anchor="t" lIns="25400" rIns="25400" tIns="25400" bIns="25400">
            <a:spAutoFit/>
          </a:bodyPr>
          <a:lstStyle/>
          <a:p>
            <a:pPr algn="l"/>
            <a:r>
              <a:rPr sz="1200" b="0" i="0">
                <a:solidFill>
                  <a:srgbClr val="BFD7EA"/>
                </a:solidFill>
                <a:latin typeface="Calibri"/>
              </a:rPr>
              <a:t>Internal ticket-to-PR agents; vendor tool unnamed</a:t>
            </a:r>
          </a:p>
        </p:txBody>
      </p:sp>
      <p:sp>
        <p:nvSpPr>
          <p:cNvPr id="6" name="Rectangle 5"/>
          <p:cNvSpPr/>
          <p:nvPr/>
        </p:nvSpPr>
        <p:spPr>
          <a:xfrm>
            <a:off x="9601200" y="256032"/>
            <a:ext cx="2194560" cy="402336"/>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56032"/>
            <a:ext cx="2194560" cy="402336"/>
          </a:xfrm>
          <a:prstGeom prst="rect">
            <a:avLst/>
          </a:prstGeom>
          <a:noFill/>
        </p:spPr>
        <p:txBody>
          <a:bodyPr wrap="square" anchor="ctr" lIns="25400" rIns="25400" tIns="25400" bIns="25400">
            <a:spAutoFit/>
          </a:bodyPr>
          <a:lstStyle/>
          <a:p>
            <a:pPr algn="ctr"/>
            <a:r>
              <a:rPr sz="1100" b="1" i="0">
                <a:solidFill>
                  <a:srgbClr val="FFFFFF"/>
                </a:solidFill>
                <a:latin typeface="Calibri"/>
              </a:rPr>
              <a:t>Evidence: Medium (T2)</a:t>
            </a:r>
          </a:p>
        </p:txBody>
      </p:sp>
      <p:sp>
        <p:nvSpPr>
          <p:cNvPr id="8" name="TextBox 7"/>
          <p:cNvSpPr txBox="1"/>
          <p:nvPr/>
        </p:nvSpPr>
        <p:spPr>
          <a:xfrm>
            <a:off x="502920" y="1097280"/>
            <a:ext cx="11155680" cy="274320"/>
          </a:xfrm>
          <a:prstGeom prst="rect">
            <a:avLst/>
          </a:prstGeom>
          <a:noFill/>
        </p:spPr>
        <p:txBody>
          <a:bodyPr wrap="square" anchor="t" lIns="25400" rIns="25400" tIns="25400" bIns="25400">
            <a:spAutoFit/>
          </a:bodyPr>
          <a:lstStyle/>
          <a:p>
            <a:pPr algn="l"/>
            <a:r>
              <a:rPr sz="1100" b="1" i="0">
                <a:solidFill>
                  <a:srgbClr val="1F77B4"/>
                </a:solidFill>
                <a:latin typeface="Calibri"/>
              </a:rPr>
              <a:t>OVERALL ASSESSMENT</a:t>
            </a:r>
          </a:p>
        </p:txBody>
      </p:sp>
      <p:sp>
        <p:nvSpPr>
          <p:cNvPr id="9" name="TextBox 8"/>
          <p:cNvSpPr txBox="1"/>
          <p:nvPr/>
        </p:nvSpPr>
        <p:spPr>
          <a:xfrm>
            <a:off x="502920" y="1371600"/>
            <a:ext cx="11155680" cy="1691640"/>
          </a:xfrm>
          <a:prstGeom prst="rect">
            <a:avLst/>
          </a:prstGeom>
          <a:noFill/>
        </p:spPr>
        <p:txBody>
          <a:bodyPr wrap="square" anchor="t" lIns="25400" rIns="25400" tIns="25400" bIns="25400">
            <a:spAutoFit/>
          </a:bodyPr>
          <a:lstStyle/>
          <a:p>
            <a:pPr algn="l">
              <a:lnSpc>
                <a:spcPct val="103000"/>
              </a:lnSpc>
            </a:pPr>
            <a:r>
              <a:rPr sz="1200" b="0" i="0">
                <a:solidFill>
                  <a:srgbClr val="1B2A38"/>
                </a:solidFill>
                <a:latin typeface="Calibri"/>
              </a:rPr>
              <a:t>Broadcom's internal use of agentic AI coding assistants is real but described GENERICALLY by the company without naming a consumer tool. A primary Broadcom-owned news article documents its Global Technology Organization rolling out agentic coding assistants to 'thousands of developers' with a ticket-to-PR workflow governed via VMware Tanzu Platform + MCP. Anthropic Claude is integrated into Tanzu as a model provider (a product feature) and is a plausible-but-unconfirmed backend.</a:t>
            </a:r>
          </a:p>
        </p:txBody>
      </p:sp>
      <p:sp>
        <p:nvSpPr>
          <p:cNvPr id="10" name="TextBox 9"/>
          <p:cNvSpPr txBox="1"/>
          <p:nvPr/>
        </p:nvSpPr>
        <p:spPr>
          <a:xfrm>
            <a:off x="502920" y="3154680"/>
            <a:ext cx="10972800" cy="274320"/>
          </a:xfrm>
          <a:prstGeom prst="rect">
            <a:avLst/>
          </a:prstGeom>
          <a:noFill/>
        </p:spPr>
        <p:txBody>
          <a:bodyPr wrap="square" anchor="t" lIns="25400" rIns="25400" tIns="25400" bIns="25400">
            <a:spAutoFit/>
          </a:bodyPr>
          <a:lstStyle/>
          <a:p>
            <a:pPr algn="l"/>
            <a:r>
              <a:rPr sz="1100" b="1" i="0">
                <a:solidFill>
                  <a:srgbClr val="1F77B4"/>
                </a:solidFill>
                <a:latin typeface="Calibri"/>
              </a:rPr>
              <a:t>TOOLS &amp; EVIDENCE</a:t>
            </a:r>
          </a:p>
        </p:txBody>
      </p:sp>
      <p:graphicFrame>
        <p:nvGraphicFramePr>
          <p:cNvPr id="11" name="Table 10"/>
          <p:cNvGraphicFramePr>
            <a:graphicFrameLocks noGrp="1"/>
          </p:cNvGraphicFramePr>
          <p:nvPr/>
        </p:nvGraphicFramePr>
        <p:xfrm>
          <a:off x="502920" y="3429000"/>
          <a:ext cx="11201400" cy="1170432"/>
        </p:xfrm>
        <a:graphic>
          <a:graphicData uri="http://schemas.openxmlformats.org/drawingml/2006/table">
            <a:tbl>
              <a:tblPr>
                <a:tableStyleId>{5C22544A-7EE6-4342-B048-85BDC9FD1C3A}</a:tableStyleId>
              </a:tblPr>
              <a:tblGrid>
                <a:gridCol w="5486400"/>
                <a:gridCol w="1828800"/>
                <a:gridCol w="3886200"/>
              </a:tblGrid>
              <a:tr h="329184">
                <a:tc>
                  <a:txBody>
                    <a:bodyPr wrap="square"/>
                    <a:lstStyle/>
                    <a:p>
                      <a:pPr algn="l"/>
                      <a:r>
                        <a:rPr sz="1100" b="1">
                          <a:solidFill>
                            <a:srgbClr val="FFFFFF"/>
                          </a:solidFill>
                          <a:latin typeface="Calibri"/>
                        </a:rPr>
                        <a:t>Tool</a:t>
                      </a:r>
                    </a:p>
                  </a:txBody>
                  <a:tcPr anchor="ctr" marL="76200" marR="76200" marT="25400" marB="25400">
                    <a:solidFill>
                      <a:srgbClr val="0F2A4A"/>
                    </a:solidFill>
                  </a:tcPr>
                </a:tc>
                <a:tc>
                  <a:txBody>
                    <a:bodyPr wrap="square"/>
                    <a:lstStyle/>
                    <a:p>
                      <a:pPr algn="ctr"/>
                      <a:r>
                        <a:rPr sz="1100" b="1">
                          <a:solidFill>
                            <a:srgbClr val="FFFFFF"/>
                          </a:solidFill>
                          <a:latin typeface="Calibri"/>
                        </a:rPr>
                        <a:t>Internal-use tier</a:t>
                      </a:r>
                    </a:p>
                  </a:txBody>
                  <a:tcPr anchor="ctr" marL="76200" marR="76200" marT="25400" marB="25400">
                    <a:solidFill>
                      <a:srgbClr val="0F2A4A"/>
                    </a:solidFill>
                  </a:tcPr>
                </a:tc>
                <a:tc>
                  <a:txBody>
                    <a:bodyPr wrap="square"/>
                    <a:lstStyle/>
                    <a:p>
                      <a:pPr algn="l"/>
                      <a:r>
                        <a:rPr sz="1100" b="1">
                          <a:solidFill>
                            <a:srgbClr val="FFFFFF"/>
                          </a:solidFill>
                          <a:latin typeface="Calibri"/>
                        </a:rPr>
                        <a:t>Signal type(s)</a:t>
                      </a:r>
                    </a:p>
                  </a:txBody>
                  <a:tcPr anchor="ctr" marL="76200" marR="76200" marT="25400" marB="25400">
                    <a:solidFill>
                      <a:srgbClr val="0F2A4A"/>
                    </a:solidFill>
                  </a:tcPr>
                </a:tc>
              </a:tr>
              <a:tr h="420624">
                <a:tc>
                  <a:txBody>
                    <a:bodyPr wrap="square"/>
                    <a:lstStyle/>
                    <a:p>
                      <a:pPr algn="l"/>
                      <a:r>
                        <a:rPr sz="1050" b="1">
                          <a:solidFill>
                            <a:srgbClr val="1B2A38"/>
                          </a:solidFill>
                          <a:latin typeface="Calibri"/>
                        </a:rPr>
                        <a:t>Agentic assistants (unnamed, via Tanzu)</a:t>
                      </a:r>
                    </a:p>
                  </a:txBody>
                  <a:tcPr anchor="ctr" marL="76200" marR="76200" marT="25400" marB="25400">
                    <a:solidFill>
                      <a:srgbClr val="FFFFFF"/>
                    </a:solidFill>
                  </a:tcPr>
                </a:tc>
                <a:tc>
                  <a:txBody>
                    <a:bodyPr wrap="square"/>
                    <a:lstStyle/>
                    <a:p>
                      <a:pPr algn="ctr"/>
                      <a:r>
                        <a:rPr sz="1050" b="1">
                          <a:solidFill>
                            <a:srgbClr val="FFFFFF"/>
                          </a:solidFill>
                          <a:latin typeface="Calibri"/>
                        </a:rPr>
                        <a:t>T2 · strong</a:t>
                      </a:r>
                    </a:p>
                  </a:txBody>
                  <a:tcPr anchor="ctr" marL="76200" marR="76200" marT="25400" marB="25400">
                    <a:solidFill>
                      <a:srgbClr val="1565C0"/>
                    </a:solidFill>
                  </a:tcPr>
                </a:tc>
                <a:tc>
                  <a:txBody>
                    <a:bodyPr wrap="square"/>
                    <a:lstStyle/>
                    <a:p>
                      <a:pPr algn="l"/>
                      <a:r>
                        <a:rPr sz="1000" b="0">
                          <a:solidFill>
                            <a:srgbClr val="1B2A38"/>
                          </a:solidFill>
                          <a:latin typeface="Calibri"/>
                        </a:rPr>
                        <a:t>Internal use</a:t>
                      </a:r>
                    </a:p>
                  </a:txBody>
                  <a:tcPr anchor="ctr" marL="76200" marR="76200" marT="25400" marB="25400">
                    <a:solidFill>
                      <a:srgbClr val="FFFFFF"/>
                    </a:solidFill>
                  </a:tcPr>
                </a:tc>
              </a:tr>
              <a:tr h="420624">
                <a:tc>
                  <a:txBody>
                    <a:bodyPr wrap="square"/>
                    <a:lstStyle/>
                    <a:p>
                      <a:pPr algn="l"/>
                      <a:r>
                        <a:rPr sz="1050" b="1">
                          <a:solidFill>
                            <a:srgbClr val="1B2A38"/>
                          </a:solidFill>
                          <a:latin typeface="Calibri"/>
                        </a:rPr>
                        <a:t>Claude (model in Tanzu)</a:t>
                      </a:r>
                    </a:p>
                  </a:txBody>
                  <a:tcPr anchor="ctr" marL="76200" marR="76200" marT="25400" marB="25400">
                    <a:solidFill>
                      <a:srgbClr val="E7EDF3"/>
                    </a:solidFill>
                  </a:tcPr>
                </a:tc>
                <a:tc>
                  <a:txBody>
                    <a:bodyPr wrap="square"/>
                    <a:lstStyle/>
                    <a:p>
                      <a:pPr algn="ctr"/>
                      <a:r>
                        <a:rPr sz="1050" b="1">
                          <a:solidFill>
                            <a:srgbClr val="FFFFFF"/>
                          </a:solidFill>
                          <a:latin typeface="Calibri"/>
                        </a:rPr>
                        <a:t>T4 · none</a:t>
                      </a:r>
                    </a:p>
                  </a:txBody>
                  <a:tcPr anchor="ctr" marL="76200" marR="76200" marT="25400" marB="25400">
                    <a:solidFill>
                      <a:srgbClr val="9E9E9E"/>
                    </a:solidFill>
                  </a:tcPr>
                </a:tc>
                <a:tc>
                  <a:txBody>
                    <a:bodyPr wrap="square"/>
                    <a:lstStyle/>
                    <a:p>
                      <a:pPr algn="l"/>
                      <a:r>
                        <a:rPr sz="1000" b="0">
                          <a:solidFill>
                            <a:srgbClr val="1B2A38"/>
                          </a:solidFill>
                          <a:latin typeface="Calibri"/>
                        </a:rPr>
                        <a:t>Product</a:t>
                      </a:r>
                    </a:p>
                  </a:txBody>
                  <a:tcPr anchor="ctr" marL="76200" marR="76200" marT="25400" marB="25400">
                    <a:solidFill>
                      <a:srgbClr val="E7EDF3"/>
                    </a:solidFill>
                  </a:tcPr>
                </a:tc>
              </a:tr>
            </a:tbl>
          </a:graphicData>
        </a:graphic>
      </p:graphicFrame>
      <p:sp>
        <p:nvSpPr>
          <p:cNvPr id="12" name="TextBox 11"/>
          <p:cNvSpPr txBox="1"/>
          <p:nvPr/>
        </p:nvSpPr>
        <p:spPr>
          <a:xfrm>
            <a:off x="502920" y="4709160"/>
            <a:ext cx="11155680" cy="457200"/>
          </a:xfrm>
          <a:prstGeom prst="rect">
            <a:avLst/>
          </a:prstGeom>
          <a:noFill/>
        </p:spPr>
        <p:txBody>
          <a:bodyPr wrap="square" anchor="t" lIns="25400" rIns="25400" tIns="25400" bIns="25400">
            <a:spAutoFit/>
          </a:bodyPr>
          <a:lstStyle/>
          <a:p>
            <a:pPr algn="l">
              <a:lnSpc>
                <a:spcPct val="100000"/>
              </a:lnSpc>
            </a:pPr>
            <a:r>
              <a:rPr sz="950" b="0" i="1">
                <a:solidFill>
                  <a:srgbClr val="5A6B7B"/>
                </a:solidFill>
                <a:latin typeface="Calibri"/>
              </a:rPr>
              <a:t>Not confirmed / no evidence: Named tools (Claude Code, GitHub Copilot, Cursor, Codex, Amazon Q, Gemini CLI, Devin, Windsurf, Cowork) confirmed as Broadcom internal dev tools; klover.ai 'Broadcom uses AI agents' listicles treated as non-evidence</a:t>
            </a:r>
          </a:p>
        </p:txBody>
      </p:sp>
      <p:sp>
        <p:nvSpPr>
          <p:cNvPr id="13" name="TextBox 12"/>
          <p:cNvSpPr txBox="1"/>
          <p:nvPr/>
        </p:nvSpPr>
        <p:spPr>
          <a:xfrm>
            <a:off x="411480" y="6510528"/>
            <a:ext cx="8229600" cy="274320"/>
          </a:xfrm>
          <a:prstGeom prst="rect">
            <a:avLst/>
          </a:prstGeom>
          <a:noFill/>
        </p:spPr>
        <p:txBody>
          <a:bodyPr wrap="square" anchor="t" lIns="25400" rIns="25400" tIns="25400" bIns="25400">
            <a:spAutoFit/>
          </a:bodyPr>
          <a:lstStyle/>
          <a:p>
            <a:pPr algn="l"/>
            <a:r>
              <a:rPr sz="800" b="0" i="0">
                <a:solidFill>
                  <a:srgbClr val="5A6B7B"/>
                </a:solidFill>
                <a:latin typeface="Calibri"/>
              </a:rPr>
              <a:t>Agentic AI Developer-Tool Adoption  ·  Public-intelligence sweep  ·  2026-05-25</a:t>
            </a:r>
          </a:p>
        </p:txBody>
      </p:sp>
      <p:sp>
        <p:nvSpPr>
          <p:cNvPr id="14" name="TextBox 13"/>
          <p:cNvSpPr txBox="1"/>
          <p:nvPr/>
        </p:nvSpPr>
        <p:spPr>
          <a:xfrm>
            <a:off x="11247120" y="6510528"/>
            <a:ext cx="731520" cy="274320"/>
          </a:xfrm>
          <a:prstGeom prst="rect">
            <a:avLst/>
          </a:prstGeom>
          <a:noFill/>
        </p:spPr>
        <p:txBody>
          <a:bodyPr wrap="square" anchor="t" lIns="25400" rIns="25400" tIns="25400" bIns="25400">
            <a:spAutoFit/>
          </a:bodyPr>
          <a:lstStyle/>
          <a:p>
            <a:pPr algn="r"/>
            <a:r>
              <a:rPr sz="900" b="1" i="0">
                <a:solidFill>
                  <a:srgbClr val="5A6B7B"/>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38100"/>
          </a:xfrm>
          <a:prstGeom prst="rect">
            <a:avLst/>
          </a:prstGeom>
          <a:solidFill>
            <a:srgbClr val="12B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11338560" cy="566928"/>
          </a:xfrm>
          <a:prstGeom prst="rect">
            <a:avLst/>
          </a:prstGeom>
          <a:noFill/>
        </p:spPr>
        <p:txBody>
          <a:bodyPr wrap="square" anchor="ctr" lIns="25400" rIns="25400" tIns="25400" bIns="25400">
            <a:spAutoFit/>
          </a:bodyPr>
          <a:lstStyle/>
          <a:p>
            <a:pPr algn="l"/>
            <a:r>
              <a:rPr sz="2600" b="1" i="0">
                <a:solidFill>
                  <a:srgbClr val="FFFFFF"/>
                </a:solidFill>
                <a:latin typeface="Calibri"/>
              </a:rPr>
              <a:t>MediaTek  (2454.TW)</a:t>
            </a:r>
          </a:p>
        </p:txBody>
      </p:sp>
      <p:sp>
        <p:nvSpPr>
          <p:cNvPr id="5" name="TextBox 4"/>
          <p:cNvSpPr txBox="1"/>
          <p:nvPr/>
        </p:nvSpPr>
        <p:spPr>
          <a:xfrm>
            <a:off x="429768" y="603504"/>
            <a:ext cx="11338560" cy="274320"/>
          </a:xfrm>
          <a:prstGeom prst="rect">
            <a:avLst/>
          </a:prstGeom>
          <a:noFill/>
        </p:spPr>
        <p:txBody>
          <a:bodyPr wrap="square" anchor="t" lIns="25400" rIns="25400" tIns="25400" bIns="25400">
            <a:spAutoFit/>
          </a:bodyPr>
          <a:lstStyle/>
          <a:p>
            <a:pPr algn="l"/>
            <a:r>
              <a:rPr sz="1200" b="0" i="0">
                <a:solidFill>
                  <a:srgbClr val="BFD7EA"/>
                </a:solidFill>
                <a:latin typeface="Calibri"/>
              </a:rPr>
              <a:t>Home-built GPT-4 IDE + DGX code agents</a:t>
            </a:r>
          </a:p>
        </p:txBody>
      </p:sp>
      <p:sp>
        <p:nvSpPr>
          <p:cNvPr id="6" name="Rectangle 5"/>
          <p:cNvSpPr/>
          <p:nvPr/>
        </p:nvSpPr>
        <p:spPr>
          <a:xfrm>
            <a:off x="9601200" y="256032"/>
            <a:ext cx="2194560" cy="40233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56032"/>
            <a:ext cx="2194560" cy="402336"/>
          </a:xfrm>
          <a:prstGeom prst="rect">
            <a:avLst/>
          </a:prstGeom>
          <a:noFill/>
        </p:spPr>
        <p:txBody>
          <a:bodyPr wrap="square" anchor="ctr" lIns="25400" rIns="25400" tIns="25400" bIns="25400">
            <a:spAutoFit/>
          </a:bodyPr>
          <a:lstStyle/>
          <a:p>
            <a:pPr algn="ctr"/>
            <a:r>
              <a:rPr sz="1100" b="1" i="0">
                <a:solidFill>
                  <a:srgbClr val="FFFFFF"/>
                </a:solidFill>
                <a:latin typeface="Calibri"/>
              </a:rPr>
              <a:t>Evidence: High (T1)</a:t>
            </a:r>
          </a:p>
        </p:txBody>
      </p:sp>
      <p:sp>
        <p:nvSpPr>
          <p:cNvPr id="8" name="TextBox 7"/>
          <p:cNvSpPr txBox="1"/>
          <p:nvPr/>
        </p:nvSpPr>
        <p:spPr>
          <a:xfrm>
            <a:off x="502920" y="1097280"/>
            <a:ext cx="11155680" cy="274320"/>
          </a:xfrm>
          <a:prstGeom prst="rect">
            <a:avLst/>
          </a:prstGeom>
          <a:noFill/>
        </p:spPr>
        <p:txBody>
          <a:bodyPr wrap="square" anchor="t" lIns="25400" rIns="25400" tIns="25400" bIns="25400">
            <a:spAutoFit/>
          </a:bodyPr>
          <a:lstStyle/>
          <a:p>
            <a:pPr algn="l"/>
            <a:r>
              <a:rPr sz="1100" b="1" i="0">
                <a:solidFill>
                  <a:srgbClr val="1F77B4"/>
                </a:solidFill>
                <a:latin typeface="Calibri"/>
              </a:rPr>
              <a:t>OVERALL ASSESSMENT</a:t>
            </a:r>
          </a:p>
        </p:txBody>
      </p:sp>
      <p:sp>
        <p:nvSpPr>
          <p:cNvPr id="9" name="TextBox 8"/>
          <p:cNvSpPr txBox="1"/>
          <p:nvPr/>
        </p:nvSpPr>
        <p:spPr>
          <a:xfrm>
            <a:off x="502920" y="1371600"/>
            <a:ext cx="11155680" cy="1691640"/>
          </a:xfrm>
          <a:prstGeom prst="rect">
            <a:avLst/>
          </a:prstGeom>
          <a:noFill/>
        </p:spPr>
        <p:txBody>
          <a:bodyPr wrap="square" anchor="t" lIns="25400" rIns="25400" tIns="25400" bIns="25400">
            <a:spAutoFit/>
          </a:bodyPr>
          <a:lstStyle/>
          <a:p>
            <a:pPr algn="l">
              <a:lnSpc>
                <a:spcPct val="103000"/>
              </a:lnSpc>
            </a:pPr>
            <a:r>
              <a:rPr sz="1200" b="0" i="0">
                <a:solidFill>
                  <a:srgbClr val="1B2A38"/>
                </a:solidFill>
                <a:latin typeface="Calibri"/>
              </a:rPr>
              <a:t>MediaTek's agentic/AI coding usage is internal dogfooding of HOME-BUILT tooling, not adoption of brand-name agentic coding agents. It integrated GPT-4 (via Azure OpenAI) into its software-development IDE for code suggestion/generation/auto-fix (Microsoft case study + Business Weekly), and runs AI-assisted code completion plus documentation agents on its NVIDIA DGX SuperPOD AI factory (NVIDIA case study + MediaTek blog). GitHub Copilot appears only as an aspirational reference.</a:t>
            </a:r>
          </a:p>
        </p:txBody>
      </p:sp>
      <p:sp>
        <p:nvSpPr>
          <p:cNvPr id="10" name="TextBox 9"/>
          <p:cNvSpPr txBox="1"/>
          <p:nvPr/>
        </p:nvSpPr>
        <p:spPr>
          <a:xfrm>
            <a:off x="502920" y="3154680"/>
            <a:ext cx="10972800" cy="274320"/>
          </a:xfrm>
          <a:prstGeom prst="rect">
            <a:avLst/>
          </a:prstGeom>
          <a:noFill/>
        </p:spPr>
        <p:txBody>
          <a:bodyPr wrap="square" anchor="t" lIns="25400" rIns="25400" tIns="25400" bIns="25400">
            <a:spAutoFit/>
          </a:bodyPr>
          <a:lstStyle/>
          <a:p>
            <a:pPr algn="l"/>
            <a:r>
              <a:rPr sz="1100" b="1" i="0">
                <a:solidFill>
                  <a:srgbClr val="1F77B4"/>
                </a:solidFill>
                <a:latin typeface="Calibri"/>
              </a:rPr>
              <a:t>TOOLS &amp; EVIDENCE</a:t>
            </a:r>
          </a:p>
        </p:txBody>
      </p:sp>
      <p:graphicFrame>
        <p:nvGraphicFramePr>
          <p:cNvPr id="11" name="Table 10"/>
          <p:cNvGraphicFramePr>
            <a:graphicFrameLocks noGrp="1"/>
          </p:cNvGraphicFramePr>
          <p:nvPr/>
        </p:nvGraphicFramePr>
        <p:xfrm>
          <a:off x="502920" y="3429000"/>
          <a:ext cx="11201400" cy="1591056"/>
        </p:xfrm>
        <a:graphic>
          <a:graphicData uri="http://schemas.openxmlformats.org/drawingml/2006/table">
            <a:tbl>
              <a:tblPr>
                <a:tableStyleId>{5C22544A-7EE6-4342-B048-85BDC9FD1C3A}</a:tableStyleId>
              </a:tblPr>
              <a:tblGrid>
                <a:gridCol w="5486400"/>
                <a:gridCol w="1828800"/>
                <a:gridCol w="3886200"/>
              </a:tblGrid>
              <a:tr h="329184">
                <a:tc>
                  <a:txBody>
                    <a:bodyPr wrap="square"/>
                    <a:lstStyle/>
                    <a:p>
                      <a:pPr algn="l"/>
                      <a:r>
                        <a:rPr sz="1100" b="1">
                          <a:solidFill>
                            <a:srgbClr val="FFFFFF"/>
                          </a:solidFill>
                          <a:latin typeface="Calibri"/>
                        </a:rPr>
                        <a:t>Tool</a:t>
                      </a:r>
                    </a:p>
                  </a:txBody>
                  <a:tcPr anchor="ctr" marL="76200" marR="76200" marT="25400" marB="25400">
                    <a:solidFill>
                      <a:srgbClr val="0F2A4A"/>
                    </a:solidFill>
                  </a:tcPr>
                </a:tc>
                <a:tc>
                  <a:txBody>
                    <a:bodyPr wrap="square"/>
                    <a:lstStyle/>
                    <a:p>
                      <a:pPr algn="ctr"/>
                      <a:r>
                        <a:rPr sz="1100" b="1">
                          <a:solidFill>
                            <a:srgbClr val="FFFFFF"/>
                          </a:solidFill>
                          <a:latin typeface="Calibri"/>
                        </a:rPr>
                        <a:t>Internal-use tier</a:t>
                      </a:r>
                    </a:p>
                  </a:txBody>
                  <a:tcPr anchor="ctr" marL="76200" marR="76200" marT="25400" marB="25400">
                    <a:solidFill>
                      <a:srgbClr val="0F2A4A"/>
                    </a:solidFill>
                  </a:tcPr>
                </a:tc>
                <a:tc>
                  <a:txBody>
                    <a:bodyPr wrap="square"/>
                    <a:lstStyle/>
                    <a:p>
                      <a:pPr algn="l"/>
                      <a:r>
                        <a:rPr sz="1100" b="1">
                          <a:solidFill>
                            <a:srgbClr val="FFFFFF"/>
                          </a:solidFill>
                          <a:latin typeface="Calibri"/>
                        </a:rPr>
                        <a:t>Signal type(s)</a:t>
                      </a:r>
                    </a:p>
                  </a:txBody>
                  <a:tcPr anchor="ctr" marL="76200" marR="76200" marT="25400" marB="25400">
                    <a:solidFill>
                      <a:srgbClr val="0F2A4A"/>
                    </a:solidFill>
                  </a:tcPr>
                </a:tc>
              </a:tr>
              <a:tr h="420624">
                <a:tc>
                  <a:txBody>
                    <a:bodyPr wrap="square"/>
                    <a:lstStyle/>
                    <a:p>
                      <a:pPr algn="l"/>
                      <a:r>
                        <a:rPr sz="1050" b="1">
                          <a:solidFill>
                            <a:srgbClr val="1B2A38"/>
                          </a:solidFill>
                          <a:latin typeface="Calibri"/>
                        </a:rPr>
                        <a:t>DaVinci + GPT-4 (Azure OpenAI IDE)</a:t>
                      </a:r>
                    </a:p>
                  </a:txBody>
                  <a:tcPr anchor="ctr" marL="76200" marR="76200" marT="25400" marB="25400">
                    <a:solidFill>
                      <a:srgbClr val="FFFFFF"/>
                    </a:solidFill>
                  </a:tcPr>
                </a:tc>
                <a:tc>
                  <a:txBody>
                    <a:bodyPr wrap="square"/>
                    <a:lstStyle/>
                    <a:p>
                      <a:pPr algn="ctr"/>
                      <a:r>
                        <a:rPr sz="1050" b="1">
                          <a:solidFill>
                            <a:srgbClr val="FFFFFF"/>
                          </a:solidFill>
                          <a:latin typeface="Calibri"/>
                        </a:rPr>
                        <a:t>T1 · confirmed</a:t>
                      </a:r>
                    </a:p>
                  </a:txBody>
                  <a:tcPr anchor="ctr" marL="76200" marR="76200" marT="25400" marB="25400">
                    <a:solidFill>
                      <a:srgbClr val="2E7D32"/>
                    </a:solidFill>
                  </a:tcPr>
                </a:tc>
                <a:tc>
                  <a:txBody>
                    <a:bodyPr wrap="square"/>
                    <a:lstStyle/>
                    <a:p>
                      <a:pPr algn="l"/>
                      <a:r>
                        <a:rPr sz="1000" b="0">
                          <a:solidFill>
                            <a:srgbClr val="1B2A38"/>
                          </a:solidFill>
                          <a:latin typeface="Calibri"/>
                        </a:rPr>
                        <a:t>Internal use</a:t>
                      </a:r>
                    </a:p>
                  </a:txBody>
                  <a:tcPr anchor="ctr" marL="76200" marR="76200" marT="25400" marB="25400">
                    <a:solidFill>
                      <a:srgbClr val="FFFFFF"/>
                    </a:solidFill>
                  </a:tcPr>
                </a:tc>
              </a:tr>
              <a:tr h="420624">
                <a:tc>
                  <a:txBody>
                    <a:bodyPr wrap="square"/>
                    <a:lstStyle/>
                    <a:p>
                      <a:pPr algn="l"/>
                      <a:r>
                        <a:rPr sz="1050" b="1">
                          <a:solidFill>
                            <a:srgbClr val="1B2A38"/>
                          </a:solidFill>
                          <a:latin typeface="Calibri"/>
                        </a:rPr>
                        <a:t>Domain LLM agents on DGX (AI Factory)</a:t>
                      </a:r>
                    </a:p>
                  </a:txBody>
                  <a:tcPr anchor="ctr" marL="76200" marR="76200" marT="25400" marB="25400">
                    <a:solidFill>
                      <a:srgbClr val="E7EDF3"/>
                    </a:solidFill>
                  </a:tcPr>
                </a:tc>
                <a:tc>
                  <a:txBody>
                    <a:bodyPr wrap="square"/>
                    <a:lstStyle/>
                    <a:p>
                      <a:pPr algn="ctr"/>
                      <a:r>
                        <a:rPr sz="1050" b="1">
                          <a:solidFill>
                            <a:srgbClr val="FFFFFF"/>
                          </a:solidFill>
                          <a:latin typeface="Calibri"/>
                        </a:rPr>
                        <a:t>T1 · confirmed</a:t>
                      </a:r>
                    </a:p>
                  </a:txBody>
                  <a:tcPr anchor="ctr" marL="76200" marR="76200" marT="25400" marB="25400">
                    <a:solidFill>
                      <a:srgbClr val="2E7D32"/>
                    </a:solidFill>
                  </a:tcPr>
                </a:tc>
                <a:tc>
                  <a:txBody>
                    <a:bodyPr wrap="square"/>
                    <a:lstStyle/>
                    <a:p>
                      <a:pPr algn="l"/>
                      <a:r>
                        <a:rPr sz="1000" b="0">
                          <a:solidFill>
                            <a:srgbClr val="1B2A38"/>
                          </a:solidFill>
                          <a:latin typeface="Calibri"/>
                        </a:rPr>
                        <a:t>Internal use</a:t>
                      </a:r>
                    </a:p>
                  </a:txBody>
                  <a:tcPr anchor="ctr" marL="76200" marR="76200" marT="25400" marB="25400">
                    <a:solidFill>
                      <a:srgbClr val="E7EDF3"/>
                    </a:solidFill>
                  </a:tcPr>
                </a:tc>
              </a:tr>
              <a:tr h="420624">
                <a:tc>
                  <a:txBody>
                    <a:bodyPr wrap="square"/>
                    <a:lstStyle/>
                    <a:p>
                      <a:pPr algn="l"/>
                      <a:r>
                        <a:rPr sz="1050" b="1">
                          <a:solidFill>
                            <a:srgbClr val="1B2A38"/>
                          </a:solidFill>
                          <a:latin typeface="Calibri"/>
                        </a:rPr>
                        <a:t>GitHub Copilot (aspirational)</a:t>
                      </a:r>
                    </a:p>
                  </a:txBody>
                  <a:tcPr anchor="ctr" marL="76200" marR="76200" marT="25400" marB="25400">
                    <a:solidFill>
                      <a:srgbClr val="FFFFFF"/>
                    </a:solidFill>
                  </a:tcPr>
                </a:tc>
                <a:tc>
                  <a:txBody>
                    <a:bodyPr wrap="square"/>
                    <a:lstStyle/>
                    <a:p>
                      <a:pPr algn="ctr"/>
                      <a:r>
                        <a:rPr sz="1050" b="1">
                          <a:solidFill>
                            <a:srgbClr val="FFFFFF"/>
                          </a:solidFill>
                          <a:latin typeface="Calibri"/>
                        </a:rPr>
                        <a:t>T3 · weak</a:t>
                      </a:r>
                    </a:p>
                  </a:txBody>
                  <a:tcPr anchor="ctr" marL="76200" marR="76200" marT="25400" marB="25400">
                    <a:solidFill>
                      <a:srgbClr val="E67E00"/>
                    </a:solidFill>
                  </a:tcPr>
                </a:tc>
                <a:tc>
                  <a:txBody>
                    <a:bodyPr wrap="square"/>
                    <a:lstStyle/>
                    <a:p>
                      <a:pPr algn="l"/>
                      <a:r>
                        <a:rPr sz="1000" b="0">
                          <a:solidFill>
                            <a:srgbClr val="1B2A38"/>
                          </a:solidFill>
                          <a:latin typeface="Calibri"/>
                        </a:rPr>
                        <a:t>Internal use</a:t>
                      </a:r>
                    </a:p>
                  </a:txBody>
                  <a:tcPr anchor="ctr" marL="76200" marR="76200" marT="25400" marB="25400">
                    <a:solidFill>
                      <a:srgbClr val="FFFFFF"/>
                    </a:solidFill>
                  </a:tcPr>
                </a:tc>
              </a:tr>
            </a:tbl>
          </a:graphicData>
        </a:graphic>
      </p:graphicFrame>
      <p:sp>
        <p:nvSpPr>
          <p:cNvPr id="12" name="TextBox 11"/>
          <p:cNvSpPr txBox="1"/>
          <p:nvPr/>
        </p:nvSpPr>
        <p:spPr>
          <a:xfrm>
            <a:off x="502920" y="5129784"/>
            <a:ext cx="11155680" cy="457200"/>
          </a:xfrm>
          <a:prstGeom prst="rect">
            <a:avLst/>
          </a:prstGeom>
          <a:noFill/>
        </p:spPr>
        <p:txBody>
          <a:bodyPr wrap="square" anchor="t" lIns="25400" rIns="25400" tIns="25400" bIns="25400">
            <a:spAutoFit/>
          </a:bodyPr>
          <a:lstStyle/>
          <a:p>
            <a:pPr algn="l">
              <a:lnSpc>
                <a:spcPct val="100000"/>
              </a:lnSpc>
            </a:pPr>
            <a:r>
              <a:rPr sz="950" b="0" i="1">
                <a:solidFill>
                  <a:srgbClr val="5A6B7B"/>
                </a:solidFill>
                <a:latin typeface="Calibri"/>
              </a:rPr>
              <a:t>Not confirmed / no evidence: Claude Code, Cursor, Devin, Windsurf, Gemini CLI, Amazon Q Developer, OpenAI Codex/Operator, Antigravity, Cowork internal use; GitHub Copilot actual product deployment (only aspirational reference found)</a:t>
            </a:r>
          </a:p>
        </p:txBody>
      </p:sp>
      <p:sp>
        <p:nvSpPr>
          <p:cNvPr id="13" name="TextBox 12"/>
          <p:cNvSpPr txBox="1"/>
          <p:nvPr/>
        </p:nvSpPr>
        <p:spPr>
          <a:xfrm>
            <a:off x="411480" y="6510528"/>
            <a:ext cx="8229600" cy="274320"/>
          </a:xfrm>
          <a:prstGeom prst="rect">
            <a:avLst/>
          </a:prstGeom>
          <a:noFill/>
        </p:spPr>
        <p:txBody>
          <a:bodyPr wrap="square" anchor="t" lIns="25400" rIns="25400" tIns="25400" bIns="25400">
            <a:spAutoFit/>
          </a:bodyPr>
          <a:lstStyle/>
          <a:p>
            <a:pPr algn="l"/>
            <a:r>
              <a:rPr sz="800" b="0" i="0">
                <a:solidFill>
                  <a:srgbClr val="5A6B7B"/>
                </a:solidFill>
                <a:latin typeface="Calibri"/>
              </a:rPr>
              <a:t>Agentic AI Developer-Tool Adoption  ·  Public-intelligence sweep  ·  2026-05-25</a:t>
            </a:r>
          </a:p>
        </p:txBody>
      </p:sp>
      <p:sp>
        <p:nvSpPr>
          <p:cNvPr id="14" name="TextBox 13"/>
          <p:cNvSpPr txBox="1"/>
          <p:nvPr/>
        </p:nvSpPr>
        <p:spPr>
          <a:xfrm>
            <a:off x="11247120" y="6510528"/>
            <a:ext cx="731520" cy="274320"/>
          </a:xfrm>
          <a:prstGeom prst="rect">
            <a:avLst/>
          </a:prstGeom>
          <a:noFill/>
        </p:spPr>
        <p:txBody>
          <a:bodyPr wrap="square" anchor="t" lIns="25400" rIns="25400" tIns="25400" bIns="25400">
            <a:spAutoFit/>
          </a:bodyPr>
          <a:lstStyle/>
          <a:p>
            <a:pPr algn="r"/>
            <a:r>
              <a:rPr sz="900" b="1" i="0">
                <a:solidFill>
                  <a:srgbClr val="5A6B7B"/>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38100"/>
          </a:xfrm>
          <a:prstGeom prst="rect">
            <a:avLst/>
          </a:prstGeom>
          <a:solidFill>
            <a:srgbClr val="12B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11338560" cy="566928"/>
          </a:xfrm>
          <a:prstGeom prst="rect">
            <a:avLst/>
          </a:prstGeom>
          <a:noFill/>
        </p:spPr>
        <p:txBody>
          <a:bodyPr wrap="square" anchor="ctr" lIns="25400" rIns="25400" tIns="25400" bIns="25400">
            <a:spAutoFit/>
          </a:bodyPr>
          <a:lstStyle/>
          <a:p>
            <a:pPr algn="l"/>
            <a:r>
              <a:rPr sz="2600" b="1" i="0">
                <a:solidFill>
                  <a:srgbClr val="FFFFFF"/>
                </a:solidFill>
                <a:latin typeface="Calibri"/>
              </a:rPr>
              <a:t>Qualcomm  (QCOM)</a:t>
            </a:r>
          </a:p>
        </p:txBody>
      </p:sp>
      <p:sp>
        <p:nvSpPr>
          <p:cNvPr id="5" name="TextBox 4"/>
          <p:cNvSpPr txBox="1"/>
          <p:nvPr/>
        </p:nvSpPr>
        <p:spPr>
          <a:xfrm>
            <a:off x="429768" y="603504"/>
            <a:ext cx="11338560" cy="274320"/>
          </a:xfrm>
          <a:prstGeom prst="rect">
            <a:avLst/>
          </a:prstGeom>
          <a:noFill/>
        </p:spPr>
        <p:txBody>
          <a:bodyPr wrap="square" anchor="t" lIns="25400" rIns="25400" tIns="25400" bIns="25400">
            <a:spAutoFit/>
          </a:bodyPr>
          <a:lstStyle/>
          <a:p>
            <a:pPr algn="l"/>
            <a:r>
              <a:rPr sz="1200" b="0" i="0">
                <a:solidFill>
                  <a:srgbClr val="BFD7EA"/>
                </a:solidFill>
                <a:latin typeface="Calibri"/>
              </a:rPr>
              <a:t>On-device Snapdragon assistant (~1,500 eng); no 3rd-party</a:t>
            </a:r>
          </a:p>
        </p:txBody>
      </p:sp>
      <p:sp>
        <p:nvSpPr>
          <p:cNvPr id="6" name="Rectangle 5"/>
          <p:cNvSpPr/>
          <p:nvPr/>
        </p:nvSpPr>
        <p:spPr>
          <a:xfrm>
            <a:off x="9601200" y="256032"/>
            <a:ext cx="2194560" cy="402336"/>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56032"/>
            <a:ext cx="2194560" cy="402336"/>
          </a:xfrm>
          <a:prstGeom prst="rect">
            <a:avLst/>
          </a:prstGeom>
          <a:noFill/>
        </p:spPr>
        <p:txBody>
          <a:bodyPr wrap="square" anchor="ctr" lIns="25400" rIns="25400" tIns="25400" bIns="25400">
            <a:spAutoFit/>
          </a:bodyPr>
          <a:lstStyle/>
          <a:p>
            <a:pPr algn="ctr"/>
            <a:r>
              <a:rPr sz="1100" b="1" i="0">
                <a:solidFill>
                  <a:srgbClr val="FFFFFF"/>
                </a:solidFill>
                <a:latin typeface="Calibri"/>
              </a:rPr>
              <a:t>Evidence: Medium (T2)</a:t>
            </a:r>
          </a:p>
        </p:txBody>
      </p:sp>
      <p:sp>
        <p:nvSpPr>
          <p:cNvPr id="8" name="TextBox 7"/>
          <p:cNvSpPr txBox="1"/>
          <p:nvPr/>
        </p:nvSpPr>
        <p:spPr>
          <a:xfrm>
            <a:off x="502920" y="1097280"/>
            <a:ext cx="11155680" cy="274320"/>
          </a:xfrm>
          <a:prstGeom prst="rect">
            <a:avLst/>
          </a:prstGeom>
          <a:noFill/>
        </p:spPr>
        <p:txBody>
          <a:bodyPr wrap="square" anchor="t" lIns="25400" rIns="25400" tIns="25400" bIns="25400">
            <a:spAutoFit/>
          </a:bodyPr>
          <a:lstStyle/>
          <a:p>
            <a:pPr algn="l"/>
            <a:r>
              <a:rPr sz="1100" b="1" i="0">
                <a:solidFill>
                  <a:srgbClr val="1F77B4"/>
                </a:solidFill>
                <a:latin typeface="Calibri"/>
              </a:rPr>
              <a:t>OVERALL ASSESSMENT</a:t>
            </a:r>
          </a:p>
        </p:txBody>
      </p:sp>
      <p:sp>
        <p:nvSpPr>
          <p:cNvPr id="9" name="TextBox 8"/>
          <p:cNvSpPr txBox="1"/>
          <p:nvPr/>
        </p:nvSpPr>
        <p:spPr>
          <a:xfrm>
            <a:off x="502920" y="1371600"/>
            <a:ext cx="11155680" cy="1691640"/>
          </a:xfrm>
          <a:prstGeom prst="rect">
            <a:avLst/>
          </a:prstGeom>
          <a:noFill/>
        </p:spPr>
        <p:txBody>
          <a:bodyPr wrap="square" anchor="t" lIns="25400" rIns="25400" tIns="25400" bIns="25400">
            <a:spAutoFit/>
          </a:bodyPr>
          <a:lstStyle/>
          <a:p>
            <a:pPr algn="l">
              <a:lnSpc>
                <a:spcPct val="103000"/>
              </a:lnSpc>
            </a:pPr>
            <a:r>
              <a:rPr sz="1200" b="0" i="0">
                <a:solidFill>
                  <a:srgbClr val="1B2A38"/>
                </a:solidFill>
                <a:latin typeface="Calibri"/>
              </a:rPr>
              <a:t>Qualcomm's clearest internal AI-coding signal is its OWN in-house on-device code assistant (LLaMA 3 8B on Snapdragon NPU, in Visual Studio), reported at 1,500+ engineers / millions of lines via a Qualcomm VP demo, deliberately on-device to protect IP. There is also applied use of fine-tuned LLMs for Verilog/HDL chip-design. No evidence of internal third-party agentic coding agents; CodeMate is a Snapdragon product/ISV integration and Contextual AI is a documentation RAG tool (not coding).</a:t>
            </a:r>
          </a:p>
        </p:txBody>
      </p:sp>
      <p:sp>
        <p:nvSpPr>
          <p:cNvPr id="10" name="TextBox 9"/>
          <p:cNvSpPr txBox="1"/>
          <p:nvPr/>
        </p:nvSpPr>
        <p:spPr>
          <a:xfrm>
            <a:off x="502920" y="3154680"/>
            <a:ext cx="10972800" cy="274320"/>
          </a:xfrm>
          <a:prstGeom prst="rect">
            <a:avLst/>
          </a:prstGeom>
          <a:noFill/>
        </p:spPr>
        <p:txBody>
          <a:bodyPr wrap="square" anchor="t" lIns="25400" rIns="25400" tIns="25400" bIns="25400">
            <a:spAutoFit/>
          </a:bodyPr>
          <a:lstStyle/>
          <a:p>
            <a:pPr algn="l"/>
            <a:r>
              <a:rPr sz="1100" b="1" i="0">
                <a:solidFill>
                  <a:srgbClr val="1F77B4"/>
                </a:solidFill>
                <a:latin typeface="Calibri"/>
              </a:rPr>
              <a:t>TOOLS &amp; EVIDENCE</a:t>
            </a:r>
          </a:p>
        </p:txBody>
      </p:sp>
      <p:graphicFrame>
        <p:nvGraphicFramePr>
          <p:cNvPr id="11" name="Table 10"/>
          <p:cNvGraphicFramePr>
            <a:graphicFrameLocks noGrp="1"/>
          </p:cNvGraphicFramePr>
          <p:nvPr/>
        </p:nvGraphicFramePr>
        <p:xfrm>
          <a:off x="502920" y="3429000"/>
          <a:ext cx="11201400" cy="2011680"/>
        </p:xfrm>
        <a:graphic>
          <a:graphicData uri="http://schemas.openxmlformats.org/drawingml/2006/table">
            <a:tbl>
              <a:tblPr>
                <a:tableStyleId>{5C22544A-7EE6-4342-B048-85BDC9FD1C3A}</a:tableStyleId>
              </a:tblPr>
              <a:tblGrid>
                <a:gridCol w="5486400"/>
                <a:gridCol w="1828800"/>
                <a:gridCol w="3886200"/>
              </a:tblGrid>
              <a:tr h="329184">
                <a:tc>
                  <a:txBody>
                    <a:bodyPr wrap="square"/>
                    <a:lstStyle/>
                    <a:p>
                      <a:pPr algn="l"/>
                      <a:r>
                        <a:rPr sz="1100" b="1">
                          <a:solidFill>
                            <a:srgbClr val="FFFFFF"/>
                          </a:solidFill>
                          <a:latin typeface="Calibri"/>
                        </a:rPr>
                        <a:t>Tool</a:t>
                      </a:r>
                    </a:p>
                  </a:txBody>
                  <a:tcPr anchor="ctr" marL="76200" marR="76200" marT="25400" marB="25400">
                    <a:solidFill>
                      <a:srgbClr val="0F2A4A"/>
                    </a:solidFill>
                  </a:tcPr>
                </a:tc>
                <a:tc>
                  <a:txBody>
                    <a:bodyPr wrap="square"/>
                    <a:lstStyle/>
                    <a:p>
                      <a:pPr algn="ctr"/>
                      <a:r>
                        <a:rPr sz="1100" b="1">
                          <a:solidFill>
                            <a:srgbClr val="FFFFFF"/>
                          </a:solidFill>
                          <a:latin typeface="Calibri"/>
                        </a:rPr>
                        <a:t>Internal-use tier</a:t>
                      </a:r>
                    </a:p>
                  </a:txBody>
                  <a:tcPr anchor="ctr" marL="76200" marR="76200" marT="25400" marB="25400">
                    <a:solidFill>
                      <a:srgbClr val="0F2A4A"/>
                    </a:solidFill>
                  </a:tcPr>
                </a:tc>
                <a:tc>
                  <a:txBody>
                    <a:bodyPr wrap="square"/>
                    <a:lstStyle/>
                    <a:p>
                      <a:pPr algn="l"/>
                      <a:r>
                        <a:rPr sz="1100" b="1">
                          <a:solidFill>
                            <a:srgbClr val="FFFFFF"/>
                          </a:solidFill>
                          <a:latin typeface="Calibri"/>
                        </a:rPr>
                        <a:t>Signal type(s)</a:t>
                      </a:r>
                    </a:p>
                  </a:txBody>
                  <a:tcPr anchor="ctr" marL="76200" marR="76200" marT="25400" marB="25400">
                    <a:solidFill>
                      <a:srgbClr val="0F2A4A"/>
                    </a:solidFill>
                  </a:tcPr>
                </a:tc>
              </a:tr>
              <a:tr h="420624">
                <a:tc>
                  <a:txBody>
                    <a:bodyPr wrap="square"/>
                    <a:lstStyle/>
                    <a:p>
                      <a:pPr algn="l"/>
                      <a:r>
                        <a:rPr sz="1050" b="1">
                          <a:solidFill>
                            <a:srgbClr val="1B2A38"/>
                          </a:solidFill>
                          <a:latin typeface="Calibri"/>
                        </a:rPr>
                        <a:t>In-house on-device assistant (LLaMA-3-8B)</a:t>
                      </a:r>
                    </a:p>
                  </a:txBody>
                  <a:tcPr anchor="ctr" marL="76200" marR="76200" marT="25400" marB="25400">
                    <a:solidFill>
                      <a:srgbClr val="FFFFFF"/>
                    </a:solidFill>
                  </a:tcPr>
                </a:tc>
                <a:tc>
                  <a:txBody>
                    <a:bodyPr wrap="square"/>
                    <a:lstStyle/>
                    <a:p>
                      <a:pPr algn="ctr"/>
                      <a:r>
                        <a:rPr sz="1050" b="1">
                          <a:solidFill>
                            <a:srgbClr val="FFFFFF"/>
                          </a:solidFill>
                          <a:latin typeface="Calibri"/>
                        </a:rPr>
                        <a:t>T2 · strong</a:t>
                      </a:r>
                    </a:p>
                  </a:txBody>
                  <a:tcPr anchor="ctr" marL="76200" marR="76200" marT="25400" marB="25400">
                    <a:solidFill>
                      <a:srgbClr val="1565C0"/>
                    </a:solidFill>
                  </a:tcPr>
                </a:tc>
                <a:tc>
                  <a:txBody>
                    <a:bodyPr wrap="square"/>
                    <a:lstStyle/>
                    <a:p>
                      <a:pPr algn="l"/>
                      <a:r>
                        <a:rPr sz="1000" b="0">
                          <a:solidFill>
                            <a:srgbClr val="1B2A38"/>
                          </a:solidFill>
                          <a:latin typeface="Calibri"/>
                        </a:rPr>
                        <a:t>Internal use · Product</a:t>
                      </a:r>
                    </a:p>
                  </a:txBody>
                  <a:tcPr anchor="ctr" marL="76200" marR="76200" marT="25400" marB="25400">
                    <a:solidFill>
                      <a:srgbClr val="FFFFFF"/>
                    </a:solidFill>
                  </a:tcPr>
                </a:tc>
              </a:tr>
              <a:tr h="420624">
                <a:tc>
                  <a:txBody>
                    <a:bodyPr wrap="square"/>
                    <a:lstStyle/>
                    <a:p>
                      <a:pPr algn="l"/>
                      <a:r>
                        <a:rPr sz="1050" b="1">
                          <a:solidFill>
                            <a:srgbClr val="1B2A38"/>
                          </a:solidFill>
                          <a:latin typeface="Calibri"/>
                        </a:rPr>
                        <a:t>Contextual AI RAG (not coding)</a:t>
                      </a:r>
                    </a:p>
                  </a:txBody>
                  <a:tcPr anchor="ctr" marL="76200" marR="76200" marT="25400" marB="25400">
                    <a:solidFill>
                      <a:srgbClr val="E7EDF3"/>
                    </a:solidFill>
                  </a:tcPr>
                </a:tc>
                <a:tc>
                  <a:txBody>
                    <a:bodyPr wrap="square"/>
                    <a:lstStyle/>
                    <a:p>
                      <a:pPr algn="ctr"/>
                      <a:r>
                        <a:rPr sz="1050" b="1">
                          <a:solidFill>
                            <a:srgbClr val="FFFFFF"/>
                          </a:solidFill>
                          <a:latin typeface="Calibri"/>
                        </a:rPr>
                        <a:t>T2 · strong</a:t>
                      </a:r>
                    </a:p>
                  </a:txBody>
                  <a:tcPr anchor="ctr" marL="76200" marR="76200" marT="25400" marB="25400">
                    <a:solidFill>
                      <a:srgbClr val="1565C0"/>
                    </a:solidFill>
                  </a:tcPr>
                </a:tc>
                <a:tc>
                  <a:txBody>
                    <a:bodyPr wrap="square"/>
                    <a:lstStyle/>
                    <a:p>
                      <a:pPr algn="l"/>
                      <a:r>
                        <a:rPr sz="1000" b="0">
                          <a:solidFill>
                            <a:srgbClr val="1B2A38"/>
                          </a:solidFill>
                          <a:latin typeface="Calibri"/>
                        </a:rPr>
                        <a:t>Internal use</a:t>
                      </a:r>
                    </a:p>
                  </a:txBody>
                  <a:tcPr anchor="ctr" marL="76200" marR="76200" marT="25400" marB="25400">
                    <a:solidFill>
                      <a:srgbClr val="E7EDF3"/>
                    </a:solidFill>
                  </a:tcPr>
                </a:tc>
              </a:tr>
              <a:tr h="420624">
                <a:tc>
                  <a:txBody>
                    <a:bodyPr wrap="square"/>
                    <a:lstStyle/>
                    <a:p>
                      <a:pPr algn="l"/>
                      <a:r>
                        <a:rPr sz="1050" b="1">
                          <a:solidFill>
                            <a:srgbClr val="1B2A38"/>
                          </a:solidFill>
                          <a:latin typeface="Calibri"/>
                        </a:rPr>
                        <a:t>Verilog/HDL code-gen LLMs</a:t>
                      </a:r>
                    </a:p>
                  </a:txBody>
                  <a:tcPr anchor="ctr" marL="76200" marR="76200" marT="25400" marB="25400">
                    <a:solidFill>
                      <a:srgbClr val="FFFFFF"/>
                    </a:solidFill>
                  </a:tcPr>
                </a:tc>
                <a:tc>
                  <a:txBody>
                    <a:bodyPr wrap="square"/>
                    <a:lstStyle/>
                    <a:p>
                      <a:pPr algn="ctr"/>
                      <a:r>
                        <a:rPr sz="1050" b="1">
                          <a:solidFill>
                            <a:srgbClr val="FFFFFF"/>
                          </a:solidFill>
                          <a:latin typeface="Calibri"/>
                        </a:rPr>
                        <a:t>T3 · weak</a:t>
                      </a:r>
                    </a:p>
                  </a:txBody>
                  <a:tcPr anchor="ctr" marL="76200" marR="76200" marT="25400" marB="25400">
                    <a:solidFill>
                      <a:srgbClr val="E67E00"/>
                    </a:solidFill>
                  </a:tcPr>
                </a:tc>
                <a:tc>
                  <a:txBody>
                    <a:bodyPr wrap="square"/>
                    <a:lstStyle/>
                    <a:p>
                      <a:pPr algn="l"/>
                      <a:r>
                        <a:rPr sz="1000" b="0">
                          <a:solidFill>
                            <a:srgbClr val="1B2A38"/>
                          </a:solidFill>
                          <a:latin typeface="Calibri"/>
                        </a:rPr>
                        <a:t>Internal use</a:t>
                      </a:r>
                    </a:p>
                  </a:txBody>
                  <a:tcPr anchor="ctr" marL="76200" marR="76200" marT="25400" marB="25400">
                    <a:solidFill>
                      <a:srgbClr val="FFFFFF"/>
                    </a:solidFill>
                  </a:tcPr>
                </a:tc>
              </a:tr>
              <a:tr h="420624">
                <a:tc>
                  <a:txBody>
                    <a:bodyPr wrap="square"/>
                    <a:lstStyle/>
                    <a:p>
                      <a:pPr algn="l"/>
                      <a:r>
                        <a:rPr sz="1050" b="1">
                          <a:solidFill>
                            <a:srgbClr val="1B2A38"/>
                          </a:solidFill>
                          <a:latin typeface="Calibri"/>
                        </a:rPr>
                        <a:t>CodeMate (on Snapdragon X)</a:t>
                      </a:r>
                    </a:p>
                  </a:txBody>
                  <a:tcPr anchor="ctr" marL="76200" marR="76200" marT="25400" marB="25400">
                    <a:solidFill>
                      <a:srgbClr val="E7EDF3"/>
                    </a:solidFill>
                  </a:tcPr>
                </a:tc>
                <a:tc>
                  <a:txBody>
                    <a:bodyPr wrap="square"/>
                    <a:lstStyle/>
                    <a:p>
                      <a:pPr algn="ctr"/>
                      <a:r>
                        <a:rPr sz="1050" b="1">
                          <a:solidFill>
                            <a:srgbClr val="FFFFFF"/>
                          </a:solidFill>
                          <a:latin typeface="Calibri"/>
                        </a:rPr>
                        <a:t>T4 · none</a:t>
                      </a:r>
                    </a:p>
                  </a:txBody>
                  <a:tcPr anchor="ctr" marL="76200" marR="76200" marT="25400" marB="25400">
                    <a:solidFill>
                      <a:srgbClr val="9E9E9E"/>
                    </a:solidFill>
                  </a:tcPr>
                </a:tc>
                <a:tc>
                  <a:txBody>
                    <a:bodyPr wrap="square"/>
                    <a:lstStyle/>
                    <a:p>
                      <a:pPr algn="l"/>
                      <a:r>
                        <a:rPr sz="1000" b="0">
                          <a:solidFill>
                            <a:srgbClr val="1B2A38"/>
                          </a:solidFill>
                          <a:latin typeface="Calibri"/>
                        </a:rPr>
                        <a:t>Product · Builds it</a:t>
                      </a:r>
                    </a:p>
                  </a:txBody>
                  <a:tcPr anchor="ctr" marL="76200" marR="76200" marT="25400" marB="25400">
                    <a:solidFill>
                      <a:srgbClr val="E7EDF3"/>
                    </a:solidFill>
                  </a:tcPr>
                </a:tc>
              </a:tr>
            </a:tbl>
          </a:graphicData>
        </a:graphic>
      </p:graphicFrame>
      <p:sp>
        <p:nvSpPr>
          <p:cNvPr id="12" name="TextBox 11"/>
          <p:cNvSpPr txBox="1"/>
          <p:nvPr/>
        </p:nvSpPr>
        <p:spPr>
          <a:xfrm>
            <a:off x="502920" y="5550408"/>
            <a:ext cx="11155680" cy="457200"/>
          </a:xfrm>
          <a:prstGeom prst="rect">
            <a:avLst/>
          </a:prstGeom>
          <a:noFill/>
        </p:spPr>
        <p:txBody>
          <a:bodyPr wrap="square" anchor="t" lIns="25400" rIns="25400" tIns="25400" bIns="25400">
            <a:spAutoFit/>
          </a:bodyPr>
          <a:lstStyle/>
          <a:p>
            <a:pPr algn="l">
              <a:lnSpc>
                <a:spcPct val="100000"/>
              </a:lnSpc>
            </a:pPr>
            <a:r>
              <a:rPr sz="950" b="0" i="1">
                <a:solidFill>
                  <a:srgbClr val="5A6B7B"/>
                </a:solidFill>
                <a:latin typeface="Calibri"/>
              </a:rPr>
              <a:t>Not confirmed / no evidence: Claude Code, GitHub Copilot (incl. agent mode/Workspace), OpenAI Codex/Operator, Amazon Q Developer, Gemini CLI, Antigravity, Cursor, Devin, Windsurf, Cowork internal use; Snapdragon AI Hub / AI Inference Suite treated as product noise, not internal dev use</a:t>
            </a:r>
          </a:p>
        </p:txBody>
      </p:sp>
      <p:sp>
        <p:nvSpPr>
          <p:cNvPr id="13" name="TextBox 12"/>
          <p:cNvSpPr txBox="1"/>
          <p:nvPr/>
        </p:nvSpPr>
        <p:spPr>
          <a:xfrm>
            <a:off x="411480" y="6510528"/>
            <a:ext cx="8229600" cy="274320"/>
          </a:xfrm>
          <a:prstGeom prst="rect">
            <a:avLst/>
          </a:prstGeom>
          <a:noFill/>
        </p:spPr>
        <p:txBody>
          <a:bodyPr wrap="square" anchor="t" lIns="25400" rIns="25400" tIns="25400" bIns="25400">
            <a:spAutoFit/>
          </a:bodyPr>
          <a:lstStyle/>
          <a:p>
            <a:pPr algn="l"/>
            <a:r>
              <a:rPr sz="800" b="0" i="0">
                <a:solidFill>
                  <a:srgbClr val="5A6B7B"/>
                </a:solidFill>
                <a:latin typeface="Calibri"/>
              </a:rPr>
              <a:t>Agentic AI Developer-Tool Adoption  ·  Public-intelligence sweep  ·  2026-05-25</a:t>
            </a:r>
          </a:p>
        </p:txBody>
      </p:sp>
      <p:sp>
        <p:nvSpPr>
          <p:cNvPr id="14" name="TextBox 13"/>
          <p:cNvSpPr txBox="1"/>
          <p:nvPr/>
        </p:nvSpPr>
        <p:spPr>
          <a:xfrm>
            <a:off x="11247120" y="6510528"/>
            <a:ext cx="731520" cy="274320"/>
          </a:xfrm>
          <a:prstGeom prst="rect">
            <a:avLst/>
          </a:prstGeom>
          <a:noFill/>
        </p:spPr>
        <p:txBody>
          <a:bodyPr wrap="square" anchor="t" lIns="25400" rIns="25400" tIns="25400" bIns="25400">
            <a:spAutoFit/>
          </a:bodyPr>
          <a:lstStyle/>
          <a:p>
            <a:pPr algn="r"/>
            <a:r>
              <a:rPr sz="900" b="1" i="0">
                <a:solidFill>
                  <a:srgbClr val="5A6B7B"/>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38100"/>
          </a:xfrm>
          <a:prstGeom prst="rect">
            <a:avLst/>
          </a:prstGeom>
          <a:solidFill>
            <a:srgbClr val="12B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11338560" cy="566928"/>
          </a:xfrm>
          <a:prstGeom prst="rect">
            <a:avLst/>
          </a:prstGeom>
          <a:noFill/>
        </p:spPr>
        <p:txBody>
          <a:bodyPr wrap="square" anchor="ctr" lIns="25400" rIns="25400" tIns="25400" bIns="25400">
            <a:spAutoFit/>
          </a:bodyPr>
          <a:lstStyle/>
          <a:p>
            <a:pPr algn="l"/>
            <a:r>
              <a:rPr sz="2600" b="1" i="0">
                <a:solidFill>
                  <a:srgbClr val="FFFFFF"/>
                </a:solidFill>
                <a:latin typeface="Calibri"/>
              </a:rPr>
              <a:t>Alphabet / Google  (GOOGL)</a:t>
            </a:r>
          </a:p>
        </p:txBody>
      </p:sp>
      <p:sp>
        <p:nvSpPr>
          <p:cNvPr id="5" name="TextBox 4"/>
          <p:cNvSpPr txBox="1"/>
          <p:nvPr/>
        </p:nvSpPr>
        <p:spPr>
          <a:xfrm>
            <a:off x="429768" y="603504"/>
            <a:ext cx="11338560" cy="274320"/>
          </a:xfrm>
          <a:prstGeom prst="rect">
            <a:avLst/>
          </a:prstGeom>
          <a:noFill/>
        </p:spPr>
        <p:txBody>
          <a:bodyPr wrap="square" anchor="t" lIns="25400" rIns="25400" tIns="25400" bIns="25400">
            <a:spAutoFit/>
          </a:bodyPr>
          <a:lstStyle/>
          <a:p>
            <a:pPr algn="l"/>
            <a:r>
              <a:rPr sz="1200" b="0" i="0">
                <a:solidFill>
                  <a:srgbClr val="BFD7EA"/>
                </a:solidFill>
                <a:latin typeface="Calibri"/>
              </a:rPr>
              <a:t>Builds &amp; dogfoods own stack; restricts 3rd-party agents</a:t>
            </a:r>
          </a:p>
        </p:txBody>
      </p:sp>
      <p:sp>
        <p:nvSpPr>
          <p:cNvPr id="6" name="Rectangle 5"/>
          <p:cNvSpPr/>
          <p:nvPr/>
        </p:nvSpPr>
        <p:spPr>
          <a:xfrm>
            <a:off x="9601200" y="256032"/>
            <a:ext cx="2194560" cy="40233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56032"/>
            <a:ext cx="2194560" cy="402336"/>
          </a:xfrm>
          <a:prstGeom prst="rect">
            <a:avLst/>
          </a:prstGeom>
          <a:noFill/>
        </p:spPr>
        <p:txBody>
          <a:bodyPr wrap="square" anchor="ctr" lIns="25400" rIns="25400" tIns="25400" bIns="25400">
            <a:spAutoFit/>
          </a:bodyPr>
          <a:lstStyle/>
          <a:p>
            <a:pPr algn="ctr"/>
            <a:r>
              <a:rPr sz="1100" b="1" i="0">
                <a:solidFill>
                  <a:srgbClr val="FFFFFF"/>
                </a:solidFill>
                <a:latin typeface="Calibri"/>
              </a:rPr>
              <a:t>Evidence: High (T1)</a:t>
            </a:r>
          </a:p>
        </p:txBody>
      </p:sp>
      <p:sp>
        <p:nvSpPr>
          <p:cNvPr id="8" name="TextBox 7"/>
          <p:cNvSpPr txBox="1"/>
          <p:nvPr/>
        </p:nvSpPr>
        <p:spPr>
          <a:xfrm>
            <a:off x="502920" y="1097280"/>
            <a:ext cx="11155680" cy="274320"/>
          </a:xfrm>
          <a:prstGeom prst="rect">
            <a:avLst/>
          </a:prstGeom>
          <a:noFill/>
        </p:spPr>
        <p:txBody>
          <a:bodyPr wrap="square" anchor="t" lIns="25400" rIns="25400" tIns="25400" bIns="25400">
            <a:spAutoFit/>
          </a:bodyPr>
          <a:lstStyle/>
          <a:p>
            <a:pPr algn="l"/>
            <a:r>
              <a:rPr sz="1100" b="1" i="0">
                <a:solidFill>
                  <a:srgbClr val="1F77B4"/>
                </a:solidFill>
                <a:latin typeface="Calibri"/>
              </a:rPr>
              <a:t>OVERALL ASSESSMENT</a:t>
            </a:r>
          </a:p>
        </p:txBody>
      </p:sp>
      <p:sp>
        <p:nvSpPr>
          <p:cNvPr id="9" name="TextBox 8"/>
          <p:cNvSpPr txBox="1"/>
          <p:nvPr/>
        </p:nvSpPr>
        <p:spPr>
          <a:xfrm>
            <a:off x="502920" y="1371600"/>
            <a:ext cx="11155680" cy="1691640"/>
          </a:xfrm>
          <a:prstGeom prst="rect">
            <a:avLst/>
          </a:prstGeom>
          <a:noFill/>
        </p:spPr>
        <p:txBody>
          <a:bodyPr wrap="square" anchor="t" lIns="25400" rIns="25400" tIns="25400" bIns="25400">
            <a:spAutoFit/>
          </a:bodyPr>
          <a:lstStyle/>
          <a:p>
            <a:pPr algn="l">
              <a:lnSpc>
                <a:spcPct val="103000"/>
              </a:lnSpc>
            </a:pPr>
            <a:r>
              <a:rPr sz="1200" b="0" i="0">
                <a:solidFill>
                  <a:srgbClr val="1B2A38"/>
                </a:solidFill>
                <a:latin typeface="Calibri"/>
              </a:rPr>
              <a:t>Google is the dominant VENDOR_MAKER of agentic/AI coding tools (Gemini CLI, Antigravity, Jules, Gemini Code Assist) AND a heavy internal DOGFOODER of its own Gemini-powered stack (monorepo AI codegen behind Pichai's &gt;25% stat, Cider/Critique, Goose/Gemini-for-Google, AlphaEvolve). Reporting indicates Google engineers are restricted to internal tools and discouraged from third-party agentic tools, so no third-party internal dogfooding was evidenced.</a:t>
            </a:r>
          </a:p>
        </p:txBody>
      </p:sp>
      <p:sp>
        <p:nvSpPr>
          <p:cNvPr id="10" name="TextBox 9"/>
          <p:cNvSpPr txBox="1"/>
          <p:nvPr/>
        </p:nvSpPr>
        <p:spPr>
          <a:xfrm>
            <a:off x="502920" y="3154680"/>
            <a:ext cx="10972800" cy="274320"/>
          </a:xfrm>
          <a:prstGeom prst="rect">
            <a:avLst/>
          </a:prstGeom>
          <a:noFill/>
        </p:spPr>
        <p:txBody>
          <a:bodyPr wrap="square" anchor="t" lIns="25400" rIns="25400" tIns="25400" bIns="25400">
            <a:spAutoFit/>
          </a:bodyPr>
          <a:lstStyle/>
          <a:p>
            <a:pPr algn="l"/>
            <a:r>
              <a:rPr sz="1100" b="1" i="0">
                <a:solidFill>
                  <a:srgbClr val="1F77B4"/>
                </a:solidFill>
                <a:latin typeface="Calibri"/>
              </a:rPr>
              <a:t>TOOLS &amp; EVIDENCE</a:t>
            </a:r>
          </a:p>
        </p:txBody>
      </p:sp>
      <p:graphicFrame>
        <p:nvGraphicFramePr>
          <p:cNvPr id="11" name="Table 10"/>
          <p:cNvGraphicFramePr>
            <a:graphicFrameLocks noGrp="1"/>
          </p:cNvGraphicFramePr>
          <p:nvPr/>
        </p:nvGraphicFramePr>
        <p:xfrm>
          <a:off x="502920" y="3429000"/>
          <a:ext cx="11201400" cy="2432304"/>
        </p:xfrm>
        <a:graphic>
          <a:graphicData uri="http://schemas.openxmlformats.org/drawingml/2006/table">
            <a:tbl>
              <a:tblPr>
                <a:tableStyleId>{5C22544A-7EE6-4342-B048-85BDC9FD1C3A}</a:tableStyleId>
              </a:tblPr>
              <a:tblGrid>
                <a:gridCol w="5486400"/>
                <a:gridCol w="1828800"/>
                <a:gridCol w="3886200"/>
              </a:tblGrid>
              <a:tr h="329184">
                <a:tc>
                  <a:txBody>
                    <a:bodyPr wrap="square"/>
                    <a:lstStyle/>
                    <a:p>
                      <a:pPr algn="l"/>
                      <a:r>
                        <a:rPr sz="1100" b="1">
                          <a:solidFill>
                            <a:srgbClr val="FFFFFF"/>
                          </a:solidFill>
                          <a:latin typeface="Calibri"/>
                        </a:rPr>
                        <a:t>Tool</a:t>
                      </a:r>
                    </a:p>
                  </a:txBody>
                  <a:tcPr anchor="ctr" marL="76200" marR="76200" marT="25400" marB="25400">
                    <a:solidFill>
                      <a:srgbClr val="0F2A4A"/>
                    </a:solidFill>
                  </a:tcPr>
                </a:tc>
                <a:tc>
                  <a:txBody>
                    <a:bodyPr wrap="square"/>
                    <a:lstStyle/>
                    <a:p>
                      <a:pPr algn="ctr"/>
                      <a:r>
                        <a:rPr sz="1100" b="1">
                          <a:solidFill>
                            <a:srgbClr val="FFFFFF"/>
                          </a:solidFill>
                          <a:latin typeface="Calibri"/>
                        </a:rPr>
                        <a:t>Internal-use tier</a:t>
                      </a:r>
                    </a:p>
                  </a:txBody>
                  <a:tcPr anchor="ctr" marL="76200" marR="76200" marT="25400" marB="25400">
                    <a:solidFill>
                      <a:srgbClr val="0F2A4A"/>
                    </a:solidFill>
                  </a:tcPr>
                </a:tc>
                <a:tc>
                  <a:txBody>
                    <a:bodyPr wrap="square"/>
                    <a:lstStyle/>
                    <a:p>
                      <a:pPr algn="l"/>
                      <a:r>
                        <a:rPr sz="1100" b="1">
                          <a:solidFill>
                            <a:srgbClr val="FFFFFF"/>
                          </a:solidFill>
                          <a:latin typeface="Calibri"/>
                        </a:rPr>
                        <a:t>Signal type(s)</a:t>
                      </a:r>
                    </a:p>
                  </a:txBody>
                  <a:tcPr anchor="ctr" marL="76200" marR="76200" marT="25400" marB="25400">
                    <a:solidFill>
                      <a:srgbClr val="0F2A4A"/>
                    </a:solidFill>
                  </a:tcPr>
                </a:tc>
              </a:tr>
              <a:tr h="420624">
                <a:tc>
                  <a:txBody>
                    <a:bodyPr wrap="square"/>
                    <a:lstStyle/>
                    <a:p>
                      <a:pPr algn="l"/>
                      <a:r>
                        <a:rPr sz="1050" b="1">
                          <a:solidFill>
                            <a:srgbClr val="1B2A38"/>
                          </a:solidFill>
                          <a:latin typeface="Calibri"/>
                        </a:rPr>
                        <a:t>Internal Gemini code-gen (monorepo)</a:t>
                      </a:r>
                    </a:p>
                  </a:txBody>
                  <a:tcPr anchor="ctr" marL="76200" marR="76200" marT="25400" marB="25400">
                    <a:solidFill>
                      <a:srgbClr val="FFFFFF"/>
                    </a:solidFill>
                  </a:tcPr>
                </a:tc>
                <a:tc>
                  <a:txBody>
                    <a:bodyPr wrap="square"/>
                    <a:lstStyle/>
                    <a:p>
                      <a:pPr algn="ctr"/>
                      <a:r>
                        <a:rPr sz="1050" b="1">
                          <a:solidFill>
                            <a:srgbClr val="FFFFFF"/>
                          </a:solidFill>
                          <a:latin typeface="Calibri"/>
                        </a:rPr>
                        <a:t>T1 · confirmed</a:t>
                      </a:r>
                    </a:p>
                  </a:txBody>
                  <a:tcPr anchor="ctr" marL="76200" marR="76200" marT="25400" marB="25400">
                    <a:solidFill>
                      <a:srgbClr val="2E7D32"/>
                    </a:solidFill>
                  </a:tcPr>
                </a:tc>
                <a:tc>
                  <a:txBody>
                    <a:bodyPr wrap="square"/>
                    <a:lstStyle/>
                    <a:p>
                      <a:pPr algn="l"/>
                      <a:r>
                        <a:rPr sz="1000" b="0">
                          <a:solidFill>
                            <a:srgbClr val="1B2A38"/>
                          </a:solidFill>
                          <a:latin typeface="Calibri"/>
                        </a:rPr>
                        <a:t>Internal use · Builds it</a:t>
                      </a:r>
                    </a:p>
                  </a:txBody>
                  <a:tcPr anchor="ctr" marL="76200" marR="76200" marT="25400" marB="25400">
                    <a:solidFill>
                      <a:srgbClr val="FFFFFF"/>
                    </a:solidFill>
                  </a:tcPr>
                </a:tc>
              </a:tr>
              <a:tr h="420624">
                <a:tc>
                  <a:txBody>
                    <a:bodyPr wrap="square"/>
                    <a:lstStyle/>
                    <a:p>
                      <a:pPr algn="l"/>
                      <a:r>
                        <a:rPr sz="1050" b="1">
                          <a:solidFill>
                            <a:srgbClr val="1B2A38"/>
                          </a:solidFill>
                          <a:latin typeface="Calibri"/>
                        </a:rPr>
                        <a:t>AlphaEvolve (DeepMind)</a:t>
                      </a:r>
                    </a:p>
                  </a:txBody>
                  <a:tcPr anchor="ctr" marL="76200" marR="76200" marT="25400" marB="25400">
                    <a:solidFill>
                      <a:srgbClr val="E7EDF3"/>
                    </a:solidFill>
                  </a:tcPr>
                </a:tc>
                <a:tc>
                  <a:txBody>
                    <a:bodyPr wrap="square"/>
                    <a:lstStyle/>
                    <a:p>
                      <a:pPr algn="ctr"/>
                      <a:r>
                        <a:rPr sz="1050" b="1">
                          <a:solidFill>
                            <a:srgbClr val="FFFFFF"/>
                          </a:solidFill>
                          <a:latin typeface="Calibri"/>
                        </a:rPr>
                        <a:t>T1 · confirmed</a:t>
                      </a:r>
                    </a:p>
                  </a:txBody>
                  <a:tcPr anchor="ctr" marL="76200" marR="76200" marT="25400" marB="25400">
                    <a:solidFill>
                      <a:srgbClr val="2E7D32"/>
                    </a:solidFill>
                  </a:tcPr>
                </a:tc>
                <a:tc>
                  <a:txBody>
                    <a:bodyPr wrap="square"/>
                    <a:lstStyle/>
                    <a:p>
                      <a:pPr algn="l"/>
                      <a:r>
                        <a:rPr sz="1000" b="0">
                          <a:solidFill>
                            <a:srgbClr val="1B2A38"/>
                          </a:solidFill>
                          <a:latin typeface="Calibri"/>
                        </a:rPr>
                        <a:t>Internal use · Builds it</a:t>
                      </a:r>
                    </a:p>
                  </a:txBody>
                  <a:tcPr anchor="ctr" marL="76200" marR="76200" marT="25400" marB="25400">
                    <a:solidFill>
                      <a:srgbClr val="E7EDF3"/>
                    </a:solidFill>
                  </a:tcPr>
                </a:tc>
              </a:tr>
              <a:tr h="420624">
                <a:tc>
                  <a:txBody>
                    <a:bodyPr wrap="square"/>
                    <a:lstStyle/>
                    <a:p>
                      <a:pPr algn="l"/>
                      <a:r>
                        <a:rPr sz="1050" b="1">
                          <a:solidFill>
                            <a:srgbClr val="1B2A38"/>
                          </a:solidFill>
                          <a:latin typeface="Calibri"/>
                        </a:rPr>
                        <a:t>Cider IDE + Critique review</a:t>
                      </a:r>
                    </a:p>
                  </a:txBody>
                  <a:tcPr anchor="ctr" marL="76200" marR="76200" marT="25400" marB="25400">
                    <a:solidFill>
                      <a:srgbClr val="FFFFFF"/>
                    </a:solidFill>
                  </a:tcPr>
                </a:tc>
                <a:tc>
                  <a:txBody>
                    <a:bodyPr wrap="square"/>
                    <a:lstStyle/>
                    <a:p>
                      <a:pPr algn="ctr"/>
                      <a:r>
                        <a:rPr sz="1050" b="1">
                          <a:solidFill>
                            <a:srgbClr val="FFFFFF"/>
                          </a:solidFill>
                          <a:latin typeface="Calibri"/>
                        </a:rPr>
                        <a:t>T2 · strong</a:t>
                      </a:r>
                    </a:p>
                  </a:txBody>
                  <a:tcPr anchor="ctr" marL="76200" marR="76200" marT="25400" marB="25400">
                    <a:solidFill>
                      <a:srgbClr val="1565C0"/>
                    </a:solidFill>
                  </a:tcPr>
                </a:tc>
                <a:tc>
                  <a:txBody>
                    <a:bodyPr wrap="square"/>
                    <a:lstStyle/>
                    <a:p>
                      <a:pPr algn="l"/>
                      <a:r>
                        <a:rPr sz="1000" b="0">
                          <a:solidFill>
                            <a:srgbClr val="1B2A38"/>
                          </a:solidFill>
                          <a:latin typeface="Calibri"/>
                        </a:rPr>
                        <a:t>Internal use · Builds it</a:t>
                      </a:r>
                    </a:p>
                  </a:txBody>
                  <a:tcPr anchor="ctr" marL="76200" marR="76200" marT="25400" marB="25400">
                    <a:solidFill>
                      <a:srgbClr val="FFFFFF"/>
                    </a:solidFill>
                  </a:tcPr>
                </a:tc>
              </a:tr>
              <a:tr h="420624">
                <a:tc>
                  <a:txBody>
                    <a:bodyPr wrap="square"/>
                    <a:lstStyle/>
                    <a:p>
                      <a:pPr algn="l"/>
                      <a:r>
                        <a:rPr sz="1050" b="1">
                          <a:solidFill>
                            <a:srgbClr val="1B2A38"/>
                          </a:solidFill>
                          <a:latin typeface="Calibri"/>
                        </a:rPr>
                        <a:t>Goose / Gemini for Google</a:t>
                      </a:r>
                    </a:p>
                  </a:txBody>
                  <a:tcPr anchor="ctr" marL="76200" marR="76200" marT="25400" marB="25400">
                    <a:solidFill>
                      <a:srgbClr val="E7EDF3"/>
                    </a:solidFill>
                  </a:tcPr>
                </a:tc>
                <a:tc>
                  <a:txBody>
                    <a:bodyPr wrap="square"/>
                    <a:lstStyle/>
                    <a:p>
                      <a:pPr algn="ctr"/>
                      <a:r>
                        <a:rPr sz="1050" b="1">
                          <a:solidFill>
                            <a:srgbClr val="FFFFFF"/>
                          </a:solidFill>
                          <a:latin typeface="Calibri"/>
                        </a:rPr>
                        <a:t>T2 · strong</a:t>
                      </a:r>
                    </a:p>
                  </a:txBody>
                  <a:tcPr anchor="ctr" marL="76200" marR="76200" marT="25400" marB="25400">
                    <a:solidFill>
                      <a:srgbClr val="1565C0"/>
                    </a:solidFill>
                  </a:tcPr>
                </a:tc>
                <a:tc>
                  <a:txBody>
                    <a:bodyPr wrap="square"/>
                    <a:lstStyle/>
                    <a:p>
                      <a:pPr algn="l"/>
                      <a:r>
                        <a:rPr sz="1000" b="0">
                          <a:solidFill>
                            <a:srgbClr val="1B2A38"/>
                          </a:solidFill>
                          <a:latin typeface="Calibri"/>
                        </a:rPr>
                        <a:t>Internal use · Builds it</a:t>
                      </a:r>
                    </a:p>
                  </a:txBody>
                  <a:tcPr anchor="ctr" marL="76200" marR="76200" marT="25400" marB="25400">
                    <a:solidFill>
                      <a:srgbClr val="E7EDF3"/>
                    </a:solidFill>
                  </a:tcPr>
                </a:tc>
              </a:tr>
              <a:tr h="420624">
                <a:tc>
                  <a:txBody>
                    <a:bodyPr wrap="square"/>
                    <a:lstStyle/>
                    <a:p>
                      <a:pPr algn="l"/>
                      <a:r>
                        <a:rPr sz="1050" b="1">
                          <a:solidFill>
                            <a:srgbClr val="1B2A38"/>
                          </a:solidFill>
                          <a:latin typeface="Calibri"/>
                        </a:rPr>
                        <a:t>Gemini CLI</a:t>
                      </a:r>
                    </a:p>
                  </a:txBody>
                  <a:tcPr anchor="ctr" marL="76200" marR="76200" marT="25400" marB="25400">
                    <a:solidFill>
                      <a:srgbClr val="FFFFFF"/>
                    </a:solidFill>
                  </a:tcPr>
                </a:tc>
                <a:tc>
                  <a:txBody>
                    <a:bodyPr wrap="square"/>
                    <a:lstStyle/>
                    <a:p>
                      <a:pPr algn="ctr"/>
                      <a:r>
                        <a:rPr sz="1050" b="1">
                          <a:solidFill>
                            <a:srgbClr val="FFFFFF"/>
                          </a:solidFill>
                          <a:latin typeface="Calibri"/>
                        </a:rPr>
                        <a:t>T4 · none</a:t>
                      </a:r>
                    </a:p>
                  </a:txBody>
                  <a:tcPr anchor="ctr" marL="76200" marR="76200" marT="25400" marB="25400">
                    <a:solidFill>
                      <a:srgbClr val="9E9E9E"/>
                    </a:solidFill>
                  </a:tcPr>
                </a:tc>
                <a:tc>
                  <a:txBody>
                    <a:bodyPr wrap="square"/>
                    <a:lstStyle/>
                    <a:p>
                      <a:pPr algn="l"/>
                      <a:r>
                        <a:rPr sz="1000" b="0">
                          <a:solidFill>
                            <a:srgbClr val="1B2A38"/>
                          </a:solidFill>
                          <a:latin typeface="Calibri"/>
                        </a:rPr>
                        <a:t>Builds it</a:t>
                      </a:r>
                    </a:p>
                  </a:txBody>
                  <a:tcPr anchor="ctr" marL="76200" marR="76200" marT="25400" marB="25400">
                    <a:solidFill>
                      <a:srgbClr val="FFFFFF"/>
                    </a:solidFill>
                  </a:tcPr>
                </a:tc>
              </a:tr>
            </a:tbl>
          </a:graphicData>
        </a:graphic>
      </p:graphicFrame>
      <p:sp>
        <p:nvSpPr>
          <p:cNvPr id="12" name="TextBox 11"/>
          <p:cNvSpPr txBox="1"/>
          <p:nvPr/>
        </p:nvSpPr>
        <p:spPr>
          <a:xfrm>
            <a:off x="502920" y="5971032"/>
            <a:ext cx="11155680" cy="457200"/>
          </a:xfrm>
          <a:prstGeom prst="rect">
            <a:avLst/>
          </a:prstGeom>
          <a:noFill/>
        </p:spPr>
        <p:txBody>
          <a:bodyPr wrap="square" anchor="t" lIns="25400" rIns="25400" tIns="25400" bIns="25400">
            <a:spAutoFit/>
          </a:bodyPr>
          <a:lstStyle/>
          <a:p>
            <a:pPr algn="l">
              <a:lnSpc>
                <a:spcPct val="100000"/>
              </a:lnSpc>
            </a:pPr>
            <a:r>
              <a:rPr sz="950" b="0" i="1">
                <a:solidFill>
                  <a:srgbClr val="5A6B7B"/>
                </a:solidFill>
                <a:latin typeface="Calibri"/>
              </a:rPr>
              <a:t>Not confirmed / no evidence: Internal Google engineer use of third-party agentic tools (GitHub Copilot, Cursor, Claude Code, Codex) - reporting indicates the OPPOSITE (restricted); Internal dogfooding of Gemini CLI / Antigravity / Jules / Gemini Code Assist specifically (these are vendor_maker signals, internal use not separately evidenced)   (+3 more tool signal(s) on file)</a:t>
            </a:r>
          </a:p>
        </p:txBody>
      </p:sp>
      <p:sp>
        <p:nvSpPr>
          <p:cNvPr id="13" name="TextBox 12"/>
          <p:cNvSpPr txBox="1"/>
          <p:nvPr/>
        </p:nvSpPr>
        <p:spPr>
          <a:xfrm>
            <a:off x="411480" y="6510528"/>
            <a:ext cx="8229600" cy="274320"/>
          </a:xfrm>
          <a:prstGeom prst="rect">
            <a:avLst/>
          </a:prstGeom>
          <a:noFill/>
        </p:spPr>
        <p:txBody>
          <a:bodyPr wrap="square" anchor="t" lIns="25400" rIns="25400" tIns="25400" bIns="25400">
            <a:spAutoFit/>
          </a:bodyPr>
          <a:lstStyle/>
          <a:p>
            <a:pPr algn="l"/>
            <a:r>
              <a:rPr sz="800" b="0" i="0">
                <a:solidFill>
                  <a:srgbClr val="5A6B7B"/>
                </a:solidFill>
                <a:latin typeface="Calibri"/>
              </a:rPr>
              <a:t>Agentic AI Developer-Tool Adoption  ·  Public-intelligence sweep  ·  2026-05-25</a:t>
            </a:r>
          </a:p>
        </p:txBody>
      </p:sp>
      <p:sp>
        <p:nvSpPr>
          <p:cNvPr id="14" name="TextBox 13"/>
          <p:cNvSpPr txBox="1"/>
          <p:nvPr/>
        </p:nvSpPr>
        <p:spPr>
          <a:xfrm>
            <a:off x="11247120" y="6510528"/>
            <a:ext cx="731520" cy="274320"/>
          </a:xfrm>
          <a:prstGeom prst="rect">
            <a:avLst/>
          </a:prstGeom>
          <a:noFill/>
        </p:spPr>
        <p:txBody>
          <a:bodyPr wrap="square" anchor="t" lIns="25400" rIns="25400" tIns="25400" bIns="25400">
            <a:spAutoFit/>
          </a:bodyPr>
          <a:lstStyle/>
          <a:p>
            <a:pPr algn="r"/>
            <a:r>
              <a:rPr sz="900" b="1" i="0">
                <a:solidFill>
                  <a:srgbClr val="5A6B7B"/>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38100"/>
          </a:xfrm>
          <a:prstGeom prst="rect">
            <a:avLst/>
          </a:prstGeom>
          <a:solidFill>
            <a:srgbClr val="12B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11338560" cy="566928"/>
          </a:xfrm>
          <a:prstGeom prst="rect">
            <a:avLst/>
          </a:prstGeom>
          <a:noFill/>
        </p:spPr>
        <p:txBody>
          <a:bodyPr wrap="square" anchor="ctr" lIns="25400" rIns="25400" tIns="25400" bIns="25400">
            <a:spAutoFit/>
          </a:bodyPr>
          <a:lstStyle/>
          <a:p>
            <a:pPr algn="l"/>
            <a:r>
              <a:rPr sz="2600" b="1" i="0">
                <a:solidFill>
                  <a:srgbClr val="FFFFFF"/>
                </a:solidFill>
                <a:latin typeface="Calibri"/>
              </a:rPr>
              <a:t>Marvell Technology  (MRVL)</a:t>
            </a:r>
          </a:p>
        </p:txBody>
      </p:sp>
      <p:sp>
        <p:nvSpPr>
          <p:cNvPr id="5" name="TextBox 4"/>
          <p:cNvSpPr txBox="1"/>
          <p:nvPr/>
        </p:nvSpPr>
        <p:spPr>
          <a:xfrm>
            <a:off x="429768" y="603504"/>
            <a:ext cx="11338560" cy="274320"/>
          </a:xfrm>
          <a:prstGeom prst="rect">
            <a:avLst/>
          </a:prstGeom>
          <a:noFill/>
        </p:spPr>
        <p:txBody>
          <a:bodyPr wrap="square" anchor="t" lIns="25400" rIns="25400" tIns="25400" bIns="25400">
            <a:spAutoFit/>
          </a:bodyPr>
          <a:lstStyle/>
          <a:p>
            <a:pPr algn="l"/>
            <a:r>
              <a:rPr sz="1200" b="0" i="0">
                <a:solidFill>
                  <a:srgbClr val="BFD7EA"/>
                </a:solidFill>
                <a:latin typeface="Calibri"/>
              </a:rPr>
              <a:t>EDA-only (chip verification); no general coding agent</a:t>
            </a:r>
          </a:p>
        </p:txBody>
      </p:sp>
      <p:sp>
        <p:nvSpPr>
          <p:cNvPr id="6" name="Rectangle 5"/>
          <p:cNvSpPr/>
          <p:nvPr/>
        </p:nvSpPr>
        <p:spPr>
          <a:xfrm>
            <a:off x="9601200" y="256032"/>
            <a:ext cx="2194560" cy="40233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56032"/>
            <a:ext cx="2194560" cy="402336"/>
          </a:xfrm>
          <a:prstGeom prst="rect">
            <a:avLst/>
          </a:prstGeom>
          <a:noFill/>
        </p:spPr>
        <p:txBody>
          <a:bodyPr wrap="square" anchor="ctr" lIns="25400" rIns="25400" tIns="25400" bIns="25400">
            <a:spAutoFit/>
          </a:bodyPr>
          <a:lstStyle/>
          <a:p>
            <a:pPr algn="ctr"/>
            <a:r>
              <a:rPr sz="1100" b="1" i="0">
                <a:solidFill>
                  <a:srgbClr val="FFFFFF"/>
                </a:solidFill>
                <a:latin typeface="Calibri"/>
              </a:rPr>
              <a:t>Evidence: High (T1)</a:t>
            </a:r>
          </a:p>
        </p:txBody>
      </p:sp>
      <p:sp>
        <p:nvSpPr>
          <p:cNvPr id="8" name="TextBox 7"/>
          <p:cNvSpPr txBox="1"/>
          <p:nvPr/>
        </p:nvSpPr>
        <p:spPr>
          <a:xfrm>
            <a:off x="502920" y="1097280"/>
            <a:ext cx="11155680" cy="274320"/>
          </a:xfrm>
          <a:prstGeom prst="rect">
            <a:avLst/>
          </a:prstGeom>
          <a:noFill/>
        </p:spPr>
        <p:txBody>
          <a:bodyPr wrap="square" anchor="t" lIns="25400" rIns="25400" tIns="25400" bIns="25400">
            <a:spAutoFit/>
          </a:bodyPr>
          <a:lstStyle/>
          <a:p>
            <a:pPr algn="l"/>
            <a:r>
              <a:rPr sz="1100" b="1" i="0">
                <a:solidFill>
                  <a:srgbClr val="1F77B4"/>
                </a:solidFill>
                <a:latin typeface="Calibri"/>
              </a:rPr>
              <a:t>OVERALL ASSESSMENT</a:t>
            </a:r>
          </a:p>
        </p:txBody>
      </p:sp>
      <p:sp>
        <p:nvSpPr>
          <p:cNvPr id="9" name="TextBox 8"/>
          <p:cNvSpPr txBox="1"/>
          <p:nvPr/>
        </p:nvSpPr>
        <p:spPr>
          <a:xfrm>
            <a:off x="502920" y="1371600"/>
            <a:ext cx="11155680" cy="1691640"/>
          </a:xfrm>
          <a:prstGeom prst="rect">
            <a:avLst/>
          </a:prstGeom>
          <a:noFill/>
        </p:spPr>
        <p:txBody>
          <a:bodyPr wrap="square" anchor="t" lIns="25400" rIns="25400" tIns="25400" bIns="25400">
            <a:spAutoFit/>
          </a:bodyPr>
          <a:lstStyle/>
          <a:p>
            <a:pPr algn="l">
              <a:lnSpc>
                <a:spcPct val="103000"/>
              </a:lnSpc>
            </a:pPr>
            <a:r>
              <a:rPr sz="1200" b="0" i="0">
                <a:solidFill>
                  <a:srgbClr val="1B2A38"/>
                </a:solidFill>
                <a:latin typeface="Calibri"/>
              </a:rPr>
              <a:t>Marvell's only concrete, primary-sourced developer-AI usage is EDA-domain: Synopsys.ai Formal Advisor Copilot for formal chip verification, per an official Synopsys customer success story naming Marvell. There is NO evidence of internal use of any general-purpose agentic software-coding agent; Marvell's other AI-coding mention is thought-leadership commentary, not an internal tool disclosure.</a:t>
            </a:r>
          </a:p>
        </p:txBody>
      </p:sp>
      <p:sp>
        <p:nvSpPr>
          <p:cNvPr id="10" name="TextBox 9"/>
          <p:cNvSpPr txBox="1"/>
          <p:nvPr/>
        </p:nvSpPr>
        <p:spPr>
          <a:xfrm>
            <a:off x="502920" y="3154680"/>
            <a:ext cx="10972800" cy="274320"/>
          </a:xfrm>
          <a:prstGeom prst="rect">
            <a:avLst/>
          </a:prstGeom>
          <a:noFill/>
        </p:spPr>
        <p:txBody>
          <a:bodyPr wrap="square" anchor="t" lIns="25400" rIns="25400" tIns="25400" bIns="25400">
            <a:spAutoFit/>
          </a:bodyPr>
          <a:lstStyle/>
          <a:p>
            <a:pPr algn="l"/>
            <a:r>
              <a:rPr sz="1100" b="1" i="0">
                <a:solidFill>
                  <a:srgbClr val="1F77B4"/>
                </a:solidFill>
                <a:latin typeface="Calibri"/>
              </a:rPr>
              <a:t>TOOLS &amp; EVIDENCE</a:t>
            </a:r>
          </a:p>
        </p:txBody>
      </p:sp>
      <p:graphicFrame>
        <p:nvGraphicFramePr>
          <p:cNvPr id="11" name="Table 10"/>
          <p:cNvGraphicFramePr>
            <a:graphicFrameLocks noGrp="1"/>
          </p:cNvGraphicFramePr>
          <p:nvPr/>
        </p:nvGraphicFramePr>
        <p:xfrm>
          <a:off x="502920" y="3429000"/>
          <a:ext cx="11201400" cy="1170432"/>
        </p:xfrm>
        <a:graphic>
          <a:graphicData uri="http://schemas.openxmlformats.org/drawingml/2006/table">
            <a:tbl>
              <a:tblPr>
                <a:tableStyleId>{5C22544A-7EE6-4342-B048-85BDC9FD1C3A}</a:tableStyleId>
              </a:tblPr>
              <a:tblGrid>
                <a:gridCol w="5486400"/>
                <a:gridCol w="1828800"/>
                <a:gridCol w="3886200"/>
              </a:tblGrid>
              <a:tr h="329184">
                <a:tc>
                  <a:txBody>
                    <a:bodyPr wrap="square"/>
                    <a:lstStyle/>
                    <a:p>
                      <a:pPr algn="l"/>
                      <a:r>
                        <a:rPr sz="1100" b="1">
                          <a:solidFill>
                            <a:srgbClr val="FFFFFF"/>
                          </a:solidFill>
                          <a:latin typeface="Calibri"/>
                        </a:rPr>
                        <a:t>Tool</a:t>
                      </a:r>
                    </a:p>
                  </a:txBody>
                  <a:tcPr anchor="ctr" marL="76200" marR="76200" marT="25400" marB="25400">
                    <a:solidFill>
                      <a:srgbClr val="0F2A4A"/>
                    </a:solidFill>
                  </a:tcPr>
                </a:tc>
                <a:tc>
                  <a:txBody>
                    <a:bodyPr wrap="square"/>
                    <a:lstStyle/>
                    <a:p>
                      <a:pPr algn="ctr"/>
                      <a:r>
                        <a:rPr sz="1100" b="1">
                          <a:solidFill>
                            <a:srgbClr val="FFFFFF"/>
                          </a:solidFill>
                          <a:latin typeface="Calibri"/>
                        </a:rPr>
                        <a:t>Internal-use tier</a:t>
                      </a:r>
                    </a:p>
                  </a:txBody>
                  <a:tcPr anchor="ctr" marL="76200" marR="76200" marT="25400" marB="25400">
                    <a:solidFill>
                      <a:srgbClr val="0F2A4A"/>
                    </a:solidFill>
                  </a:tcPr>
                </a:tc>
                <a:tc>
                  <a:txBody>
                    <a:bodyPr wrap="square"/>
                    <a:lstStyle/>
                    <a:p>
                      <a:pPr algn="l"/>
                      <a:r>
                        <a:rPr sz="1100" b="1">
                          <a:solidFill>
                            <a:srgbClr val="FFFFFF"/>
                          </a:solidFill>
                          <a:latin typeface="Calibri"/>
                        </a:rPr>
                        <a:t>Signal type(s)</a:t>
                      </a:r>
                    </a:p>
                  </a:txBody>
                  <a:tcPr anchor="ctr" marL="76200" marR="76200" marT="25400" marB="25400">
                    <a:solidFill>
                      <a:srgbClr val="0F2A4A"/>
                    </a:solidFill>
                  </a:tcPr>
                </a:tc>
              </a:tr>
              <a:tr h="420624">
                <a:tc>
                  <a:txBody>
                    <a:bodyPr wrap="square"/>
                    <a:lstStyle/>
                    <a:p>
                      <a:pPr algn="l"/>
                      <a:r>
                        <a:rPr sz="1050" b="1">
                          <a:solidFill>
                            <a:srgbClr val="1B2A38"/>
                          </a:solidFill>
                          <a:latin typeface="Calibri"/>
                        </a:rPr>
                        <a:t>Synopsys Formal Advisor Copilot (EDA)</a:t>
                      </a:r>
                    </a:p>
                  </a:txBody>
                  <a:tcPr anchor="ctr" marL="76200" marR="76200" marT="25400" marB="25400">
                    <a:solidFill>
                      <a:srgbClr val="FFFFFF"/>
                    </a:solidFill>
                  </a:tcPr>
                </a:tc>
                <a:tc>
                  <a:txBody>
                    <a:bodyPr wrap="square"/>
                    <a:lstStyle/>
                    <a:p>
                      <a:pPr algn="ctr"/>
                      <a:r>
                        <a:rPr sz="1050" b="1">
                          <a:solidFill>
                            <a:srgbClr val="FFFFFF"/>
                          </a:solidFill>
                          <a:latin typeface="Calibri"/>
                        </a:rPr>
                        <a:t>T1 · confirmed</a:t>
                      </a:r>
                    </a:p>
                  </a:txBody>
                  <a:tcPr anchor="ctr" marL="76200" marR="76200" marT="25400" marB="25400">
                    <a:solidFill>
                      <a:srgbClr val="2E7D32"/>
                    </a:solidFill>
                  </a:tcPr>
                </a:tc>
                <a:tc>
                  <a:txBody>
                    <a:bodyPr wrap="square"/>
                    <a:lstStyle/>
                    <a:p>
                      <a:pPr algn="l"/>
                      <a:r>
                        <a:rPr sz="1000" b="0">
                          <a:solidFill>
                            <a:srgbClr val="1B2A38"/>
                          </a:solidFill>
                          <a:latin typeface="Calibri"/>
                        </a:rPr>
                        <a:t>Internal use</a:t>
                      </a:r>
                    </a:p>
                  </a:txBody>
                  <a:tcPr anchor="ctr" marL="76200" marR="76200" marT="25400" marB="25400">
                    <a:solidFill>
                      <a:srgbClr val="FFFFFF"/>
                    </a:solidFill>
                  </a:tcPr>
                </a:tc>
              </a:tr>
              <a:tr h="420624">
                <a:tc>
                  <a:txBody>
                    <a:bodyPr wrap="square"/>
                    <a:lstStyle/>
                    <a:p>
                      <a:pPr algn="l"/>
                      <a:r>
                        <a:rPr sz="1050" b="1">
                          <a:solidFill>
                            <a:srgbClr val="1B2A38"/>
                          </a:solidFill>
                          <a:latin typeface="Calibri"/>
                        </a:rPr>
                        <a:t>Gen-AI code dev (thought leadership)</a:t>
                      </a:r>
                    </a:p>
                  </a:txBody>
                  <a:tcPr anchor="ctr" marL="76200" marR="76200" marT="25400" marB="25400">
                    <a:solidFill>
                      <a:srgbClr val="E7EDF3"/>
                    </a:solidFill>
                  </a:tcPr>
                </a:tc>
                <a:tc>
                  <a:txBody>
                    <a:bodyPr wrap="square"/>
                    <a:lstStyle/>
                    <a:p>
                      <a:pPr algn="ctr"/>
                      <a:r>
                        <a:rPr sz="1050" b="1">
                          <a:solidFill>
                            <a:srgbClr val="FFFFFF"/>
                          </a:solidFill>
                          <a:latin typeface="Calibri"/>
                        </a:rPr>
                        <a:t>T4 · none</a:t>
                      </a:r>
                    </a:p>
                  </a:txBody>
                  <a:tcPr anchor="ctr" marL="76200" marR="76200" marT="25400" marB="25400">
                    <a:solidFill>
                      <a:srgbClr val="9E9E9E"/>
                    </a:solidFill>
                  </a:tcPr>
                </a:tc>
                <a:tc>
                  <a:txBody>
                    <a:bodyPr wrap="square"/>
                    <a:lstStyle/>
                    <a:p>
                      <a:pPr algn="l"/>
                      <a:r>
                        <a:rPr sz="1000" b="0">
                          <a:solidFill>
                            <a:srgbClr val="1B2A38"/>
                          </a:solidFill>
                          <a:latin typeface="Calibri"/>
                        </a:rPr>
                        <a:t>Builds it</a:t>
                      </a:r>
                    </a:p>
                  </a:txBody>
                  <a:tcPr anchor="ctr" marL="76200" marR="76200" marT="25400" marB="25400">
                    <a:solidFill>
                      <a:srgbClr val="E7EDF3"/>
                    </a:solidFill>
                  </a:tcPr>
                </a:tc>
              </a:tr>
            </a:tbl>
          </a:graphicData>
        </a:graphic>
      </p:graphicFrame>
      <p:sp>
        <p:nvSpPr>
          <p:cNvPr id="12" name="TextBox 11"/>
          <p:cNvSpPr txBox="1"/>
          <p:nvPr/>
        </p:nvSpPr>
        <p:spPr>
          <a:xfrm>
            <a:off x="502920" y="4709160"/>
            <a:ext cx="11155680" cy="457200"/>
          </a:xfrm>
          <a:prstGeom prst="rect">
            <a:avLst/>
          </a:prstGeom>
          <a:noFill/>
        </p:spPr>
        <p:txBody>
          <a:bodyPr wrap="square" anchor="t" lIns="25400" rIns="25400" tIns="25400" bIns="25400">
            <a:spAutoFit/>
          </a:bodyPr>
          <a:lstStyle/>
          <a:p>
            <a:pPr algn="l">
              <a:lnSpc>
                <a:spcPct val="100000"/>
              </a:lnSpc>
            </a:pPr>
            <a:r>
              <a:rPr sz="950" b="0" i="1">
                <a:solidFill>
                  <a:srgbClr val="5A6B7B"/>
                </a:solidFill>
                <a:latin typeface="Calibri"/>
              </a:rPr>
              <a:t>Not confirmed / no evidence: Claude Code, GitHub Copilot (incl. agent/Workspace), Cursor, Devin, Windsurf, Amazon Q Developer, Gemini CLI, OpenAI Codex/Operator, Antigravity, Cowork internal use; No exec/earnings quote (Matt Murphy) referencing internal developer AI coding tools</a:t>
            </a:r>
          </a:p>
        </p:txBody>
      </p:sp>
      <p:sp>
        <p:nvSpPr>
          <p:cNvPr id="13" name="TextBox 12"/>
          <p:cNvSpPr txBox="1"/>
          <p:nvPr/>
        </p:nvSpPr>
        <p:spPr>
          <a:xfrm>
            <a:off x="411480" y="6510528"/>
            <a:ext cx="8229600" cy="274320"/>
          </a:xfrm>
          <a:prstGeom prst="rect">
            <a:avLst/>
          </a:prstGeom>
          <a:noFill/>
        </p:spPr>
        <p:txBody>
          <a:bodyPr wrap="square" anchor="t" lIns="25400" rIns="25400" tIns="25400" bIns="25400">
            <a:spAutoFit/>
          </a:bodyPr>
          <a:lstStyle/>
          <a:p>
            <a:pPr algn="l"/>
            <a:r>
              <a:rPr sz="800" b="0" i="0">
                <a:solidFill>
                  <a:srgbClr val="5A6B7B"/>
                </a:solidFill>
                <a:latin typeface="Calibri"/>
              </a:rPr>
              <a:t>Agentic AI Developer-Tool Adoption  ·  Public-intelligence sweep  ·  2026-05-25</a:t>
            </a:r>
          </a:p>
        </p:txBody>
      </p:sp>
      <p:sp>
        <p:nvSpPr>
          <p:cNvPr id="14" name="TextBox 13"/>
          <p:cNvSpPr txBox="1"/>
          <p:nvPr/>
        </p:nvSpPr>
        <p:spPr>
          <a:xfrm>
            <a:off x="11247120" y="6510528"/>
            <a:ext cx="731520" cy="274320"/>
          </a:xfrm>
          <a:prstGeom prst="rect">
            <a:avLst/>
          </a:prstGeom>
          <a:noFill/>
        </p:spPr>
        <p:txBody>
          <a:bodyPr wrap="square" anchor="t" lIns="25400" rIns="25400" tIns="25400" bIns="25400">
            <a:spAutoFit/>
          </a:bodyPr>
          <a:lstStyle/>
          <a:p>
            <a:pPr algn="r"/>
            <a:r>
              <a:rPr sz="900" b="1" i="0">
                <a:solidFill>
                  <a:srgbClr val="5A6B7B"/>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38100"/>
          </a:xfrm>
          <a:prstGeom prst="rect">
            <a:avLst/>
          </a:prstGeom>
          <a:solidFill>
            <a:srgbClr val="12B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11338560" cy="566928"/>
          </a:xfrm>
          <a:prstGeom prst="rect">
            <a:avLst/>
          </a:prstGeom>
          <a:noFill/>
        </p:spPr>
        <p:txBody>
          <a:bodyPr wrap="square" anchor="ctr" lIns="25400" rIns="25400" tIns="25400" bIns="25400">
            <a:spAutoFit/>
          </a:bodyPr>
          <a:lstStyle/>
          <a:p>
            <a:pPr algn="l"/>
            <a:r>
              <a:rPr sz="2600" b="1" i="0">
                <a:solidFill>
                  <a:srgbClr val="FFFFFF"/>
                </a:solidFill>
                <a:latin typeface="Calibri"/>
              </a:rPr>
              <a:t>Cisco Systems  (CSCO)</a:t>
            </a:r>
          </a:p>
        </p:txBody>
      </p:sp>
      <p:sp>
        <p:nvSpPr>
          <p:cNvPr id="5" name="TextBox 4"/>
          <p:cNvSpPr txBox="1"/>
          <p:nvPr/>
        </p:nvSpPr>
        <p:spPr>
          <a:xfrm>
            <a:off x="429768" y="603504"/>
            <a:ext cx="11338560" cy="274320"/>
          </a:xfrm>
          <a:prstGeom prst="rect">
            <a:avLst/>
          </a:prstGeom>
          <a:noFill/>
        </p:spPr>
        <p:txBody>
          <a:bodyPr wrap="square" anchor="t" lIns="25400" rIns="25400" tIns="25400" bIns="25400">
            <a:spAutoFit/>
          </a:bodyPr>
          <a:lstStyle/>
          <a:p>
            <a:pPr algn="l"/>
            <a:r>
              <a:rPr sz="1200" b="0" i="0">
                <a:solidFill>
                  <a:srgbClr val="BFD7EA"/>
                </a:solidFill>
                <a:latin typeface="Calibri"/>
              </a:rPr>
              <a:t>Copilot (~6k devs) + in-house JARVIS agent</a:t>
            </a:r>
          </a:p>
        </p:txBody>
      </p:sp>
      <p:sp>
        <p:nvSpPr>
          <p:cNvPr id="6" name="Rectangle 5"/>
          <p:cNvSpPr/>
          <p:nvPr/>
        </p:nvSpPr>
        <p:spPr>
          <a:xfrm>
            <a:off x="9601200" y="256032"/>
            <a:ext cx="2194560" cy="40233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56032"/>
            <a:ext cx="2194560" cy="402336"/>
          </a:xfrm>
          <a:prstGeom prst="rect">
            <a:avLst/>
          </a:prstGeom>
          <a:noFill/>
        </p:spPr>
        <p:txBody>
          <a:bodyPr wrap="square" anchor="ctr" lIns="25400" rIns="25400" tIns="25400" bIns="25400">
            <a:spAutoFit/>
          </a:bodyPr>
          <a:lstStyle/>
          <a:p>
            <a:pPr algn="ctr"/>
            <a:r>
              <a:rPr sz="1100" b="1" i="0">
                <a:solidFill>
                  <a:srgbClr val="FFFFFF"/>
                </a:solidFill>
                <a:latin typeface="Calibri"/>
              </a:rPr>
              <a:t>Evidence: High (T1)</a:t>
            </a:r>
          </a:p>
        </p:txBody>
      </p:sp>
      <p:sp>
        <p:nvSpPr>
          <p:cNvPr id="8" name="TextBox 7"/>
          <p:cNvSpPr txBox="1"/>
          <p:nvPr/>
        </p:nvSpPr>
        <p:spPr>
          <a:xfrm>
            <a:off x="502920" y="1097280"/>
            <a:ext cx="11155680" cy="274320"/>
          </a:xfrm>
          <a:prstGeom prst="rect">
            <a:avLst/>
          </a:prstGeom>
          <a:noFill/>
        </p:spPr>
        <p:txBody>
          <a:bodyPr wrap="square" anchor="t" lIns="25400" rIns="25400" tIns="25400" bIns="25400">
            <a:spAutoFit/>
          </a:bodyPr>
          <a:lstStyle/>
          <a:p>
            <a:pPr algn="l"/>
            <a:r>
              <a:rPr sz="1100" b="1" i="0">
                <a:solidFill>
                  <a:srgbClr val="1F77B4"/>
                </a:solidFill>
                <a:latin typeface="Calibri"/>
              </a:rPr>
              <a:t>OVERALL ASSESSMENT</a:t>
            </a:r>
          </a:p>
        </p:txBody>
      </p:sp>
      <p:sp>
        <p:nvSpPr>
          <p:cNvPr id="9" name="TextBox 8"/>
          <p:cNvSpPr txBox="1"/>
          <p:nvPr/>
        </p:nvSpPr>
        <p:spPr>
          <a:xfrm>
            <a:off x="502920" y="1371600"/>
            <a:ext cx="11155680" cy="1691640"/>
          </a:xfrm>
          <a:prstGeom prst="rect">
            <a:avLst/>
          </a:prstGeom>
          <a:noFill/>
        </p:spPr>
        <p:txBody>
          <a:bodyPr wrap="square" anchor="t" lIns="25400" rIns="25400" tIns="25400" bIns="25400">
            <a:spAutoFit/>
          </a:bodyPr>
          <a:lstStyle/>
          <a:p>
            <a:pPr algn="l">
              <a:lnSpc>
                <a:spcPct val="103000"/>
              </a:lnSpc>
            </a:pPr>
            <a:r>
              <a:rPr sz="1200" b="0" i="0">
                <a:solidFill>
                  <a:srgbClr val="1B2A38"/>
                </a:solidFill>
                <a:latin typeface="Calibri"/>
              </a:rPr>
              <a:t>Cisco's best-documented third-party tool is GitHub Copilot, corroborated by GitHub's own rollout guidance (~6,000 developers), an arXiv study conducted at Cisco on proprietary code, and Cisco IT's own blog (3x output). Cisco engineers are publicly moving toward agentic coding (Cisco Live 2026 talk) and Cisco builds its own internal agent (JARVIS/Outshift). A Claude Code signal exists only via an unverified GitHub org and is weak.</a:t>
            </a:r>
          </a:p>
        </p:txBody>
      </p:sp>
      <p:sp>
        <p:nvSpPr>
          <p:cNvPr id="10" name="TextBox 9"/>
          <p:cNvSpPr txBox="1"/>
          <p:nvPr/>
        </p:nvSpPr>
        <p:spPr>
          <a:xfrm>
            <a:off x="502920" y="3154680"/>
            <a:ext cx="10972800" cy="274320"/>
          </a:xfrm>
          <a:prstGeom prst="rect">
            <a:avLst/>
          </a:prstGeom>
          <a:noFill/>
        </p:spPr>
        <p:txBody>
          <a:bodyPr wrap="square" anchor="t" lIns="25400" rIns="25400" tIns="25400" bIns="25400">
            <a:spAutoFit/>
          </a:bodyPr>
          <a:lstStyle/>
          <a:p>
            <a:pPr algn="l"/>
            <a:r>
              <a:rPr sz="1100" b="1" i="0">
                <a:solidFill>
                  <a:srgbClr val="1F77B4"/>
                </a:solidFill>
                <a:latin typeface="Calibri"/>
              </a:rPr>
              <a:t>TOOLS &amp; EVIDENCE</a:t>
            </a:r>
          </a:p>
        </p:txBody>
      </p:sp>
      <p:graphicFrame>
        <p:nvGraphicFramePr>
          <p:cNvPr id="11" name="Table 10"/>
          <p:cNvGraphicFramePr>
            <a:graphicFrameLocks noGrp="1"/>
          </p:cNvGraphicFramePr>
          <p:nvPr/>
        </p:nvGraphicFramePr>
        <p:xfrm>
          <a:off x="502920" y="3429000"/>
          <a:ext cx="11201400" cy="2011680"/>
        </p:xfrm>
        <a:graphic>
          <a:graphicData uri="http://schemas.openxmlformats.org/drawingml/2006/table">
            <a:tbl>
              <a:tblPr>
                <a:tableStyleId>{5C22544A-7EE6-4342-B048-85BDC9FD1C3A}</a:tableStyleId>
              </a:tblPr>
              <a:tblGrid>
                <a:gridCol w="5486400"/>
                <a:gridCol w="1828800"/>
                <a:gridCol w="3886200"/>
              </a:tblGrid>
              <a:tr h="329184">
                <a:tc>
                  <a:txBody>
                    <a:bodyPr wrap="square"/>
                    <a:lstStyle/>
                    <a:p>
                      <a:pPr algn="l"/>
                      <a:r>
                        <a:rPr sz="1100" b="1">
                          <a:solidFill>
                            <a:srgbClr val="FFFFFF"/>
                          </a:solidFill>
                          <a:latin typeface="Calibri"/>
                        </a:rPr>
                        <a:t>Tool</a:t>
                      </a:r>
                    </a:p>
                  </a:txBody>
                  <a:tcPr anchor="ctr" marL="76200" marR="76200" marT="25400" marB="25400">
                    <a:solidFill>
                      <a:srgbClr val="0F2A4A"/>
                    </a:solidFill>
                  </a:tcPr>
                </a:tc>
                <a:tc>
                  <a:txBody>
                    <a:bodyPr wrap="square"/>
                    <a:lstStyle/>
                    <a:p>
                      <a:pPr algn="ctr"/>
                      <a:r>
                        <a:rPr sz="1100" b="1">
                          <a:solidFill>
                            <a:srgbClr val="FFFFFF"/>
                          </a:solidFill>
                          <a:latin typeface="Calibri"/>
                        </a:rPr>
                        <a:t>Internal-use tier</a:t>
                      </a:r>
                    </a:p>
                  </a:txBody>
                  <a:tcPr anchor="ctr" marL="76200" marR="76200" marT="25400" marB="25400">
                    <a:solidFill>
                      <a:srgbClr val="0F2A4A"/>
                    </a:solidFill>
                  </a:tcPr>
                </a:tc>
                <a:tc>
                  <a:txBody>
                    <a:bodyPr wrap="square"/>
                    <a:lstStyle/>
                    <a:p>
                      <a:pPr algn="l"/>
                      <a:r>
                        <a:rPr sz="1100" b="1">
                          <a:solidFill>
                            <a:srgbClr val="FFFFFF"/>
                          </a:solidFill>
                          <a:latin typeface="Calibri"/>
                        </a:rPr>
                        <a:t>Signal type(s)</a:t>
                      </a:r>
                    </a:p>
                  </a:txBody>
                  <a:tcPr anchor="ctr" marL="76200" marR="76200" marT="25400" marB="25400">
                    <a:solidFill>
                      <a:srgbClr val="0F2A4A"/>
                    </a:solidFill>
                  </a:tcPr>
                </a:tc>
              </a:tr>
              <a:tr h="420624">
                <a:tc>
                  <a:txBody>
                    <a:bodyPr wrap="square"/>
                    <a:lstStyle/>
                    <a:p>
                      <a:pPr algn="l"/>
                      <a:r>
                        <a:rPr sz="1050" b="1">
                          <a:solidFill>
                            <a:srgbClr val="1B2A38"/>
                          </a:solidFill>
                          <a:latin typeface="Calibri"/>
                        </a:rPr>
                        <a:t>GitHub Copilot</a:t>
                      </a:r>
                    </a:p>
                  </a:txBody>
                  <a:tcPr anchor="ctr" marL="76200" marR="76200" marT="25400" marB="25400">
                    <a:solidFill>
                      <a:srgbClr val="FFFFFF"/>
                    </a:solidFill>
                  </a:tcPr>
                </a:tc>
                <a:tc>
                  <a:txBody>
                    <a:bodyPr wrap="square"/>
                    <a:lstStyle/>
                    <a:p>
                      <a:pPr algn="ctr"/>
                      <a:r>
                        <a:rPr sz="1050" b="1">
                          <a:solidFill>
                            <a:srgbClr val="FFFFFF"/>
                          </a:solidFill>
                          <a:latin typeface="Calibri"/>
                        </a:rPr>
                        <a:t>T1 · confirmed</a:t>
                      </a:r>
                    </a:p>
                  </a:txBody>
                  <a:tcPr anchor="ctr" marL="76200" marR="76200" marT="25400" marB="25400">
                    <a:solidFill>
                      <a:srgbClr val="2E7D32"/>
                    </a:solidFill>
                  </a:tcPr>
                </a:tc>
                <a:tc>
                  <a:txBody>
                    <a:bodyPr wrap="square"/>
                    <a:lstStyle/>
                    <a:p>
                      <a:pPr algn="l"/>
                      <a:r>
                        <a:rPr sz="1000" b="0">
                          <a:solidFill>
                            <a:srgbClr val="1B2A38"/>
                          </a:solidFill>
                          <a:latin typeface="Calibri"/>
                        </a:rPr>
                        <a:t>Internal use</a:t>
                      </a:r>
                    </a:p>
                  </a:txBody>
                  <a:tcPr anchor="ctr" marL="76200" marR="76200" marT="25400" marB="25400">
                    <a:solidFill>
                      <a:srgbClr val="FFFFFF"/>
                    </a:solidFill>
                  </a:tcPr>
                </a:tc>
              </a:tr>
              <a:tr h="420624">
                <a:tc>
                  <a:txBody>
                    <a:bodyPr wrap="square"/>
                    <a:lstStyle/>
                    <a:p>
                      <a:pPr algn="l"/>
                      <a:r>
                        <a:rPr sz="1050" b="1">
                          <a:solidFill>
                            <a:srgbClr val="1B2A38"/>
                          </a:solidFill>
                          <a:latin typeface="Calibri"/>
                        </a:rPr>
                        <a:t>JARVIS (Outshift internal agent)</a:t>
                      </a:r>
                    </a:p>
                  </a:txBody>
                  <a:tcPr anchor="ctr" marL="76200" marR="76200" marT="25400" marB="25400">
                    <a:solidFill>
                      <a:srgbClr val="E7EDF3"/>
                    </a:solidFill>
                  </a:tcPr>
                </a:tc>
                <a:tc>
                  <a:txBody>
                    <a:bodyPr wrap="square"/>
                    <a:lstStyle/>
                    <a:p>
                      <a:pPr algn="ctr"/>
                      <a:r>
                        <a:rPr sz="1050" b="1">
                          <a:solidFill>
                            <a:srgbClr val="FFFFFF"/>
                          </a:solidFill>
                          <a:latin typeface="Calibri"/>
                        </a:rPr>
                        <a:t>T1 · confirmed</a:t>
                      </a:r>
                    </a:p>
                  </a:txBody>
                  <a:tcPr anchor="ctr" marL="76200" marR="76200" marT="25400" marB="25400">
                    <a:solidFill>
                      <a:srgbClr val="2E7D32"/>
                    </a:solidFill>
                  </a:tcPr>
                </a:tc>
                <a:tc>
                  <a:txBody>
                    <a:bodyPr wrap="square"/>
                    <a:lstStyle/>
                    <a:p>
                      <a:pPr algn="l"/>
                      <a:r>
                        <a:rPr sz="1000" b="0">
                          <a:solidFill>
                            <a:srgbClr val="1B2A38"/>
                          </a:solidFill>
                          <a:latin typeface="Calibri"/>
                        </a:rPr>
                        <a:t>Builds it · Internal use</a:t>
                      </a:r>
                    </a:p>
                  </a:txBody>
                  <a:tcPr anchor="ctr" marL="76200" marR="76200" marT="25400" marB="25400">
                    <a:solidFill>
                      <a:srgbClr val="E7EDF3"/>
                    </a:solidFill>
                  </a:tcPr>
                </a:tc>
              </a:tr>
              <a:tr h="420624">
                <a:tc>
                  <a:txBody>
                    <a:bodyPr wrap="square"/>
                    <a:lstStyle/>
                    <a:p>
                      <a:pPr algn="l"/>
                      <a:r>
                        <a:rPr sz="1050" b="1">
                          <a:solidFill>
                            <a:srgbClr val="1B2A38"/>
                          </a:solidFill>
                          <a:latin typeface="Calibri"/>
                        </a:rPr>
                        <a:t>Copilot agent mode (general)</a:t>
                      </a:r>
                    </a:p>
                  </a:txBody>
                  <a:tcPr anchor="ctr" marL="76200" marR="76200" marT="25400" marB="25400">
                    <a:solidFill>
                      <a:srgbClr val="FFFFFF"/>
                    </a:solidFill>
                  </a:tcPr>
                </a:tc>
                <a:tc>
                  <a:txBody>
                    <a:bodyPr wrap="square"/>
                    <a:lstStyle/>
                    <a:p>
                      <a:pPr algn="ctr"/>
                      <a:r>
                        <a:rPr sz="1050" b="1">
                          <a:solidFill>
                            <a:srgbClr val="FFFFFF"/>
                          </a:solidFill>
                          <a:latin typeface="Calibri"/>
                        </a:rPr>
                        <a:t>T2 · strong</a:t>
                      </a:r>
                    </a:p>
                  </a:txBody>
                  <a:tcPr anchor="ctr" marL="76200" marR="76200" marT="25400" marB="25400">
                    <a:solidFill>
                      <a:srgbClr val="1565C0"/>
                    </a:solidFill>
                  </a:tcPr>
                </a:tc>
                <a:tc>
                  <a:txBody>
                    <a:bodyPr wrap="square"/>
                    <a:lstStyle/>
                    <a:p>
                      <a:pPr algn="l"/>
                      <a:r>
                        <a:rPr sz="1000" b="0">
                          <a:solidFill>
                            <a:srgbClr val="1B2A38"/>
                          </a:solidFill>
                          <a:latin typeface="Calibri"/>
                        </a:rPr>
                        <a:t>Internal use</a:t>
                      </a:r>
                    </a:p>
                  </a:txBody>
                  <a:tcPr anchor="ctr" marL="76200" marR="76200" marT="25400" marB="25400">
                    <a:solidFill>
                      <a:srgbClr val="FFFFFF"/>
                    </a:solidFill>
                  </a:tcPr>
                </a:tc>
              </a:tr>
              <a:tr h="420624">
                <a:tc>
                  <a:txBody>
                    <a:bodyPr wrap="square"/>
                    <a:lstStyle/>
                    <a:p>
                      <a:pPr algn="l"/>
                      <a:r>
                        <a:rPr sz="1050" b="1">
                          <a:solidFill>
                            <a:srgbClr val="1B2A38"/>
                          </a:solidFill>
                          <a:latin typeface="Calibri"/>
                        </a:rPr>
                        <a:t>Claude Code</a:t>
                      </a:r>
                    </a:p>
                  </a:txBody>
                  <a:tcPr anchor="ctr" marL="76200" marR="76200" marT="25400" marB="25400">
                    <a:solidFill>
                      <a:srgbClr val="E7EDF3"/>
                    </a:solidFill>
                  </a:tcPr>
                </a:tc>
                <a:tc>
                  <a:txBody>
                    <a:bodyPr wrap="square"/>
                    <a:lstStyle/>
                    <a:p>
                      <a:pPr algn="ctr"/>
                      <a:r>
                        <a:rPr sz="1050" b="1">
                          <a:solidFill>
                            <a:srgbClr val="FFFFFF"/>
                          </a:solidFill>
                          <a:latin typeface="Calibri"/>
                        </a:rPr>
                        <a:t>T3 · weak</a:t>
                      </a:r>
                    </a:p>
                  </a:txBody>
                  <a:tcPr anchor="ctr" marL="76200" marR="76200" marT="25400" marB="25400">
                    <a:solidFill>
                      <a:srgbClr val="E67E00"/>
                    </a:solidFill>
                  </a:tcPr>
                </a:tc>
                <a:tc>
                  <a:txBody>
                    <a:bodyPr wrap="square"/>
                    <a:lstStyle/>
                    <a:p>
                      <a:pPr algn="l"/>
                      <a:r>
                        <a:rPr sz="1000" b="0">
                          <a:solidFill>
                            <a:srgbClr val="1B2A38"/>
                          </a:solidFill>
                          <a:latin typeface="Calibri"/>
                        </a:rPr>
                        <a:t>Internal use</a:t>
                      </a:r>
                    </a:p>
                  </a:txBody>
                  <a:tcPr anchor="ctr" marL="76200" marR="76200" marT="25400" marB="25400">
                    <a:solidFill>
                      <a:srgbClr val="E7EDF3"/>
                    </a:solidFill>
                  </a:tcPr>
                </a:tc>
              </a:tr>
            </a:tbl>
          </a:graphicData>
        </a:graphic>
      </p:graphicFrame>
      <p:sp>
        <p:nvSpPr>
          <p:cNvPr id="12" name="TextBox 11"/>
          <p:cNvSpPr txBox="1"/>
          <p:nvPr/>
        </p:nvSpPr>
        <p:spPr>
          <a:xfrm>
            <a:off x="502920" y="5550408"/>
            <a:ext cx="11155680" cy="457200"/>
          </a:xfrm>
          <a:prstGeom prst="rect">
            <a:avLst/>
          </a:prstGeom>
          <a:noFill/>
        </p:spPr>
        <p:txBody>
          <a:bodyPr wrap="square" anchor="t" lIns="25400" rIns="25400" tIns="25400" bIns="25400">
            <a:spAutoFit/>
          </a:bodyPr>
          <a:lstStyle/>
          <a:p>
            <a:pPr algn="l">
              <a:lnSpc>
                <a:spcPct val="100000"/>
              </a:lnSpc>
            </a:pPr>
            <a:r>
              <a:rPr sz="950" b="0" i="1">
                <a:solidFill>
                  <a:srgbClr val="5A6B7B"/>
                </a:solidFill>
                <a:latin typeface="Calibri"/>
              </a:rPr>
              <a:t>Not confirmed / no evidence: Amazon Q Developer, Gemini CLI, Antigravity, OpenAI Codex/Operator, Devin, Windsurf, Cowork, Cursor internal use; No direct exec/earnings quote tying Cisco coding-agent use to a named executive</a:t>
            </a:r>
          </a:p>
        </p:txBody>
      </p:sp>
      <p:sp>
        <p:nvSpPr>
          <p:cNvPr id="13" name="TextBox 12"/>
          <p:cNvSpPr txBox="1"/>
          <p:nvPr/>
        </p:nvSpPr>
        <p:spPr>
          <a:xfrm>
            <a:off x="411480" y="6510528"/>
            <a:ext cx="8229600" cy="274320"/>
          </a:xfrm>
          <a:prstGeom prst="rect">
            <a:avLst/>
          </a:prstGeom>
          <a:noFill/>
        </p:spPr>
        <p:txBody>
          <a:bodyPr wrap="square" anchor="t" lIns="25400" rIns="25400" tIns="25400" bIns="25400">
            <a:spAutoFit/>
          </a:bodyPr>
          <a:lstStyle/>
          <a:p>
            <a:pPr algn="l"/>
            <a:r>
              <a:rPr sz="800" b="0" i="0">
                <a:solidFill>
                  <a:srgbClr val="5A6B7B"/>
                </a:solidFill>
                <a:latin typeface="Calibri"/>
              </a:rPr>
              <a:t>Agentic AI Developer-Tool Adoption  ·  Public-intelligence sweep  ·  2026-05-25</a:t>
            </a:r>
          </a:p>
        </p:txBody>
      </p:sp>
      <p:sp>
        <p:nvSpPr>
          <p:cNvPr id="14" name="TextBox 13"/>
          <p:cNvSpPr txBox="1"/>
          <p:nvPr/>
        </p:nvSpPr>
        <p:spPr>
          <a:xfrm>
            <a:off x="11247120" y="6510528"/>
            <a:ext cx="731520" cy="274320"/>
          </a:xfrm>
          <a:prstGeom prst="rect">
            <a:avLst/>
          </a:prstGeom>
          <a:noFill/>
        </p:spPr>
        <p:txBody>
          <a:bodyPr wrap="square" anchor="t" lIns="25400" rIns="25400" tIns="25400" bIns="25400">
            <a:spAutoFit/>
          </a:bodyPr>
          <a:lstStyle/>
          <a:p>
            <a:pPr algn="r"/>
            <a:r>
              <a:rPr sz="900" b="1" i="0">
                <a:solidFill>
                  <a:srgbClr val="5A6B7B"/>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38100"/>
          </a:xfrm>
          <a:prstGeom prst="rect">
            <a:avLst/>
          </a:prstGeom>
          <a:solidFill>
            <a:srgbClr val="12B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11338560" cy="566928"/>
          </a:xfrm>
          <a:prstGeom prst="rect">
            <a:avLst/>
          </a:prstGeom>
          <a:noFill/>
        </p:spPr>
        <p:txBody>
          <a:bodyPr wrap="square" anchor="ctr" lIns="25400" rIns="25400" tIns="25400" bIns="25400">
            <a:spAutoFit/>
          </a:bodyPr>
          <a:lstStyle/>
          <a:p>
            <a:pPr algn="l"/>
            <a:r>
              <a:rPr sz="2600" b="1" i="0">
                <a:solidFill>
                  <a:srgbClr val="FFFFFF"/>
                </a:solidFill>
                <a:latin typeface="Calibri"/>
              </a:rPr>
              <a:t>Microsoft  (MSFT)</a:t>
            </a:r>
          </a:p>
        </p:txBody>
      </p:sp>
      <p:sp>
        <p:nvSpPr>
          <p:cNvPr id="5" name="TextBox 4"/>
          <p:cNvSpPr txBox="1"/>
          <p:nvPr/>
        </p:nvSpPr>
        <p:spPr>
          <a:xfrm>
            <a:off x="429768" y="603504"/>
            <a:ext cx="11338560" cy="274320"/>
          </a:xfrm>
          <a:prstGeom prst="rect">
            <a:avLst/>
          </a:prstGeom>
          <a:noFill/>
        </p:spPr>
        <p:txBody>
          <a:bodyPr wrap="square" anchor="t" lIns="25400" rIns="25400" tIns="25400" bIns="25400">
            <a:spAutoFit/>
          </a:bodyPr>
          <a:lstStyle/>
          <a:p>
            <a:pPr algn="l"/>
            <a:r>
              <a:rPr sz="1200" b="0" i="0">
                <a:solidFill>
                  <a:srgbClr val="BFD7EA"/>
                </a:solidFill>
                <a:latin typeface="Calibri"/>
              </a:rPr>
              <a:t>Copilot maker + dogfooder; Claude Code phasing out</a:t>
            </a:r>
          </a:p>
        </p:txBody>
      </p:sp>
      <p:sp>
        <p:nvSpPr>
          <p:cNvPr id="6" name="Rectangle 5"/>
          <p:cNvSpPr/>
          <p:nvPr/>
        </p:nvSpPr>
        <p:spPr>
          <a:xfrm>
            <a:off x="9601200" y="256032"/>
            <a:ext cx="2194560" cy="40233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56032"/>
            <a:ext cx="2194560" cy="402336"/>
          </a:xfrm>
          <a:prstGeom prst="rect">
            <a:avLst/>
          </a:prstGeom>
          <a:noFill/>
        </p:spPr>
        <p:txBody>
          <a:bodyPr wrap="square" anchor="ctr" lIns="25400" rIns="25400" tIns="25400" bIns="25400">
            <a:spAutoFit/>
          </a:bodyPr>
          <a:lstStyle/>
          <a:p>
            <a:pPr algn="ctr"/>
            <a:r>
              <a:rPr sz="1100" b="1" i="0">
                <a:solidFill>
                  <a:srgbClr val="FFFFFF"/>
                </a:solidFill>
                <a:latin typeface="Calibri"/>
              </a:rPr>
              <a:t>Evidence: High (T1)</a:t>
            </a:r>
          </a:p>
        </p:txBody>
      </p:sp>
      <p:sp>
        <p:nvSpPr>
          <p:cNvPr id="8" name="TextBox 7"/>
          <p:cNvSpPr txBox="1"/>
          <p:nvPr/>
        </p:nvSpPr>
        <p:spPr>
          <a:xfrm>
            <a:off x="502920" y="1097280"/>
            <a:ext cx="11155680" cy="274320"/>
          </a:xfrm>
          <a:prstGeom prst="rect">
            <a:avLst/>
          </a:prstGeom>
          <a:noFill/>
        </p:spPr>
        <p:txBody>
          <a:bodyPr wrap="square" anchor="t" lIns="25400" rIns="25400" tIns="25400" bIns="25400">
            <a:spAutoFit/>
          </a:bodyPr>
          <a:lstStyle/>
          <a:p>
            <a:pPr algn="l"/>
            <a:r>
              <a:rPr sz="1100" b="1" i="0">
                <a:solidFill>
                  <a:srgbClr val="1F77B4"/>
                </a:solidFill>
                <a:latin typeface="Calibri"/>
              </a:rPr>
              <a:t>OVERALL ASSESSMENT</a:t>
            </a:r>
          </a:p>
        </p:txBody>
      </p:sp>
      <p:sp>
        <p:nvSpPr>
          <p:cNvPr id="9" name="TextBox 8"/>
          <p:cNvSpPr txBox="1"/>
          <p:nvPr/>
        </p:nvSpPr>
        <p:spPr>
          <a:xfrm>
            <a:off x="502920" y="1371600"/>
            <a:ext cx="11155680" cy="1691640"/>
          </a:xfrm>
          <a:prstGeom prst="rect">
            <a:avLst/>
          </a:prstGeom>
          <a:noFill/>
        </p:spPr>
        <p:txBody>
          <a:bodyPr wrap="square" anchor="t" lIns="25400" rIns="25400" tIns="25400" bIns="25400">
            <a:spAutoFit/>
          </a:bodyPr>
          <a:lstStyle/>
          <a:p>
            <a:pPr algn="l">
              <a:lnSpc>
                <a:spcPct val="103000"/>
              </a:lnSpc>
            </a:pPr>
            <a:r>
              <a:rPr sz="1200" b="0" i="0">
                <a:solidFill>
                  <a:srgbClr val="1B2A38"/>
                </a:solidFill>
                <a:latin typeface="Calibri"/>
              </a:rPr>
              <a:t>Microsoft is simultaneously the VENDOR/MAKER of GitHub Copilot, a heavy INTERNAL DOGFOODER (hard published numbers in dotnet/runtime and the github.com core repo), and a PRODUCT INTEGRATOR shipping Anthropic/OpenAI models in Copilot/Studio/Foundry. Its internal engineers had widely adopted Claude Code but are being migrated to Copilot CLI by June 30, 2026. Evidence quality is among the strongest in the dataset.</a:t>
            </a:r>
          </a:p>
        </p:txBody>
      </p:sp>
      <p:sp>
        <p:nvSpPr>
          <p:cNvPr id="10" name="TextBox 9"/>
          <p:cNvSpPr txBox="1"/>
          <p:nvPr/>
        </p:nvSpPr>
        <p:spPr>
          <a:xfrm>
            <a:off x="502920" y="3154680"/>
            <a:ext cx="10972800" cy="274320"/>
          </a:xfrm>
          <a:prstGeom prst="rect">
            <a:avLst/>
          </a:prstGeom>
          <a:noFill/>
        </p:spPr>
        <p:txBody>
          <a:bodyPr wrap="square" anchor="t" lIns="25400" rIns="25400" tIns="25400" bIns="25400">
            <a:spAutoFit/>
          </a:bodyPr>
          <a:lstStyle/>
          <a:p>
            <a:pPr algn="l"/>
            <a:r>
              <a:rPr sz="1100" b="1" i="0">
                <a:solidFill>
                  <a:srgbClr val="1F77B4"/>
                </a:solidFill>
                <a:latin typeface="Calibri"/>
              </a:rPr>
              <a:t>TOOLS &amp; EVIDENCE</a:t>
            </a:r>
          </a:p>
        </p:txBody>
      </p:sp>
      <p:graphicFrame>
        <p:nvGraphicFramePr>
          <p:cNvPr id="11" name="Table 10"/>
          <p:cNvGraphicFramePr>
            <a:graphicFrameLocks noGrp="1"/>
          </p:cNvGraphicFramePr>
          <p:nvPr/>
        </p:nvGraphicFramePr>
        <p:xfrm>
          <a:off x="502920" y="3429000"/>
          <a:ext cx="11201400" cy="1591056"/>
        </p:xfrm>
        <a:graphic>
          <a:graphicData uri="http://schemas.openxmlformats.org/drawingml/2006/table">
            <a:tbl>
              <a:tblPr>
                <a:tableStyleId>{5C22544A-7EE6-4342-B048-85BDC9FD1C3A}</a:tableStyleId>
              </a:tblPr>
              <a:tblGrid>
                <a:gridCol w="5486400"/>
                <a:gridCol w="1828800"/>
                <a:gridCol w="3886200"/>
              </a:tblGrid>
              <a:tr h="329184">
                <a:tc>
                  <a:txBody>
                    <a:bodyPr wrap="square"/>
                    <a:lstStyle/>
                    <a:p>
                      <a:pPr algn="l"/>
                      <a:r>
                        <a:rPr sz="1100" b="1">
                          <a:solidFill>
                            <a:srgbClr val="FFFFFF"/>
                          </a:solidFill>
                          <a:latin typeface="Calibri"/>
                        </a:rPr>
                        <a:t>Tool</a:t>
                      </a:r>
                    </a:p>
                  </a:txBody>
                  <a:tcPr anchor="ctr" marL="76200" marR="76200" marT="25400" marB="25400">
                    <a:solidFill>
                      <a:srgbClr val="0F2A4A"/>
                    </a:solidFill>
                  </a:tcPr>
                </a:tc>
                <a:tc>
                  <a:txBody>
                    <a:bodyPr wrap="square"/>
                    <a:lstStyle/>
                    <a:p>
                      <a:pPr algn="ctr"/>
                      <a:r>
                        <a:rPr sz="1100" b="1">
                          <a:solidFill>
                            <a:srgbClr val="FFFFFF"/>
                          </a:solidFill>
                          <a:latin typeface="Calibri"/>
                        </a:rPr>
                        <a:t>Internal-use tier</a:t>
                      </a:r>
                    </a:p>
                  </a:txBody>
                  <a:tcPr anchor="ctr" marL="76200" marR="76200" marT="25400" marB="25400">
                    <a:solidFill>
                      <a:srgbClr val="0F2A4A"/>
                    </a:solidFill>
                  </a:tcPr>
                </a:tc>
                <a:tc>
                  <a:txBody>
                    <a:bodyPr wrap="square"/>
                    <a:lstStyle/>
                    <a:p>
                      <a:pPr algn="l"/>
                      <a:r>
                        <a:rPr sz="1100" b="1">
                          <a:solidFill>
                            <a:srgbClr val="FFFFFF"/>
                          </a:solidFill>
                          <a:latin typeface="Calibri"/>
                        </a:rPr>
                        <a:t>Signal type(s)</a:t>
                      </a:r>
                    </a:p>
                  </a:txBody>
                  <a:tcPr anchor="ctr" marL="76200" marR="76200" marT="25400" marB="25400">
                    <a:solidFill>
                      <a:srgbClr val="0F2A4A"/>
                    </a:solidFill>
                  </a:tcPr>
                </a:tc>
              </a:tr>
              <a:tr h="420624">
                <a:tc>
                  <a:txBody>
                    <a:bodyPr wrap="square"/>
                    <a:lstStyle/>
                    <a:p>
                      <a:pPr algn="l"/>
                      <a:r>
                        <a:rPr sz="1050" b="1">
                          <a:solidFill>
                            <a:srgbClr val="1B2A38"/>
                          </a:solidFill>
                          <a:latin typeface="Calibri"/>
                        </a:rPr>
                        <a:t>GitHub Copilot (agent mode / CLI)</a:t>
                      </a:r>
                    </a:p>
                  </a:txBody>
                  <a:tcPr anchor="ctr" marL="76200" marR="76200" marT="25400" marB="25400">
                    <a:solidFill>
                      <a:srgbClr val="FFFFFF"/>
                    </a:solidFill>
                  </a:tcPr>
                </a:tc>
                <a:tc>
                  <a:txBody>
                    <a:bodyPr wrap="square"/>
                    <a:lstStyle/>
                    <a:p>
                      <a:pPr algn="ctr"/>
                      <a:r>
                        <a:rPr sz="1050" b="1">
                          <a:solidFill>
                            <a:srgbClr val="FFFFFF"/>
                          </a:solidFill>
                          <a:latin typeface="Calibri"/>
                        </a:rPr>
                        <a:t>T1 · confirmed</a:t>
                      </a:r>
                    </a:p>
                  </a:txBody>
                  <a:tcPr anchor="ctr" marL="76200" marR="76200" marT="25400" marB="25400">
                    <a:solidFill>
                      <a:srgbClr val="2E7D32"/>
                    </a:solidFill>
                  </a:tcPr>
                </a:tc>
                <a:tc>
                  <a:txBody>
                    <a:bodyPr wrap="square"/>
                    <a:lstStyle/>
                    <a:p>
                      <a:pPr algn="l"/>
                      <a:r>
                        <a:rPr sz="1000" b="0">
                          <a:solidFill>
                            <a:srgbClr val="1B2A38"/>
                          </a:solidFill>
                          <a:latin typeface="Calibri"/>
                        </a:rPr>
                        <a:t>Builds it · Internal use · Product</a:t>
                      </a:r>
                    </a:p>
                  </a:txBody>
                  <a:tcPr anchor="ctr" marL="76200" marR="76200" marT="25400" marB="25400">
                    <a:solidFill>
                      <a:srgbClr val="FFFFFF"/>
                    </a:solidFill>
                  </a:tcPr>
                </a:tc>
              </a:tr>
              <a:tr h="420624">
                <a:tc>
                  <a:txBody>
                    <a:bodyPr wrap="square"/>
                    <a:lstStyle/>
                    <a:p>
                      <a:pPr algn="l"/>
                      <a:r>
                        <a:rPr sz="1050" b="1">
                          <a:solidFill>
                            <a:srgbClr val="1B2A38"/>
                          </a:solidFill>
                          <a:latin typeface="Calibri"/>
                        </a:rPr>
                        <a:t>Claude Code (phasing out)</a:t>
                      </a:r>
                    </a:p>
                  </a:txBody>
                  <a:tcPr anchor="ctr" marL="76200" marR="76200" marT="25400" marB="25400">
                    <a:solidFill>
                      <a:srgbClr val="E7EDF3"/>
                    </a:solidFill>
                  </a:tcPr>
                </a:tc>
                <a:tc>
                  <a:txBody>
                    <a:bodyPr wrap="square"/>
                    <a:lstStyle/>
                    <a:p>
                      <a:pPr algn="ctr"/>
                      <a:r>
                        <a:rPr sz="1050" b="1">
                          <a:solidFill>
                            <a:srgbClr val="FFFFFF"/>
                          </a:solidFill>
                          <a:latin typeface="Calibri"/>
                        </a:rPr>
                        <a:t>T2 · strong</a:t>
                      </a:r>
                    </a:p>
                  </a:txBody>
                  <a:tcPr anchor="ctr" marL="76200" marR="76200" marT="25400" marB="25400">
                    <a:solidFill>
                      <a:srgbClr val="1565C0"/>
                    </a:solidFill>
                  </a:tcPr>
                </a:tc>
                <a:tc>
                  <a:txBody>
                    <a:bodyPr wrap="square"/>
                    <a:lstStyle/>
                    <a:p>
                      <a:pPr algn="l"/>
                      <a:r>
                        <a:rPr sz="1000" b="0">
                          <a:solidFill>
                            <a:srgbClr val="1B2A38"/>
                          </a:solidFill>
                          <a:latin typeface="Calibri"/>
                        </a:rPr>
                        <a:t>Internal use</a:t>
                      </a:r>
                    </a:p>
                  </a:txBody>
                  <a:tcPr anchor="ctr" marL="76200" marR="76200" marT="25400" marB="25400">
                    <a:solidFill>
                      <a:srgbClr val="E7EDF3"/>
                    </a:solidFill>
                  </a:tcPr>
                </a:tc>
              </a:tr>
              <a:tr h="420624">
                <a:tc>
                  <a:txBody>
                    <a:bodyPr wrap="square"/>
                    <a:lstStyle/>
                    <a:p>
                      <a:pPr algn="l"/>
                      <a:r>
                        <a:rPr sz="1050" b="1">
                          <a:solidFill>
                            <a:srgbClr val="1B2A38"/>
                          </a:solidFill>
                          <a:latin typeface="Calibri"/>
                        </a:rPr>
                        <a:t>Claude models in Copilot Studio/Foundry</a:t>
                      </a:r>
                    </a:p>
                  </a:txBody>
                  <a:tcPr anchor="ctr" marL="76200" marR="76200" marT="25400" marB="25400">
                    <a:solidFill>
                      <a:srgbClr val="FFFFFF"/>
                    </a:solidFill>
                  </a:tcPr>
                </a:tc>
                <a:tc>
                  <a:txBody>
                    <a:bodyPr wrap="square"/>
                    <a:lstStyle/>
                    <a:p>
                      <a:pPr algn="ctr"/>
                      <a:r>
                        <a:rPr sz="1050" b="1">
                          <a:solidFill>
                            <a:srgbClr val="FFFFFF"/>
                          </a:solidFill>
                          <a:latin typeface="Calibri"/>
                        </a:rPr>
                        <a:t>T4 · none</a:t>
                      </a:r>
                    </a:p>
                  </a:txBody>
                  <a:tcPr anchor="ctr" marL="76200" marR="76200" marT="25400" marB="25400">
                    <a:solidFill>
                      <a:srgbClr val="9E9E9E"/>
                    </a:solidFill>
                  </a:tcPr>
                </a:tc>
                <a:tc>
                  <a:txBody>
                    <a:bodyPr wrap="square"/>
                    <a:lstStyle/>
                    <a:p>
                      <a:pPr algn="l"/>
                      <a:r>
                        <a:rPr sz="1000" b="0">
                          <a:solidFill>
                            <a:srgbClr val="1B2A38"/>
                          </a:solidFill>
                          <a:latin typeface="Calibri"/>
                        </a:rPr>
                        <a:t>Product</a:t>
                      </a:r>
                    </a:p>
                  </a:txBody>
                  <a:tcPr anchor="ctr" marL="76200" marR="76200" marT="25400" marB="25400">
                    <a:solidFill>
                      <a:srgbClr val="FFFFFF"/>
                    </a:solidFill>
                  </a:tcPr>
                </a:tc>
              </a:tr>
            </a:tbl>
          </a:graphicData>
        </a:graphic>
      </p:graphicFrame>
      <p:sp>
        <p:nvSpPr>
          <p:cNvPr id="12" name="TextBox 11"/>
          <p:cNvSpPr txBox="1"/>
          <p:nvPr/>
        </p:nvSpPr>
        <p:spPr>
          <a:xfrm>
            <a:off x="502920" y="5129784"/>
            <a:ext cx="11155680" cy="457200"/>
          </a:xfrm>
          <a:prstGeom prst="rect">
            <a:avLst/>
          </a:prstGeom>
          <a:noFill/>
        </p:spPr>
        <p:txBody>
          <a:bodyPr wrap="square" anchor="t" lIns="25400" rIns="25400" tIns="25400" bIns="25400">
            <a:spAutoFit/>
          </a:bodyPr>
          <a:lstStyle/>
          <a:p>
            <a:pPr algn="l">
              <a:lnSpc>
                <a:spcPct val="100000"/>
              </a:lnSpc>
            </a:pPr>
            <a:r>
              <a:rPr sz="950" b="0" i="1">
                <a:solidFill>
                  <a:srgbClr val="5A6B7B"/>
                </a:solidFill>
                <a:latin typeface="Calibri"/>
              </a:rPr>
              <a:t>Not confirmed / no evidence: Internal Microsoft standardization on Cursor, Windsurf, or Devin (only generic comparison listicles)</a:t>
            </a:r>
          </a:p>
        </p:txBody>
      </p:sp>
      <p:sp>
        <p:nvSpPr>
          <p:cNvPr id="13" name="TextBox 12"/>
          <p:cNvSpPr txBox="1"/>
          <p:nvPr/>
        </p:nvSpPr>
        <p:spPr>
          <a:xfrm>
            <a:off x="411480" y="6510528"/>
            <a:ext cx="8229600" cy="274320"/>
          </a:xfrm>
          <a:prstGeom prst="rect">
            <a:avLst/>
          </a:prstGeom>
          <a:noFill/>
        </p:spPr>
        <p:txBody>
          <a:bodyPr wrap="square" anchor="t" lIns="25400" rIns="25400" tIns="25400" bIns="25400">
            <a:spAutoFit/>
          </a:bodyPr>
          <a:lstStyle/>
          <a:p>
            <a:pPr algn="l"/>
            <a:r>
              <a:rPr sz="800" b="0" i="0">
                <a:solidFill>
                  <a:srgbClr val="5A6B7B"/>
                </a:solidFill>
                <a:latin typeface="Calibri"/>
              </a:rPr>
              <a:t>Agentic AI Developer-Tool Adoption  ·  Public-intelligence sweep  ·  2026-05-25</a:t>
            </a:r>
          </a:p>
        </p:txBody>
      </p:sp>
      <p:sp>
        <p:nvSpPr>
          <p:cNvPr id="14" name="TextBox 13"/>
          <p:cNvSpPr txBox="1"/>
          <p:nvPr/>
        </p:nvSpPr>
        <p:spPr>
          <a:xfrm>
            <a:off x="11247120" y="6510528"/>
            <a:ext cx="731520" cy="274320"/>
          </a:xfrm>
          <a:prstGeom prst="rect">
            <a:avLst/>
          </a:prstGeom>
          <a:noFill/>
        </p:spPr>
        <p:txBody>
          <a:bodyPr wrap="square" anchor="t" lIns="25400" rIns="25400" tIns="25400" bIns="25400">
            <a:spAutoFit/>
          </a:bodyPr>
          <a:lstStyle/>
          <a:p>
            <a:pPr algn="r"/>
            <a:r>
              <a:rPr sz="900" b="1" i="0">
                <a:solidFill>
                  <a:srgbClr val="5A6B7B"/>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38100"/>
          </a:xfrm>
          <a:prstGeom prst="rect">
            <a:avLst/>
          </a:prstGeom>
          <a:solidFill>
            <a:srgbClr val="12B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11338560" cy="566928"/>
          </a:xfrm>
          <a:prstGeom prst="rect">
            <a:avLst/>
          </a:prstGeom>
          <a:noFill/>
        </p:spPr>
        <p:txBody>
          <a:bodyPr wrap="square" anchor="ctr" lIns="25400" rIns="25400" tIns="25400" bIns="25400">
            <a:spAutoFit/>
          </a:bodyPr>
          <a:lstStyle/>
          <a:p>
            <a:pPr algn="l"/>
            <a:r>
              <a:rPr sz="2600" b="1" i="0">
                <a:solidFill>
                  <a:srgbClr val="FFFFFF"/>
                </a:solidFill>
                <a:latin typeface="Calibri"/>
              </a:rPr>
              <a:t>Cross-Company Comparison</a:t>
            </a:r>
          </a:p>
        </p:txBody>
      </p:sp>
      <p:sp>
        <p:nvSpPr>
          <p:cNvPr id="5" name="TextBox 4"/>
          <p:cNvSpPr txBox="1"/>
          <p:nvPr/>
        </p:nvSpPr>
        <p:spPr>
          <a:xfrm>
            <a:off x="429768" y="603504"/>
            <a:ext cx="11338560" cy="274320"/>
          </a:xfrm>
          <a:prstGeom prst="rect">
            <a:avLst/>
          </a:prstGeom>
          <a:noFill/>
        </p:spPr>
        <p:txBody>
          <a:bodyPr wrap="square" anchor="t" lIns="25400" rIns="25400" tIns="25400" bIns="25400">
            <a:spAutoFit/>
          </a:bodyPr>
          <a:lstStyle/>
          <a:p>
            <a:pPr algn="l"/>
            <a:r>
              <a:rPr sz="1200" b="0" i="0">
                <a:solidFill>
                  <a:srgbClr val="BFD7EA"/>
                </a:solidFill>
                <a:latin typeface="Calibri"/>
              </a:rPr>
              <a:t>Internal-use confidence tier by tool   (P = product integration · ? = plausible/unnamed · ban/restr = restricted)</a:t>
            </a:r>
          </a:p>
        </p:txBody>
      </p:sp>
      <p:graphicFrame>
        <p:nvGraphicFramePr>
          <p:cNvPr id="6" name="Table 5"/>
          <p:cNvGraphicFramePr>
            <a:graphicFrameLocks noGrp="1"/>
          </p:cNvGraphicFramePr>
          <p:nvPr/>
        </p:nvGraphicFramePr>
        <p:xfrm>
          <a:off x="411480" y="1234440"/>
          <a:ext cx="11731752" cy="4572000"/>
        </p:xfrm>
        <a:graphic>
          <a:graphicData uri="http://schemas.openxmlformats.org/drawingml/2006/table">
            <a:tbl>
              <a:tblPr>
                <a:tableStyleId>{5C22544A-7EE6-4342-B048-85BDC9FD1C3A}</a:tableStyleId>
              </a:tblPr>
              <a:tblGrid>
                <a:gridCol w="2240280"/>
                <a:gridCol w="1581912"/>
                <a:gridCol w="1581912"/>
                <a:gridCol w="1581912"/>
                <a:gridCol w="1581912"/>
                <a:gridCol w="1581912"/>
                <a:gridCol w="1581912"/>
              </a:tblGrid>
              <a:tr h="640080">
                <a:tc>
                  <a:txBody>
                    <a:bodyPr wrap="square"/>
                    <a:lstStyle/>
                    <a:p>
                      <a:pPr algn="l"/>
                      <a:r>
                        <a:rPr sz="1100" b="1">
                          <a:solidFill>
                            <a:srgbClr val="FFFFFF"/>
                          </a:solidFill>
                          <a:latin typeface="Calibri"/>
                        </a:rPr>
                        <a:t>Company</a:t>
                      </a:r>
                    </a:p>
                  </a:txBody>
                  <a:tcPr anchor="ctr" marL="76200" marR="76200" marT="25400" marB="25400">
                    <a:solidFill>
                      <a:srgbClr val="0F2A4A"/>
                    </a:solidFill>
                  </a:tcPr>
                </a:tc>
                <a:tc>
                  <a:txBody>
                    <a:bodyPr wrap="square"/>
                    <a:lstStyle/>
                    <a:p>
                      <a:pPr algn="ctr"/>
                      <a:r>
                        <a:rPr sz="950" b="1">
                          <a:solidFill>
                            <a:srgbClr val="FFFFFF"/>
                          </a:solidFill>
                          <a:latin typeface="Calibri"/>
                        </a:rPr>
                        <a:t>Claude Code</a:t>
                      </a:r>
                    </a:p>
                  </a:txBody>
                  <a:tcPr anchor="ctr" marL="76200" marR="76200" marT="25400" marB="25400">
                    <a:solidFill>
                      <a:srgbClr val="0F2A4A"/>
                    </a:solidFill>
                  </a:tcPr>
                </a:tc>
                <a:tc>
                  <a:txBody>
                    <a:bodyPr wrap="square"/>
                    <a:lstStyle/>
                    <a:p>
                      <a:pPr algn="ctr"/>
                      <a:r>
                        <a:rPr sz="950" b="1">
                          <a:solidFill>
                            <a:srgbClr val="FFFFFF"/>
                          </a:solidFill>
                          <a:latin typeface="Calibri"/>
                        </a:rPr>
                        <a:t>GitHub Copilot</a:t>
                      </a:r>
                    </a:p>
                  </a:txBody>
                  <a:tcPr anchor="ctr" marL="76200" marR="76200" marT="25400" marB="25400">
                    <a:solidFill>
                      <a:srgbClr val="0F2A4A"/>
                    </a:solidFill>
                  </a:tcPr>
                </a:tc>
                <a:tc>
                  <a:txBody>
                    <a:bodyPr wrap="square"/>
                    <a:lstStyle/>
                    <a:p>
                      <a:pPr algn="ctr"/>
                      <a:r>
                        <a:rPr sz="950" b="1">
                          <a:solidFill>
                            <a:srgbClr val="FFFFFF"/>
                          </a:solidFill>
                          <a:latin typeface="Calibri"/>
                        </a:rPr>
                        <a:t>Cursor</a:t>
                      </a:r>
                    </a:p>
                  </a:txBody>
                  <a:tcPr anchor="ctr" marL="76200" marR="76200" marT="25400" marB="25400">
                    <a:solidFill>
                      <a:srgbClr val="0F2A4A"/>
                    </a:solidFill>
                  </a:tcPr>
                </a:tc>
                <a:tc>
                  <a:txBody>
                    <a:bodyPr wrap="square"/>
                    <a:lstStyle/>
                    <a:p>
                      <a:pPr algn="ctr"/>
                      <a:r>
                        <a:rPr sz="950" b="1">
                          <a:solidFill>
                            <a:srgbClr val="FFFFFF"/>
                          </a:solidFill>
                          <a:latin typeface="Calibri"/>
                        </a:rPr>
                        <a:t>OpenAI Codex</a:t>
                      </a:r>
                    </a:p>
                  </a:txBody>
                  <a:tcPr anchor="ctr" marL="76200" marR="76200" marT="25400" marB="25400">
                    <a:solidFill>
                      <a:srgbClr val="0F2A4A"/>
                    </a:solidFill>
                  </a:tcPr>
                </a:tc>
                <a:tc>
                  <a:txBody>
                    <a:bodyPr wrap="square"/>
                    <a:lstStyle/>
                    <a:p>
                      <a:pPr algn="ctr"/>
                      <a:r>
                        <a:rPr sz="950" b="1">
                          <a:solidFill>
                            <a:srgbClr val="FFFFFF"/>
                          </a:solidFill>
                          <a:latin typeface="Calibri"/>
                        </a:rPr>
                        <a:t>In-house / on-device</a:t>
                      </a:r>
                    </a:p>
                  </a:txBody>
                  <a:tcPr anchor="ctr" marL="76200" marR="76200" marT="25400" marB="25400">
                    <a:solidFill>
                      <a:srgbClr val="0F2A4A"/>
                    </a:solidFill>
                  </a:tcPr>
                </a:tc>
                <a:tc>
                  <a:txBody>
                    <a:bodyPr wrap="square"/>
                    <a:lstStyle/>
                    <a:p>
                      <a:pPr algn="ctr"/>
                      <a:r>
                        <a:rPr sz="950" b="1">
                          <a:solidFill>
                            <a:srgbClr val="FFFFFF"/>
                          </a:solidFill>
                          <a:latin typeface="Calibri"/>
                        </a:rPr>
                        <a:t>EDA / HDL AI</a:t>
                      </a:r>
                    </a:p>
                  </a:txBody>
                  <a:tcPr anchor="ctr" marL="76200" marR="76200" marT="25400" marB="25400">
                    <a:solidFill>
                      <a:srgbClr val="0F2A4A"/>
                    </a:solidFill>
                  </a:tcPr>
                </a:tc>
              </a:tr>
              <a:tr h="393192">
                <a:tc>
                  <a:txBody>
                    <a:bodyPr wrap="square"/>
                    <a:lstStyle/>
                    <a:p>
                      <a:pPr algn="l"/>
                      <a:r>
                        <a:rPr sz="969" b="1">
                          <a:solidFill>
                            <a:srgbClr val="1B2A38"/>
                          </a:solidFill>
                          <a:latin typeface="Calibri"/>
                        </a:rPr>
                        <a:t>Apple (AAPL)</a:t>
                      </a:r>
                    </a:p>
                  </a:txBody>
                  <a:tcPr anchor="ctr" marL="76200" marR="76200" marT="25400" marB="25400">
                    <a:solidFill>
                      <a:srgbClr val="FFFFFF"/>
                    </a:solidFill>
                  </a:tcPr>
                </a:tc>
                <a:tc>
                  <a:txBody>
                    <a:bodyPr wrap="square"/>
                    <a:lstStyle/>
                    <a:p>
                      <a:pPr algn="ctr"/>
                      <a:r>
                        <a:rPr sz="1100" b="1">
                          <a:solidFill>
                            <a:srgbClr val="FFFFFF"/>
                          </a:solidFill>
                          <a:latin typeface="Calibri"/>
                        </a:rPr>
                        <a:t>T2</a:t>
                      </a:r>
                    </a:p>
                  </a:txBody>
                  <a:tcPr anchor="ctr" marL="76200" marR="76200" marT="25400" marB="25400">
                    <a:solidFill>
                      <a:srgbClr val="1565C0"/>
                    </a:solidFill>
                  </a:tcPr>
                </a:tc>
                <a:tc>
                  <a:txBody>
                    <a:bodyPr wrap="square"/>
                    <a:lstStyle/>
                    <a:p>
                      <a:pPr algn="ctr"/>
                      <a:r>
                        <a:rPr sz="1000" b="1">
                          <a:solidFill>
                            <a:srgbClr val="FFFFFF"/>
                          </a:solidFill>
                          <a:latin typeface="Calibri"/>
                        </a:rPr>
                        <a:t>ban</a:t>
                      </a:r>
                    </a:p>
                  </a:txBody>
                  <a:tcPr anchor="ctr" marL="76200" marR="76200" marT="25400" marB="25400">
                    <a:solidFill>
                      <a:srgbClr val="C62828"/>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000" b="0">
                          <a:solidFill>
                            <a:srgbClr val="5A6B7B"/>
                          </a:solidFill>
                          <a:latin typeface="Calibri"/>
                        </a:rPr>
                        <a:t>P</a:t>
                      </a:r>
                    </a:p>
                  </a:txBody>
                  <a:tcPr anchor="ctr" marL="76200" marR="76200" marT="25400" marB="25400">
                    <a:solidFill>
                      <a:srgbClr val="B0BEC5"/>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r>
              <a:tr h="393192">
                <a:tc>
                  <a:txBody>
                    <a:bodyPr wrap="square"/>
                    <a:lstStyle/>
                    <a:p>
                      <a:pPr algn="l"/>
                      <a:r>
                        <a:rPr sz="969" b="1">
                          <a:solidFill>
                            <a:srgbClr val="1B2A38"/>
                          </a:solidFill>
                          <a:latin typeface="Calibri"/>
                        </a:rPr>
                        <a:t>AMD (AMD)</a:t>
                      </a:r>
                    </a:p>
                  </a:txBody>
                  <a:tcPr anchor="ctr" marL="76200" marR="76200" marT="25400" marB="25400">
                    <a:solidFill>
                      <a:srgbClr val="E7EDF3"/>
                    </a:solidFill>
                  </a:tcPr>
                </a:tc>
                <a:tc>
                  <a:txBody>
                    <a:bodyPr wrap="square"/>
                    <a:lstStyle/>
                    <a:p>
                      <a:pPr algn="ctr"/>
                      <a:r>
                        <a:rPr sz="1100" b="1">
                          <a:solidFill>
                            <a:srgbClr val="FFFFFF"/>
                          </a:solidFill>
                          <a:latin typeface="Calibri"/>
                        </a:rPr>
                        <a:t>T1</a:t>
                      </a:r>
                    </a:p>
                  </a:txBody>
                  <a:tcPr anchor="ctr" marL="76200" marR="76200" marT="25400" marB="25400">
                    <a:solidFill>
                      <a:srgbClr val="2E7D32"/>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100" b="1">
                          <a:solidFill>
                            <a:srgbClr val="FFFFFF"/>
                          </a:solidFill>
                          <a:latin typeface="Calibri"/>
                        </a:rPr>
                        <a:t>T3</a:t>
                      </a:r>
                    </a:p>
                  </a:txBody>
                  <a:tcPr anchor="ctr" marL="76200" marR="76200" marT="25400" marB="25400">
                    <a:solidFill>
                      <a:srgbClr val="E67E00"/>
                    </a:solidFill>
                  </a:tcPr>
                </a:tc>
                <a:tc>
                  <a:txBody>
                    <a:bodyPr wrap="square"/>
                    <a:lstStyle/>
                    <a:p>
                      <a:pPr algn="ctr"/>
                      <a:r>
                        <a:rPr sz="1100" b="1">
                          <a:solidFill>
                            <a:srgbClr val="FFFFFF"/>
                          </a:solidFill>
                          <a:latin typeface="Calibri"/>
                        </a:rPr>
                        <a:t>T2</a:t>
                      </a:r>
                    </a:p>
                  </a:txBody>
                  <a:tcPr anchor="ctr" marL="76200" marR="76200" marT="25400" marB="25400">
                    <a:solidFill>
                      <a:srgbClr val="1565C0"/>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r>
              <a:tr h="393192">
                <a:tc>
                  <a:txBody>
                    <a:bodyPr wrap="square"/>
                    <a:lstStyle/>
                    <a:p>
                      <a:pPr algn="l"/>
                      <a:r>
                        <a:rPr sz="969" b="1">
                          <a:solidFill>
                            <a:srgbClr val="1B2A38"/>
                          </a:solidFill>
                          <a:latin typeface="Calibri"/>
                        </a:rPr>
                        <a:t>NVIDIA (NVDA)</a:t>
                      </a:r>
                    </a:p>
                  </a:txBody>
                  <a:tcPr anchor="ctr" marL="76200" marR="76200" marT="25400" marB="25400">
                    <a:solidFill>
                      <a:srgbClr val="FFFFFF"/>
                    </a:solidFill>
                  </a:tcPr>
                </a:tc>
                <a:tc>
                  <a:txBody>
                    <a:bodyPr wrap="square"/>
                    <a:lstStyle/>
                    <a:p>
                      <a:pPr algn="ctr"/>
                      <a:r>
                        <a:rPr sz="1100" b="1">
                          <a:solidFill>
                            <a:srgbClr val="FFFFFF"/>
                          </a:solidFill>
                          <a:latin typeface="Calibri"/>
                        </a:rPr>
                        <a:t>T3</a:t>
                      </a:r>
                    </a:p>
                  </a:txBody>
                  <a:tcPr anchor="ctr" marL="76200" marR="76200" marT="25400" marB="25400">
                    <a:solidFill>
                      <a:srgbClr val="E67E00"/>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100" b="1">
                          <a:solidFill>
                            <a:srgbClr val="FFFFFF"/>
                          </a:solidFill>
                          <a:latin typeface="Calibri"/>
                        </a:rPr>
                        <a:t>T1</a:t>
                      </a:r>
                    </a:p>
                  </a:txBody>
                  <a:tcPr anchor="ctr" marL="76200" marR="76200" marT="25400" marB="25400">
                    <a:solidFill>
                      <a:srgbClr val="2E7D32"/>
                    </a:solidFill>
                  </a:tcPr>
                </a:tc>
                <a:tc>
                  <a:txBody>
                    <a:bodyPr wrap="square"/>
                    <a:lstStyle/>
                    <a:p>
                      <a:pPr algn="ctr"/>
                      <a:r>
                        <a:rPr sz="1100" b="1">
                          <a:solidFill>
                            <a:srgbClr val="FFFFFF"/>
                          </a:solidFill>
                          <a:latin typeface="Calibri"/>
                        </a:rPr>
                        <a:t>T1</a:t>
                      </a:r>
                    </a:p>
                  </a:txBody>
                  <a:tcPr anchor="ctr" marL="76200" marR="76200" marT="25400" marB="25400">
                    <a:solidFill>
                      <a:srgbClr val="2E7D32"/>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r>
              <a:tr h="393192">
                <a:tc>
                  <a:txBody>
                    <a:bodyPr wrap="square"/>
                    <a:lstStyle/>
                    <a:p>
                      <a:pPr algn="l"/>
                      <a:r>
                        <a:rPr sz="969" b="1">
                          <a:solidFill>
                            <a:srgbClr val="1B2A38"/>
                          </a:solidFill>
                          <a:latin typeface="Calibri"/>
                        </a:rPr>
                        <a:t>Broadcom (AVGO)</a:t>
                      </a:r>
                    </a:p>
                  </a:txBody>
                  <a:tcPr anchor="ctr" marL="76200" marR="76200" marT="25400" marB="25400">
                    <a:solidFill>
                      <a:srgbClr val="E7EDF3"/>
                    </a:solidFill>
                  </a:tcPr>
                </a:tc>
                <a:tc>
                  <a:txBody>
                    <a:bodyPr wrap="square"/>
                    <a:lstStyle/>
                    <a:p>
                      <a:pPr algn="ctr"/>
                      <a:r>
                        <a:rPr sz="1000" b="0">
                          <a:solidFill>
                            <a:srgbClr val="5A6B7B"/>
                          </a:solidFill>
                          <a:latin typeface="Calibri"/>
                        </a:rPr>
                        <a:t>?</a:t>
                      </a:r>
                    </a:p>
                  </a:txBody>
                  <a:tcPr anchor="ctr" marL="76200" marR="76200" marT="25400" marB="25400">
                    <a:solidFill>
                      <a:srgbClr val="CFD8DC"/>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100" b="1">
                          <a:solidFill>
                            <a:srgbClr val="FFFFFF"/>
                          </a:solidFill>
                          <a:latin typeface="Calibri"/>
                        </a:rPr>
                        <a:t>T2</a:t>
                      </a:r>
                    </a:p>
                  </a:txBody>
                  <a:tcPr anchor="ctr" marL="76200" marR="76200" marT="25400" marB="25400">
                    <a:solidFill>
                      <a:srgbClr val="1565C0"/>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r>
              <a:tr h="393192">
                <a:tc>
                  <a:txBody>
                    <a:bodyPr wrap="square"/>
                    <a:lstStyle/>
                    <a:p>
                      <a:pPr algn="l"/>
                      <a:r>
                        <a:rPr sz="969" b="1">
                          <a:solidFill>
                            <a:srgbClr val="1B2A38"/>
                          </a:solidFill>
                          <a:latin typeface="Calibri"/>
                        </a:rPr>
                        <a:t>MediaTek (2454.TW)</a:t>
                      </a:r>
                    </a:p>
                  </a:txBody>
                  <a:tcPr anchor="ctr" marL="76200" marR="76200" marT="25400" marB="25400">
                    <a:solidFill>
                      <a:srgbClr val="FFFFFF"/>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100" b="1">
                          <a:solidFill>
                            <a:srgbClr val="FFFFFF"/>
                          </a:solidFill>
                          <a:latin typeface="Calibri"/>
                        </a:rPr>
                        <a:t>T3</a:t>
                      </a:r>
                    </a:p>
                  </a:txBody>
                  <a:tcPr anchor="ctr" marL="76200" marR="76200" marT="25400" marB="25400">
                    <a:solidFill>
                      <a:srgbClr val="E67E00"/>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100" b="1">
                          <a:solidFill>
                            <a:srgbClr val="FFFFFF"/>
                          </a:solidFill>
                          <a:latin typeface="Calibri"/>
                        </a:rPr>
                        <a:t>T1</a:t>
                      </a:r>
                    </a:p>
                  </a:txBody>
                  <a:tcPr anchor="ctr" marL="76200" marR="76200" marT="25400" marB="25400">
                    <a:solidFill>
                      <a:srgbClr val="2E7D32"/>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r>
              <a:tr h="393192">
                <a:tc>
                  <a:txBody>
                    <a:bodyPr wrap="square"/>
                    <a:lstStyle/>
                    <a:p>
                      <a:pPr algn="l"/>
                      <a:r>
                        <a:rPr sz="969" b="1">
                          <a:solidFill>
                            <a:srgbClr val="1B2A38"/>
                          </a:solidFill>
                          <a:latin typeface="Calibri"/>
                        </a:rPr>
                        <a:t>Qualcomm (QCOM)</a:t>
                      </a:r>
                    </a:p>
                  </a:txBody>
                  <a:tcPr anchor="ctr" marL="76200" marR="76200" marT="25400" marB="25400">
                    <a:solidFill>
                      <a:srgbClr val="E7EDF3"/>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100" b="1">
                          <a:solidFill>
                            <a:srgbClr val="FFFFFF"/>
                          </a:solidFill>
                          <a:latin typeface="Calibri"/>
                        </a:rPr>
                        <a:t>T2</a:t>
                      </a:r>
                    </a:p>
                  </a:txBody>
                  <a:tcPr anchor="ctr" marL="76200" marR="76200" marT="25400" marB="25400">
                    <a:solidFill>
                      <a:srgbClr val="1565C0"/>
                    </a:solidFill>
                  </a:tcPr>
                </a:tc>
                <a:tc>
                  <a:txBody>
                    <a:bodyPr wrap="square"/>
                    <a:lstStyle/>
                    <a:p>
                      <a:pPr algn="ctr"/>
                      <a:r>
                        <a:rPr sz="1100" b="1">
                          <a:solidFill>
                            <a:srgbClr val="FFFFFF"/>
                          </a:solidFill>
                          <a:latin typeface="Calibri"/>
                        </a:rPr>
                        <a:t>T3</a:t>
                      </a:r>
                    </a:p>
                  </a:txBody>
                  <a:tcPr anchor="ctr" marL="76200" marR="76200" marT="25400" marB="25400">
                    <a:solidFill>
                      <a:srgbClr val="E67E00"/>
                    </a:solidFill>
                  </a:tcPr>
                </a:tc>
              </a:tr>
              <a:tr h="393192">
                <a:tc>
                  <a:txBody>
                    <a:bodyPr wrap="square"/>
                    <a:lstStyle/>
                    <a:p>
                      <a:pPr algn="l"/>
                      <a:r>
                        <a:rPr sz="969" b="1">
                          <a:solidFill>
                            <a:srgbClr val="1B2A38"/>
                          </a:solidFill>
                          <a:latin typeface="Calibri"/>
                        </a:rPr>
                        <a:t>Alphabet / Google (GOOGL)</a:t>
                      </a:r>
                    </a:p>
                  </a:txBody>
                  <a:tcPr anchor="ctr" marL="76200" marR="76200" marT="25400" marB="25400">
                    <a:solidFill>
                      <a:srgbClr val="FFFFFF"/>
                    </a:solidFill>
                  </a:tcPr>
                </a:tc>
                <a:tc>
                  <a:txBody>
                    <a:bodyPr wrap="square"/>
                    <a:lstStyle/>
                    <a:p>
                      <a:pPr algn="ctr"/>
                      <a:r>
                        <a:rPr sz="1000" b="1">
                          <a:solidFill>
                            <a:srgbClr val="FFFFFF"/>
                          </a:solidFill>
                          <a:latin typeface="Calibri"/>
                        </a:rPr>
                        <a:t>restr</a:t>
                      </a:r>
                    </a:p>
                  </a:txBody>
                  <a:tcPr anchor="ctr" marL="76200" marR="76200" marT="25400" marB="25400">
                    <a:solidFill>
                      <a:srgbClr val="78909C"/>
                    </a:solidFill>
                  </a:tcPr>
                </a:tc>
                <a:tc>
                  <a:txBody>
                    <a:bodyPr wrap="square"/>
                    <a:lstStyle/>
                    <a:p>
                      <a:pPr algn="ctr"/>
                      <a:r>
                        <a:rPr sz="1000" b="1">
                          <a:solidFill>
                            <a:srgbClr val="FFFFFF"/>
                          </a:solidFill>
                          <a:latin typeface="Calibri"/>
                        </a:rPr>
                        <a:t>restr</a:t>
                      </a:r>
                    </a:p>
                  </a:txBody>
                  <a:tcPr anchor="ctr" marL="76200" marR="76200" marT="25400" marB="25400">
                    <a:solidFill>
                      <a:srgbClr val="78909C"/>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100" b="1">
                          <a:solidFill>
                            <a:srgbClr val="FFFFFF"/>
                          </a:solidFill>
                          <a:latin typeface="Calibri"/>
                        </a:rPr>
                        <a:t>T1</a:t>
                      </a:r>
                    </a:p>
                  </a:txBody>
                  <a:tcPr anchor="ctr" marL="76200" marR="76200" marT="25400" marB="25400">
                    <a:solidFill>
                      <a:srgbClr val="2E7D32"/>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r>
              <a:tr h="393192">
                <a:tc>
                  <a:txBody>
                    <a:bodyPr wrap="square"/>
                    <a:lstStyle/>
                    <a:p>
                      <a:pPr algn="l"/>
                      <a:r>
                        <a:rPr sz="969" b="1">
                          <a:solidFill>
                            <a:srgbClr val="1B2A38"/>
                          </a:solidFill>
                          <a:latin typeface="Calibri"/>
                        </a:rPr>
                        <a:t>Marvell Technology (MRVL)</a:t>
                      </a:r>
                    </a:p>
                  </a:txBody>
                  <a:tcPr anchor="ctr" marL="76200" marR="76200" marT="25400" marB="25400">
                    <a:solidFill>
                      <a:srgbClr val="E7EDF3"/>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100" b="1">
                          <a:solidFill>
                            <a:srgbClr val="FFFFFF"/>
                          </a:solidFill>
                          <a:latin typeface="Calibri"/>
                        </a:rPr>
                        <a:t>T1</a:t>
                      </a:r>
                    </a:p>
                  </a:txBody>
                  <a:tcPr anchor="ctr" marL="76200" marR="76200" marT="25400" marB="25400">
                    <a:solidFill>
                      <a:srgbClr val="2E7D32"/>
                    </a:solidFill>
                  </a:tcPr>
                </a:tc>
              </a:tr>
              <a:tr h="393192">
                <a:tc>
                  <a:txBody>
                    <a:bodyPr wrap="square"/>
                    <a:lstStyle/>
                    <a:p>
                      <a:pPr algn="l"/>
                      <a:r>
                        <a:rPr sz="969" b="1">
                          <a:solidFill>
                            <a:srgbClr val="1B2A38"/>
                          </a:solidFill>
                          <a:latin typeface="Calibri"/>
                        </a:rPr>
                        <a:t>Cisco Systems (CSCO)</a:t>
                      </a:r>
                    </a:p>
                  </a:txBody>
                  <a:tcPr anchor="ctr" marL="76200" marR="76200" marT="25400" marB="25400">
                    <a:solidFill>
                      <a:srgbClr val="FFFFFF"/>
                    </a:solidFill>
                  </a:tcPr>
                </a:tc>
                <a:tc>
                  <a:txBody>
                    <a:bodyPr wrap="square"/>
                    <a:lstStyle/>
                    <a:p>
                      <a:pPr algn="ctr"/>
                      <a:r>
                        <a:rPr sz="1100" b="1">
                          <a:solidFill>
                            <a:srgbClr val="FFFFFF"/>
                          </a:solidFill>
                          <a:latin typeface="Calibri"/>
                        </a:rPr>
                        <a:t>T3</a:t>
                      </a:r>
                    </a:p>
                  </a:txBody>
                  <a:tcPr anchor="ctr" marL="76200" marR="76200" marT="25400" marB="25400">
                    <a:solidFill>
                      <a:srgbClr val="E67E00"/>
                    </a:solidFill>
                  </a:tcPr>
                </a:tc>
                <a:tc>
                  <a:txBody>
                    <a:bodyPr wrap="square"/>
                    <a:lstStyle/>
                    <a:p>
                      <a:pPr algn="ctr"/>
                      <a:r>
                        <a:rPr sz="1100" b="1">
                          <a:solidFill>
                            <a:srgbClr val="FFFFFF"/>
                          </a:solidFill>
                          <a:latin typeface="Calibri"/>
                        </a:rPr>
                        <a:t>T1</a:t>
                      </a:r>
                    </a:p>
                  </a:txBody>
                  <a:tcPr anchor="ctr" marL="76200" marR="76200" marT="25400" marB="25400">
                    <a:solidFill>
                      <a:srgbClr val="2E7D32"/>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100" b="1">
                          <a:solidFill>
                            <a:srgbClr val="FFFFFF"/>
                          </a:solidFill>
                          <a:latin typeface="Calibri"/>
                        </a:rPr>
                        <a:t>T1</a:t>
                      </a:r>
                    </a:p>
                  </a:txBody>
                  <a:tcPr anchor="ctr" marL="76200" marR="76200" marT="25400" marB="25400">
                    <a:solidFill>
                      <a:srgbClr val="2E7D32"/>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r>
              <a:tr h="393192">
                <a:tc>
                  <a:txBody>
                    <a:bodyPr wrap="square"/>
                    <a:lstStyle/>
                    <a:p>
                      <a:pPr algn="l"/>
                      <a:r>
                        <a:rPr sz="969" b="1">
                          <a:solidFill>
                            <a:srgbClr val="1B2A38"/>
                          </a:solidFill>
                          <a:latin typeface="Calibri"/>
                        </a:rPr>
                        <a:t>Microsoft (MSFT)</a:t>
                      </a:r>
                    </a:p>
                  </a:txBody>
                  <a:tcPr anchor="ctr" marL="76200" marR="76200" marT="25400" marB="25400">
                    <a:solidFill>
                      <a:srgbClr val="E7EDF3"/>
                    </a:solidFill>
                  </a:tcPr>
                </a:tc>
                <a:tc>
                  <a:txBody>
                    <a:bodyPr wrap="square"/>
                    <a:lstStyle/>
                    <a:p>
                      <a:pPr algn="ctr"/>
                      <a:r>
                        <a:rPr sz="1100" b="1">
                          <a:solidFill>
                            <a:srgbClr val="FFFFFF"/>
                          </a:solidFill>
                          <a:latin typeface="Calibri"/>
                        </a:rPr>
                        <a:t>T2</a:t>
                      </a:r>
                    </a:p>
                  </a:txBody>
                  <a:tcPr anchor="ctr" marL="76200" marR="76200" marT="25400" marB="25400">
                    <a:solidFill>
                      <a:srgbClr val="1565C0"/>
                    </a:solidFill>
                  </a:tcPr>
                </a:tc>
                <a:tc>
                  <a:txBody>
                    <a:bodyPr wrap="square"/>
                    <a:lstStyle/>
                    <a:p>
                      <a:pPr algn="ctr"/>
                      <a:r>
                        <a:rPr sz="1100" b="1">
                          <a:solidFill>
                            <a:srgbClr val="FFFFFF"/>
                          </a:solidFill>
                          <a:latin typeface="Calibri"/>
                        </a:rPr>
                        <a:t>T1</a:t>
                      </a:r>
                    </a:p>
                  </a:txBody>
                  <a:tcPr anchor="ctr" marL="76200" marR="76200" marT="25400" marB="25400">
                    <a:solidFill>
                      <a:srgbClr val="2E7D32"/>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c>
                  <a:txBody>
                    <a:bodyPr wrap="square"/>
                    <a:lstStyle/>
                    <a:p>
                      <a:pPr algn="ctr"/>
                      <a:r>
                        <a:rPr sz="1000" b="0">
                          <a:solidFill>
                            <a:srgbClr val="5A6B7B"/>
                          </a:solidFill>
                          <a:latin typeface="Calibri"/>
                        </a:rPr>
                        <a:t>—</a:t>
                      </a:r>
                    </a:p>
                  </a:txBody>
                  <a:tcPr anchor="ctr" marL="76200" marR="76200" marT="25400" marB="25400">
                    <a:solidFill>
                      <a:srgbClr val="FFFFFF"/>
                    </a:solidFill>
                  </a:tcPr>
                </a:tc>
              </a:tr>
            </a:tbl>
          </a:graphicData>
        </a:graphic>
      </p:graphicFrame>
      <p:sp>
        <p:nvSpPr>
          <p:cNvPr id="7" name="TextBox 6"/>
          <p:cNvSpPr txBox="1"/>
          <p:nvPr/>
        </p:nvSpPr>
        <p:spPr>
          <a:xfrm>
            <a:off x="411480" y="5650992"/>
            <a:ext cx="5486400" cy="228600"/>
          </a:xfrm>
          <a:prstGeom prst="rect">
            <a:avLst/>
          </a:prstGeom>
          <a:noFill/>
        </p:spPr>
        <p:txBody>
          <a:bodyPr wrap="square" anchor="t" lIns="25400" rIns="25400" tIns="25400" bIns="25400">
            <a:spAutoFit/>
          </a:bodyPr>
          <a:lstStyle/>
          <a:p>
            <a:pPr algn="l"/>
            <a:r>
              <a:rPr sz="1000" b="1" i="0">
                <a:solidFill>
                  <a:srgbClr val="1B2A38"/>
                </a:solidFill>
                <a:latin typeface="Calibri"/>
              </a:rPr>
              <a:t>Tier legend:</a:t>
            </a:r>
          </a:p>
        </p:txBody>
      </p:sp>
      <p:sp>
        <p:nvSpPr>
          <p:cNvPr id="8" name="Rectangle 7"/>
          <p:cNvSpPr/>
          <p:nvPr/>
        </p:nvSpPr>
        <p:spPr>
          <a:xfrm>
            <a:off x="411480" y="5943600"/>
            <a:ext cx="36576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943600"/>
            <a:ext cx="1554480" cy="292608"/>
          </a:xfrm>
          <a:prstGeom prst="rect">
            <a:avLst/>
          </a:prstGeom>
          <a:noFill/>
        </p:spPr>
        <p:txBody>
          <a:bodyPr wrap="square" anchor="ctr" lIns="25400" rIns="25400" tIns="25400" bIns="25400">
            <a:spAutoFit/>
          </a:bodyPr>
          <a:lstStyle/>
          <a:p>
            <a:pPr algn="l"/>
            <a:r>
              <a:rPr sz="1000" b="0" i="0">
                <a:solidFill>
                  <a:srgbClr val="1B2A38"/>
                </a:solidFill>
                <a:latin typeface="Calibri"/>
              </a:rPr>
              <a:t>T1 confirmed</a:t>
            </a:r>
          </a:p>
        </p:txBody>
      </p:sp>
      <p:sp>
        <p:nvSpPr>
          <p:cNvPr id="10" name="Rectangle 9"/>
          <p:cNvSpPr/>
          <p:nvPr/>
        </p:nvSpPr>
        <p:spPr>
          <a:xfrm>
            <a:off x="2240280" y="5943600"/>
            <a:ext cx="365760" cy="292608"/>
          </a:xfrm>
          <a:prstGeom prst="rect">
            <a:avLst/>
          </a:prstGeom>
          <a:solidFill>
            <a:srgbClr val="156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51760" y="5943600"/>
            <a:ext cx="1554480" cy="292608"/>
          </a:xfrm>
          <a:prstGeom prst="rect">
            <a:avLst/>
          </a:prstGeom>
          <a:noFill/>
        </p:spPr>
        <p:txBody>
          <a:bodyPr wrap="square" anchor="ctr" lIns="25400" rIns="25400" tIns="25400" bIns="25400">
            <a:spAutoFit/>
          </a:bodyPr>
          <a:lstStyle/>
          <a:p>
            <a:pPr algn="l"/>
            <a:r>
              <a:rPr sz="1000" b="0" i="0">
                <a:solidFill>
                  <a:srgbClr val="1B2A38"/>
                </a:solidFill>
                <a:latin typeface="Calibri"/>
              </a:rPr>
              <a:t>T2 strong</a:t>
            </a:r>
          </a:p>
        </p:txBody>
      </p:sp>
      <p:sp>
        <p:nvSpPr>
          <p:cNvPr id="12" name="Rectangle 11"/>
          <p:cNvSpPr/>
          <p:nvPr/>
        </p:nvSpPr>
        <p:spPr>
          <a:xfrm>
            <a:off x="4069080" y="5943600"/>
            <a:ext cx="365760" cy="292608"/>
          </a:xfrm>
          <a:prstGeom prst="rect">
            <a:avLst/>
          </a:prstGeom>
          <a:solidFill>
            <a:srgbClr val="E67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5943600"/>
            <a:ext cx="1554480" cy="292608"/>
          </a:xfrm>
          <a:prstGeom prst="rect">
            <a:avLst/>
          </a:prstGeom>
          <a:noFill/>
        </p:spPr>
        <p:txBody>
          <a:bodyPr wrap="square" anchor="ctr" lIns="25400" rIns="25400" tIns="25400" bIns="25400">
            <a:spAutoFit/>
          </a:bodyPr>
          <a:lstStyle/>
          <a:p>
            <a:pPr algn="l"/>
            <a:r>
              <a:rPr sz="1000" b="0" i="0">
                <a:solidFill>
                  <a:srgbClr val="1B2A38"/>
                </a:solidFill>
                <a:latin typeface="Calibri"/>
              </a:rPr>
              <a:t>T3 weak</a:t>
            </a:r>
          </a:p>
        </p:txBody>
      </p:sp>
      <p:sp>
        <p:nvSpPr>
          <p:cNvPr id="14" name="Rectangle 13"/>
          <p:cNvSpPr/>
          <p:nvPr/>
        </p:nvSpPr>
        <p:spPr>
          <a:xfrm>
            <a:off x="5897880" y="5943600"/>
            <a:ext cx="365760" cy="292608"/>
          </a:xfrm>
          <a:prstGeom prst="rect">
            <a:avLst/>
          </a:prstGeom>
          <a:solidFill>
            <a:srgbClr val="9E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5943600"/>
            <a:ext cx="1554480" cy="292608"/>
          </a:xfrm>
          <a:prstGeom prst="rect">
            <a:avLst/>
          </a:prstGeom>
          <a:noFill/>
        </p:spPr>
        <p:txBody>
          <a:bodyPr wrap="square" anchor="ctr" lIns="25400" rIns="25400" tIns="25400" bIns="25400">
            <a:spAutoFit/>
          </a:bodyPr>
          <a:lstStyle/>
          <a:p>
            <a:pPr algn="l"/>
            <a:r>
              <a:rPr sz="1000" b="0" i="0">
                <a:solidFill>
                  <a:srgbClr val="1B2A38"/>
                </a:solidFill>
                <a:latin typeface="Calibri"/>
              </a:rPr>
              <a:t>T4 none</a:t>
            </a:r>
          </a:p>
        </p:txBody>
      </p:sp>
      <p:sp>
        <p:nvSpPr>
          <p:cNvPr id="16" name="TextBox 15"/>
          <p:cNvSpPr txBox="1"/>
          <p:nvPr/>
        </p:nvSpPr>
        <p:spPr>
          <a:xfrm>
            <a:off x="411480" y="6327648"/>
            <a:ext cx="11430000" cy="365760"/>
          </a:xfrm>
          <a:prstGeom prst="rect">
            <a:avLst/>
          </a:prstGeom>
          <a:noFill/>
        </p:spPr>
        <p:txBody>
          <a:bodyPr wrap="square" anchor="t" lIns="25400" rIns="25400" tIns="25400" bIns="25400">
            <a:spAutoFit/>
          </a:bodyPr>
          <a:lstStyle/>
          <a:p>
            <a:pPr algn="l"/>
            <a:r>
              <a:rPr sz="950" b="0" i="1">
                <a:solidFill>
                  <a:srgbClr val="5A6B7B"/>
                </a:solidFill>
                <a:latin typeface="Calibri"/>
              </a:rPr>
              <a:t>Takeaway: third-party agents cluster at NVIDIA / AMD / Microsoft / Cisco; Google, Qualcomm and MediaTek lead with in-house &amp; on-device tooling; Marvell is EDA-only.</a:t>
            </a:r>
          </a:p>
        </p:txBody>
      </p:sp>
      <p:sp>
        <p:nvSpPr>
          <p:cNvPr id="17" name="TextBox 16"/>
          <p:cNvSpPr txBox="1"/>
          <p:nvPr/>
        </p:nvSpPr>
        <p:spPr>
          <a:xfrm>
            <a:off x="411480" y="6510528"/>
            <a:ext cx="8229600" cy="274320"/>
          </a:xfrm>
          <a:prstGeom prst="rect">
            <a:avLst/>
          </a:prstGeom>
          <a:noFill/>
        </p:spPr>
        <p:txBody>
          <a:bodyPr wrap="square" anchor="t" lIns="25400" rIns="25400" tIns="25400" bIns="25400">
            <a:spAutoFit/>
          </a:bodyPr>
          <a:lstStyle/>
          <a:p>
            <a:pPr algn="l"/>
            <a:r>
              <a:rPr sz="800" b="0" i="0">
                <a:solidFill>
                  <a:srgbClr val="5A6B7B"/>
                </a:solidFill>
                <a:latin typeface="Calibri"/>
              </a:rPr>
              <a:t>Agentic AI Developer-Tool Adoption  ·  Public-intelligence sweep  ·  2026-05-25</a:t>
            </a:r>
          </a:p>
        </p:txBody>
      </p:sp>
      <p:sp>
        <p:nvSpPr>
          <p:cNvPr id="18" name="TextBox 17"/>
          <p:cNvSpPr txBox="1"/>
          <p:nvPr/>
        </p:nvSpPr>
        <p:spPr>
          <a:xfrm>
            <a:off x="11247120" y="6510528"/>
            <a:ext cx="731520" cy="274320"/>
          </a:xfrm>
          <a:prstGeom prst="rect">
            <a:avLst/>
          </a:prstGeom>
          <a:noFill/>
        </p:spPr>
        <p:txBody>
          <a:bodyPr wrap="square" anchor="t" lIns="25400" rIns="25400" tIns="25400" bIns="25400">
            <a:spAutoFit/>
          </a:bodyPr>
          <a:lstStyle/>
          <a:p>
            <a:pPr algn="r"/>
            <a:r>
              <a:rPr sz="900" b="1" i="0">
                <a:solidFill>
                  <a:srgbClr val="5A6B7B"/>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38100"/>
          </a:xfrm>
          <a:prstGeom prst="rect">
            <a:avLst/>
          </a:prstGeom>
          <a:solidFill>
            <a:srgbClr val="12B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11338560" cy="566928"/>
          </a:xfrm>
          <a:prstGeom prst="rect">
            <a:avLst/>
          </a:prstGeom>
          <a:noFill/>
        </p:spPr>
        <p:txBody>
          <a:bodyPr wrap="square" anchor="ctr" lIns="25400" rIns="25400" tIns="25400" bIns="25400">
            <a:spAutoFit/>
          </a:bodyPr>
          <a:lstStyle/>
          <a:p>
            <a:pPr algn="l"/>
            <a:r>
              <a:rPr sz="2600" b="1" i="0">
                <a:solidFill>
                  <a:srgbClr val="FFFFFF"/>
                </a:solidFill>
                <a:latin typeface="Calibri"/>
              </a:rPr>
              <a:t>Top Tools — Ranking</a:t>
            </a:r>
          </a:p>
        </p:txBody>
      </p:sp>
      <p:sp>
        <p:nvSpPr>
          <p:cNvPr id="5" name="TextBox 4"/>
          <p:cNvSpPr txBox="1"/>
          <p:nvPr/>
        </p:nvSpPr>
        <p:spPr>
          <a:xfrm>
            <a:off x="429768" y="603504"/>
            <a:ext cx="11338560" cy="274320"/>
          </a:xfrm>
          <a:prstGeom prst="rect">
            <a:avLst/>
          </a:prstGeom>
          <a:noFill/>
        </p:spPr>
        <p:txBody>
          <a:bodyPr wrap="square" anchor="t" lIns="25400" rIns="25400" tIns="25400" bIns="25400">
            <a:spAutoFit/>
          </a:bodyPr>
          <a:lstStyle/>
          <a:p>
            <a:pPr algn="l"/>
            <a:r>
              <a:rPr sz="1200" b="0" i="0">
                <a:solidFill>
                  <a:srgbClr val="BFD7EA"/>
                </a:solidFill>
                <a:latin typeface="Calibri"/>
              </a:rPr>
              <a:t>By cross-company pervasiveness of confirmed/strong internal use</a:t>
            </a:r>
          </a:p>
        </p:txBody>
      </p:sp>
      <p:graphicFrame>
        <p:nvGraphicFramePr>
          <p:cNvPr id="6" name="Table 5"/>
          <p:cNvGraphicFramePr>
            <a:graphicFrameLocks noGrp="1"/>
          </p:cNvGraphicFramePr>
          <p:nvPr/>
        </p:nvGraphicFramePr>
        <p:xfrm>
          <a:off x="411480" y="1280160"/>
          <a:ext cx="11384280" cy="4663440"/>
        </p:xfrm>
        <a:graphic>
          <a:graphicData uri="http://schemas.openxmlformats.org/drawingml/2006/table">
            <a:tbl>
              <a:tblPr>
                <a:tableStyleId>{5C22544A-7EE6-4342-B048-85BDC9FD1C3A}</a:tableStyleId>
              </a:tblPr>
              <a:tblGrid>
                <a:gridCol w="548640"/>
                <a:gridCol w="2743200"/>
                <a:gridCol w="1280160"/>
                <a:gridCol w="914400"/>
                <a:gridCol w="5897880"/>
              </a:tblGrid>
              <a:tr h="384048">
                <a:tc>
                  <a:txBody>
                    <a:bodyPr wrap="square"/>
                    <a:lstStyle/>
                    <a:p>
                      <a:pPr algn="ctr"/>
                      <a:r>
                        <a:rPr sz="1100" b="1">
                          <a:solidFill>
                            <a:srgbClr val="FFFFFF"/>
                          </a:solidFill>
                          <a:latin typeface="Calibri"/>
                        </a:rPr>
                        <a:t>#</a:t>
                      </a:r>
                    </a:p>
                  </a:txBody>
                  <a:tcPr anchor="ctr" marL="76200" marR="76200" marT="25400" marB="25400">
                    <a:solidFill>
                      <a:srgbClr val="0F2A4A"/>
                    </a:solidFill>
                  </a:tcPr>
                </a:tc>
                <a:tc>
                  <a:txBody>
                    <a:bodyPr wrap="square"/>
                    <a:lstStyle/>
                    <a:p>
                      <a:pPr algn="l"/>
                      <a:r>
                        <a:rPr sz="1100" b="1">
                          <a:solidFill>
                            <a:srgbClr val="FFFFFF"/>
                          </a:solidFill>
                          <a:latin typeface="Calibri"/>
                        </a:rPr>
                        <a:t>Tool / category</a:t>
                      </a:r>
                    </a:p>
                  </a:txBody>
                  <a:tcPr anchor="ctr" marL="76200" marR="76200" marT="25400" marB="25400">
                    <a:solidFill>
                      <a:srgbClr val="0F2A4A"/>
                    </a:solidFill>
                  </a:tcPr>
                </a:tc>
                <a:tc>
                  <a:txBody>
                    <a:bodyPr wrap="square"/>
                    <a:lstStyle/>
                    <a:p>
                      <a:pPr algn="ctr"/>
                      <a:r>
                        <a:rPr sz="1100" b="1">
                          <a:solidFill>
                            <a:srgbClr val="FFFFFF"/>
                          </a:solidFill>
                          <a:latin typeface="Calibri"/>
                        </a:rPr>
                        <a:t>Firms (internal)</a:t>
                      </a:r>
                    </a:p>
                  </a:txBody>
                  <a:tcPr anchor="ctr" marL="76200" marR="76200" marT="25400" marB="25400">
                    <a:solidFill>
                      <a:srgbClr val="0F2A4A"/>
                    </a:solidFill>
                  </a:tcPr>
                </a:tc>
                <a:tc>
                  <a:txBody>
                    <a:bodyPr wrap="square"/>
                    <a:lstStyle/>
                    <a:p>
                      <a:pPr algn="ctr"/>
                      <a:r>
                        <a:rPr sz="1100" b="1">
                          <a:solidFill>
                            <a:srgbClr val="FFFFFF"/>
                          </a:solidFill>
                          <a:latin typeface="Calibri"/>
                        </a:rPr>
                        <a:t>Top tier</a:t>
                      </a:r>
                    </a:p>
                  </a:txBody>
                  <a:tcPr anchor="ctr" marL="76200" marR="76200" marT="25400" marB="25400">
                    <a:solidFill>
                      <a:srgbClr val="0F2A4A"/>
                    </a:solidFill>
                  </a:tcPr>
                </a:tc>
                <a:tc>
                  <a:txBody>
                    <a:bodyPr wrap="square"/>
                    <a:lstStyle/>
                    <a:p>
                      <a:pPr algn="l"/>
                      <a:r>
                        <a:rPr sz="1100" b="1">
                          <a:solidFill>
                            <a:srgbClr val="FFFFFF"/>
                          </a:solidFill>
                          <a:latin typeface="Calibri"/>
                        </a:rPr>
                        <a:t>Notes</a:t>
                      </a:r>
                    </a:p>
                  </a:txBody>
                  <a:tcPr anchor="ctr" marL="76200" marR="76200" marT="25400" marB="25400">
                    <a:solidFill>
                      <a:srgbClr val="0F2A4A"/>
                    </a:solidFill>
                  </a:tcPr>
                </a:tc>
              </a:tr>
              <a:tr h="713232">
                <a:tc>
                  <a:txBody>
                    <a:bodyPr wrap="square"/>
                    <a:lstStyle/>
                    <a:p>
                      <a:pPr algn="ctr"/>
                      <a:r>
                        <a:rPr sz="1500" b="1">
                          <a:solidFill>
                            <a:srgbClr val="1F77B4"/>
                          </a:solidFill>
                          <a:latin typeface="Calibri"/>
                        </a:rPr>
                        <a:t>1</a:t>
                      </a:r>
                    </a:p>
                  </a:txBody>
                  <a:tcPr anchor="ctr" marL="76200" marR="76200" marT="25400" marB="25400">
                    <a:solidFill>
                      <a:srgbClr val="FFFFFF"/>
                    </a:solidFill>
                  </a:tcPr>
                </a:tc>
                <a:tc>
                  <a:txBody>
                    <a:bodyPr wrap="square"/>
                    <a:lstStyle/>
                    <a:p>
                      <a:pPr algn="l"/>
                      <a:r>
                        <a:rPr sz="1200" b="1">
                          <a:solidFill>
                            <a:srgbClr val="1B2A38"/>
                          </a:solidFill>
                          <a:latin typeface="Calibri"/>
                        </a:rPr>
                        <a:t>Claude Code</a:t>
                      </a:r>
                    </a:p>
                  </a:txBody>
                  <a:tcPr anchor="ctr" marL="76200" marR="76200" marT="25400" marB="25400">
                    <a:solidFill>
                      <a:srgbClr val="FFFFFF"/>
                    </a:solidFill>
                  </a:tcPr>
                </a:tc>
                <a:tc>
                  <a:txBody>
                    <a:bodyPr wrap="square"/>
                    <a:lstStyle/>
                    <a:p>
                      <a:pPr algn="ctr"/>
                      <a:r>
                        <a:rPr sz="1200" b="1">
                          <a:solidFill>
                            <a:srgbClr val="1B2A38"/>
                          </a:solidFill>
                          <a:latin typeface="Calibri"/>
                        </a:rPr>
                        <a:t>~6</a:t>
                      </a:r>
                    </a:p>
                  </a:txBody>
                  <a:tcPr anchor="ctr" marL="76200" marR="76200" marT="25400" marB="25400">
                    <a:solidFill>
                      <a:srgbClr val="FFFFFF"/>
                    </a:solidFill>
                  </a:tcPr>
                </a:tc>
                <a:tc>
                  <a:txBody>
                    <a:bodyPr wrap="square"/>
                    <a:lstStyle/>
                    <a:p>
                      <a:pPr algn="ctr"/>
                      <a:r>
                        <a:rPr sz="1100" b="1">
                          <a:solidFill>
                            <a:srgbClr val="FFFFFF"/>
                          </a:solidFill>
                          <a:latin typeface="Calibri"/>
                        </a:rPr>
                        <a:t>T1</a:t>
                      </a:r>
                    </a:p>
                  </a:txBody>
                  <a:tcPr anchor="ctr" marL="76200" marR="76200" marT="25400" marB="25400">
                    <a:solidFill>
                      <a:srgbClr val="2E7D32"/>
                    </a:solidFill>
                  </a:tcPr>
                </a:tc>
                <a:tc>
                  <a:txBody>
                    <a:bodyPr wrap="square"/>
                    <a:lstStyle/>
                    <a:p>
                      <a:pPr algn="l"/>
                      <a:r>
                        <a:rPr sz="969" b="0">
                          <a:solidFill>
                            <a:srgbClr val="1B2A38"/>
                          </a:solidFill>
                          <a:latin typeface="Calibri"/>
                        </a:rPr>
                        <a:t>Most pervasive thread: AMD (T1), Apple (T2), Microsoft (T2, phasing out), NVIDIA (T3), Cisco (T3), Broadcom (plausible).</a:t>
                      </a:r>
                    </a:p>
                  </a:txBody>
                  <a:tcPr anchor="ctr" marL="76200" marR="76200" marT="25400" marB="25400">
                    <a:solidFill>
                      <a:srgbClr val="FFFFFF"/>
                    </a:solidFill>
                  </a:tcPr>
                </a:tc>
              </a:tr>
              <a:tr h="713232">
                <a:tc>
                  <a:txBody>
                    <a:bodyPr wrap="square"/>
                    <a:lstStyle/>
                    <a:p>
                      <a:pPr algn="ctr"/>
                      <a:r>
                        <a:rPr sz="1500" b="1">
                          <a:solidFill>
                            <a:srgbClr val="1F77B4"/>
                          </a:solidFill>
                          <a:latin typeface="Calibri"/>
                        </a:rPr>
                        <a:t>2</a:t>
                      </a:r>
                    </a:p>
                  </a:txBody>
                  <a:tcPr anchor="ctr" marL="76200" marR="76200" marT="25400" marB="25400">
                    <a:solidFill>
                      <a:srgbClr val="E7EDF3"/>
                    </a:solidFill>
                  </a:tcPr>
                </a:tc>
                <a:tc>
                  <a:txBody>
                    <a:bodyPr wrap="square"/>
                    <a:lstStyle/>
                    <a:p>
                      <a:pPr algn="l"/>
                      <a:r>
                        <a:rPr sz="1200" b="1">
                          <a:solidFill>
                            <a:srgbClr val="1B2A38"/>
                          </a:solidFill>
                          <a:latin typeface="Calibri"/>
                        </a:rPr>
                        <a:t>In-house / on-device tools</a:t>
                      </a:r>
                    </a:p>
                  </a:txBody>
                  <a:tcPr anchor="ctr" marL="76200" marR="76200" marT="25400" marB="25400">
                    <a:solidFill>
                      <a:srgbClr val="E7EDF3"/>
                    </a:solidFill>
                  </a:tcPr>
                </a:tc>
                <a:tc>
                  <a:txBody>
                    <a:bodyPr wrap="square"/>
                    <a:lstStyle/>
                    <a:p>
                      <a:pPr algn="ctr"/>
                      <a:r>
                        <a:rPr sz="1200" b="1">
                          <a:solidFill>
                            <a:srgbClr val="1B2A38"/>
                          </a:solidFill>
                          <a:latin typeface="Calibri"/>
                        </a:rPr>
                        <a:t>5</a:t>
                      </a:r>
                    </a:p>
                  </a:txBody>
                  <a:tcPr anchor="ctr" marL="76200" marR="76200" marT="25400" marB="25400">
                    <a:solidFill>
                      <a:srgbClr val="E7EDF3"/>
                    </a:solidFill>
                  </a:tcPr>
                </a:tc>
                <a:tc>
                  <a:txBody>
                    <a:bodyPr wrap="square"/>
                    <a:lstStyle/>
                    <a:p>
                      <a:pPr algn="ctr"/>
                      <a:r>
                        <a:rPr sz="1100" b="1">
                          <a:solidFill>
                            <a:srgbClr val="FFFFFF"/>
                          </a:solidFill>
                          <a:latin typeface="Calibri"/>
                        </a:rPr>
                        <a:t>T1</a:t>
                      </a:r>
                    </a:p>
                  </a:txBody>
                  <a:tcPr anchor="ctr" marL="76200" marR="76200" marT="25400" marB="25400">
                    <a:solidFill>
                      <a:srgbClr val="2E7D32"/>
                    </a:solidFill>
                  </a:tcPr>
                </a:tc>
                <a:tc>
                  <a:txBody>
                    <a:bodyPr wrap="square"/>
                    <a:lstStyle/>
                    <a:p>
                      <a:pPr algn="l"/>
                      <a:r>
                        <a:rPr sz="969" b="0">
                          <a:solidFill>
                            <a:srgbClr val="1B2A38"/>
                          </a:solidFill>
                          <a:latin typeface="Calibri"/>
                        </a:rPr>
                        <a:t>Firms build their own: Google Gemini stack (T1), MediaTek GPT-4/DaVinci (T1), Cisco JARVIS (T1), Qualcomm on-device (T2), Broadcom via Tanzu (T2).</a:t>
                      </a:r>
                    </a:p>
                  </a:txBody>
                  <a:tcPr anchor="ctr" marL="76200" marR="76200" marT="25400" marB="25400">
                    <a:solidFill>
                      <a:srgbClr val="E7EDF3"/>
                    </a:solidFill>
                  </a:tcPr>
                </a:tc>
              </a:tr>
              <a:tr h="713232">
                <a:tc>
                  <a:txBody>
                    <a:bodyPr wrap="square"/>
                    <a:lstStyle/>
                    <a:p>
                      <a:pPr algn="ctr"/>
                      <a:r>
                        <a:rPr sz="1500" b="1">
                          <a:solidFill>
                            <a:srgbClr val="1F77B4"/>
                          </a:solidFill>
                          <a:latin typeface="Calibri"/>
                        </a:rPr>
                        <a:t>3</a:t>
                      </a:r>
                    </a:p>
                  </a:txBody>
                  <a:tcPr anchor="ctr" marL="76200" marR="76200" marT="25400" marB="25400">
                    <a:solidFill>
                      <a:srgbClr val="FFFFFF"/>
                    </a:solidFill>
                  </a:tcPr>
                </a:tc>
                <a:tc>
                  <a:txBody>
                    <a:bodyPr wrap="square"/>
                    <a:lstStyle/>
                    <a:p>
                      <a:pPr algn="l"/>
                      <a:r>
                        <a:rPr sz="1200" b="1">
                          <a:solidFill>
                            <a:srgbClr val="1B2A38"/>
                          </a:solidFill>
                          <a:latin typeface="Calibri"/>
                        </a:rPr>
                        <a:t>OpenAI Codex</a:t>
                      </a:r>
                    </a:p>
                  </a:txBody>
                  <a:tcPr anchor="ctr" marL="76200" marR="76200" marT="25400" marB="25400">
                    <a:solidFill>
                      <a:srgbClr val="FFFFFF"/>
                    </a:solidFill>
                  </a:tcPr>
                </a:tc>
                <a:tc>
                  <a:txBody>
                    <a:bodyPr wrap="square"/>
                    <a:lstStyle/>
                    <a:p>
                      <a:pPr algn="ctr"/>
                      <a:r>
                        <a:rPr sz="1200" b="1">
                          <a:solidFill>
                            <a:srgbClr val="1B2A38"/>
                          </a:solidFill>
                          <a:latin typeface="Calibri"/>
                        </a:rPr>
                        <a:t>2</a:t>
                      </a:r>
                    </a:p>
                  </a:txBody>
                  <a:tcPr anchor="ctr" marL="76200" marR="76200" marT="25400" marB="25400">
                    <a:solidFill>
                      <a:srgbClr val="FFFFFF"/>
                    </a:solidFill>
                  </a:tcPr>
                </a:tc>
                <a:tc>
                  <a:txBody>
                    <a:bodyPr wrap="square"/>
                    <a:lstStyle/>
                    <a:p>
                      <a:pPr algn="ctr"/>
                      <a:r>
                        <a:rPr sz="1100" b="1">
                          <a:solidFill>
                            <a:srgbClr val="FFFFFF"/>
                          </a:solidFill>
                          <a:latin typeface="Calibri"/>
                        </a:rPr>
                        <a:t>T1</a:t>
                      </a:r>
                    </a:p>
                  </a:txBody>
                  <a:tcPr anchor="ctr" marL="76200" marR="76200" marT="25400" marB="25400">
                    <a:solidFill>
                      <a:srgbClr val="2E7D32"/>
                    </a:solidFill>
                  </a:tcPr>
                </a:tc>
                <a:tc>
                  <a:txBody>
                    <a:bodyPr wrap="square"/>
                    <a:lstStyle/>
                    <a:p>
                      <a:pPr algn="l"/>
                      <a:r>
                        <a:rPr sz="969" b="0">
                          <a:solidFill>
                            <a:srgbClr val="1B2A38"/>
                          </a:solidFill>
                          <a:latin typeface="Calibri"/>
                        </a:rPr>
                        <a:t>NVIDIA (T1, ~10k employees) + AMD (T2, ROCm backend); Apple ships it in Xcode (product).</a:t>
                      </a:r>
                    </a:p>
                  </a:txBody>
                  <a:tcPr anchor="ctr" marL="76200" marR="76200" marT="25400" marB="25400">
                    <a:solidFill>
                      <a:srgbClr val="FFFFFF"/>
                    </a:solidFill>
                  </a:tcPr>
                </a:tc>
              </a:tr>
              <a:tr h="713232">
                <a:tc>
                  <a:txBody>
                    <a:bodyPr wrap="square"/>
                    <a:lstStyle/>
                    <a:p>
                      <a:pPr algn="ctr"/>
                      <a:r>
                        <a:rPr sz="1500" b="1">
                          <a:solidFill>
                            <a:srgbClr val="1F77B4"/>
                          </a:solidFill>
                          <a:latin typeface="Calibri"/>
                        </a:rPr>
                        <a:t>4</a:t>
                      </a:r>
                    </a:p>
                  </a:txBody>
                  <a:tcPr anchor="ctr" marL="76200" marR="76200" marT="25400" marB="25400">
                    <a:solidFill>
                      <a:srgbClr val="E7EDF3"/>
                    </a:solidFill>
                  </a:tcPr>
                </a:tc>
                <a:tc>
                  <a:txBody>
                    <a:bodyPr wrap="square"/>
                    <a:lstStyle/>
                    <a:p>
                      <a:pPr algn="l"/>
                      <a:r>
                        <a:rPr sz="1200" b="1">
                          <a:solidFill>
                            <a:srgbClr val="1B2A38"/>
                          </a:solidFill>
                          <a:latin typeface="Calibri"/>
                        </a:rPr>
                        <a:t>GitHub Copilot</a:t>
                      </a:r>
                    </a:p>
                  </a:txBody>
                  <a:tcPr anchor="ctr" marL="76200" marR="76200" marT="25400" marB="25400">
                    <a:solidFill>
                      <a:srgbClr val="E7EDF3"/>
                    </a:solidFill>
                  </a:tcPr>
                </a:tc>
                <a:tc>
                  <a:txBody>
                    <a:bodyPr wrap="square"/>
                    <a:lstStyle/>
                    <a:p>
                      <a:pPr algn="ctr"/>
                      <a:r>
                        <a:rPr sz="1200" b="1">
                          <a:solidFill>
                            <a:srgbClr val="1B2A38"/>
                          </a:solidFill>
                          <a:latin typeface="Calibri"/>
                        </a:rPr>
                        <a:t>2</a:t>
                      </a:r>
                    </a:p>
                  </a:txBody>
                  <a:tcPr anchor="ctr" marL="76200" marR="76200" marT="25400" marB="25400">
                    <a:solidFill>
                      <a:srgbClr val="E7EDF3"/>
                    </a:solidFill>
                  </a:tcPr>
                </a:tc>
                <a:tc>
                  <a:txBody>
                    <a:bodyPr wrap="square"/>
                    <a:lstStyle/>
                    <a:p>
                      <a:pPr algn="ctr"/>
                      <a:r>
                        <a:rPr sz="1100" b="1">
                          <a:solidFill>
                            <a:srgbClr val="FFFFFF"/>
                          </a:solidFill>
                          <a:latin typeface="Calibri"/>
                        </a:rPr>
                        <a:t>T1</a:t>
                      </a:r>
                    </a:p>
                  </a:txBody>
                  <a:tcPr anchor="ctr" marL="76200" marR="76200" marT="25400" marB="25400">
                    <a:solidFill>
                      <a:srgbClr val="2E7D32"/>
                    </a:solidFill>
                  </a:tcPr>
                </a:tc>
                <a:tc>
                  <a:txBody>
                    <a:bodyPr wrap="square"/>
                    <a:lstStyle/>
                    <a:p>
                      <a:pPr algn="l"/>
                      <a:r>
                        <a:rPr sz="969" b="0">
                          <a:solidFill>
                            <a:srgbClr val="1B2A38"/>
                          </a:solidFill>
                          <a:latin typeface="Calibri"/>
                        </a:rPr>
                        <a:t>Microsoft (T1, dogfood + maker) + Cisco (T1, ~6k devs). Banned at Apple; absent at chip firms.</a:t>
                      </a:r>
                    </a:p>
                  </a:txBody>
                  <a:tcPr anchor="ctr" marL="76200" marR="76200" marT="25400" marB="25400">
                    <a:solidFill>
                      <a:srgbClr val="E7EDF3"/>
                    </a:solidFill>
                  </a:tcPr>
                </a:tc>
              </a:tr>
              <a:tr h="713232">
                <a:tc>
                  <a:txBody>
                    <a:bodyPr wrap="square"/>
                    <a:lstStyle/>
                    <a:p>
                      <a:pPr algn="ctr"/>
                      <a:r>
                        <a:rPr sz="1500" b="1">
                          <a:solidFill>
                            <a:srgbClr val="1F77B4"/>
                          </a:solidFill>
                          <a:latin typeface="Calibri"/>
                        </a:rPr>
                        <a:t>5</a:t>
                      </a:r>
                    </a:p>
                  </a:txBody>
                  <a:tcPr anchor="ctr" marL="76200" marR="76200" marT="25400" marB="25400">
                    <a:solidFill>
                      <a:srgbClr val="FFFFFF"/>
                    </a:solidFill>
                  </a:tcPr>
                </a:tc>
                <a:tc>
                  <a:txBody>
                    <a:bodyPr wrap="square"/>
                    <a:lstStyle/>
                    <a:p>
                      <a:pPr algn="l"/>
                      <a:r>
                        <a:rPr sz="1200" b="1">
                          <a:solidFill>
                            <a:srgbClr val="1B2A38"/>
                          </a:solidFill>
                          <a:latin typeface="Calibri"/>
                        </a:rPr>
                        <a:t>Cursor</a:t>
                      </a:r>
                    </a:p>
                  </a:txBody>
                  <a:tcPr anchor="ctr" marL="76200" marR="76200" marT="25400" marB="25400">
                    <a:solidFill>
                      <a:srgbClr val="FFFFFF"/>
                    </a:solidFill>
                  </a:tcPr>
                </a:tc>
                <a:tc>
                  <a:txBody>
                    <a:bodyPr wrap="square"/>
                    <a:lstStyle/>
                    <a:p>
                      <a:pPr algn="ctr"/>
                      <a:r>
                        <a:rPr sz="1200" b="1">
                          <a:solidFill>
                            <a:srgbClr val="1B2A38"/>
                          </a:solidFill>
                          <a:latin typeface="Calibri"/>
                        </a:rPr>
                        <a:t>1</a:t>
                      </a:r>
                    </a:p>
                  </a:txBody>
                  <a:tcPr anchor="ctr" marL="76200" marR="76200" marT="25400" marB="25400">
                    <a:solidFill>
                      <a:srgbClr val="FFFFFF"/>
                    </a:solidFill>
                  </a:tcPr>
                </a:tc>
                <a:tc>
                  <a:txBody>
                    <a:bodyPr wrap="square"/>
                    <a:lstStyle/>
                    <a:p>
                      <a:pPr algn="ctr"/>
                      <a:r>
                        <a:rPr sz="1100" b="1">
                          <a:solidFill>
                            <a:srgbClr val="FFFFFF"/>
                          </a:solidFill>
                          <a:latin typeface="Calibri"/>
                        </a:rPr>
                        <a:t>T1</a:t>
                      </a:r>
                    </a:p>
                  </a:txBody>
                  <a:tcPr anchor="ctr" marL="76200" marR="76200" marT="25400" marB="25400">
                    <a:solidFill>
                      <a:srgbClr val="2E7D32"/>
                    </a:solidFill>
                  </a:tcPr>
                </a:tc>
                <a:tc>
                  <a:txBody>
                    <a:bodyPr wrap="square"/>
                    <a:lstStyle/>
                    <a:p>
                      <a:pPr algn="l"/>
                      <a:r>
                        <a:rPr sz="969" b="0">
                          <a:solidFill>
                            <a:srgbClr val="1B2A38"/>
                          </a:solidFill>
                          <a:latin typeface="Calibri"/>
                        </a:rPr>
                        <a:t>One flagship deployment: NVIDIA (T1, ~30k engineers, 3x code). AMD lists it as optional backend (T3).</a:t>
                      </a:r>
                    </a:p>
                  </a:txBody>
                  <a:tcPr anchor="ctr" marL="76200" marR="76200" marT="25400" marB="25400">
                    <a:solidFill>
                      <a:srgbClr val="FFFFFF"/>
                    </a:solidFill>
                  </a:tcPr>
                </a:tc>
              </a:tr>
              <a:tr h="713232">
                <a:tc>
                  <a:txBody>
                    <a:bodyPr wrap="square"/>
                    <a:lstStyle/>
                    <a:p>
                      <a:pPr algn="ctr"/>
                      <a:r>
                        <a:rPr sz="1500" b="1">
                          <a:solidFill>
                            <a:srgbClr val="1F77B4"/>
                          </a:solidFill>
                          <a:latin typeface="Calibri"/>
                        </a:rPr>
                        <a:t>6</a:t>
                      </a:r>
                    </a:p>
                  </a:txBody>
                  <a:tcPr anchor="ctr" marL="76200" marR="76200" marT="25400" marB="25400">
                    <a:solidFill>
                      <a:srgbClr val="E7EDF3"/>
                    </a:solidFill>
                  </a:tcPr>
                </a:tc>
                <a:tc>
                  <a:txBody>
                    <a:bodyPr wrap="square"/>
                    <a:lstStyle/>
                    <a:p>
                      <a:pPr algn="l"/>
                      <a:r>
                        <a:rPr sz="1200" b="1">
                          <a:solidFill>
                            <a:srgbClr val="1B2A38"/>
                          </a:solidFill>
                          <a:latin typeface="Calibri"/>
                        </a:rPr>
                        <a:t>EDA / HDL domain AI</a:t>
                      </a:r>
                    </a:p>
                  </a:txBody>
                  <a:tcPr anchor="ctr" marL="76200" marR="76200" marT="25400" marB="25400">
                    <a:solidFill>
                      <a:srgbClr val="E7EDF3"/>
                    </a:solidFill>
                  </a:tcPr>
                </a:tc>
                <a:tc>
                  <a:txBody>
                    <a:bodyPr wrap="square"/>
                    <a:lstStyle/>
                    <a:p>
                      <a:pPr algn="ctr"/>
                      <a:r>
                        <a:rPr sz="1200" b="1">
                          <a:solidFill>
                            <a:srgbClr val="1B2A38"/>
                          </a:solidFill>
                          <a:latin typeface="Calibri"/>
                        </a:rPr>
                        <a:t>2</a:t>
                      </a:r>
                    </a:p>
                  </a:txBody>
                  <a:tcPr anchor="ctr" marL="76200" marR="76200" marT="25400" marB="25400">
                    <a:solidFill>
                      <a:srgbClr val="E7EDF3"/>
                    </a:solidFill>
                  </a:tcPr>
                </a:tc>
                <a:tc>
                  <a:txBody>
                    <a:bodyPr wrap="square"/>
                    <a:lstStyle/>
                    <a:p>
                      <a:pPr algn="ctr"/>
                      <a:r>
                        <a:rPr sz="1100" b="1">
                          <a:solidFill>
                            <a:srgbClr val="FFFFFF"/>
                          </a:solidFill>
                          <a:latin typeface="Calibri"/>
                        </a:rPr>
                        <a:t>T1</a:t>
                      </a:r>
                    </a:p>
                  </a:txBody>
                  <a:tcPr anchor="ctr" marL="76200" marR="76200" marT="25400" marB="25400">
                    <a:solidFill>
                      <a:srgbClr val="2E7D32"/>
                    </a:solidFill>
                  </a:tcPr>
                </a:tc>
                <a:tc>
                  <a:txBody>
                    <a:bodyPr wrap="square"/>
                    <a:lstStyle/>
                    <a:p>
                      <a:pPr algn="l"/>
                      <a:r>
                        <a:rPr sz="969" b="0">
                          <a:solidFill>
                            <a:srgbClr val="1B2A38"/>
                          </a:solidFill>
                          <a:latin typeface="Calibri"/>
                        </a:rPr>
                        <a:t>Niche: Marvell Synopsys Formal Advisor (T1), Qualcomm Verilog LLMs (T3).</a:t>
                      </a:r>
                    </a:p>
                  </a:txBody>
                  <a:tcPr anchor="ctr" marL="76200" marR="76200" marT="25400" marB="25400">
                    <a:solidFill>
                      <a:srgbClr val="E7EDF3"/>
                    </a:solidFill>
                  </a:tcPr>
                </a:tc>
              </a:tr>
            </a:tbl>
          </a:graphicData>
        </a:graphic>
      </p:graphicFrame>
      <p:sp>
        <p:nvSpPr>
          <p:cNvPr id="7" name="TextBox 6"/>
          <p:cNvSpPr txBox="1"/>
          <p:nvPr/>
        </p:nvSpPr>
        <p:spPr>
          <a:xfrm>
            <a:off x="411480" y="6510528"/>
            <a:ext cx="8229600" cy="274320"/>
          </a:xfrm>
          <a:prstGeom prst="rect">
            <a:avLst/>
          </a:prstGeom>
          <a:noFill/>
        </p:spPr>
        <p:txBody>
          <a:bodyPr wrap="square" anchor="t" lIns="25400" rIns="25400" tIns="25400" bIns="25400">
            <a:spAutoFit/>
          </a:bodyPr>
          <a:lstStyle/>
          <a:p>
            <a:pPr algn="l"/>
            <a:r>
              <a:rPr sz="800" b="0" i="0">
                <a:solidFill>
                  <a:srgbClr val="5A6B7B"/>
                </a:solidFill>
                <a:latin typeface="Calibri"/>
              </a:rPr>
              <a:t>Agentic AI Developer-Tool Adoption  ·  Public-intelligence sweep  ·  2026-05-25</a:t>
            </a:r>
          </a:p>
        </p:txBody>
      </p:sp>
      <p:sp>
        <p:nvSpPr>
          <p:cNvPr id="8" name="TextBox 7"/>
          <p:cNvSpPr txBox="1"/>
          <p:nvPr/>
        </p:nvSpPr>
        <p:spPr>
          <a:xfrm>
            <a:off x="11247120" y="6510528"/>
            <a:ext cx="731520" cy="274320"/>
          </a:xfrm>
          <a:prstGeom prst="rect">
            <a:avLst/>
          </a:prstGeom>
          <a:noFill/>
        </p:spPr>
        <p:txBody>
          <a:bodyPr wrap="square" anchor="t" lIns="25400" rIns="25400" tIns="25400" bIns="25400">
            <a:spAutoFit/>
          </a:bodyPr>
          <a:lstStyle/>
          <a:p>
            <a:pPr algn="r"/>
            <a:r>
              <a:rPr sz="900" b="1" i="0">
                <a:solidFill>
                  <a:srgbClr val="5A6B7B"/>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14400"/>
            <a:ext cx="12191695" cy="38100"/>
          </a:xfrm>
          <a:prstGeom prst="rect">
            <a:avLst/>
          </a:prstGeom>
          <a:solidFill>
            <a:srgbClr val="12B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91440"/>
            <a:ext cx="11338560" cy="566928"/>
          </a:xfrm>
          <a:prstGeom prst="rect">
            <a:avLst/>
          </a:prstGeom>
          <a:noFill/>
        </p:spPr>
        <p:txBody>
          <a:bodyPr wrap="square" anchor="ctr" lIns="25400" rIns="25400" tIns="25400" bIns="25400">
            <a:spAutoFit/>
          </a:bodyPr>
          <a:lstStyle/>
          <a:p>
            <a:pPr algn="l"/>
            <a:r>
              <a:rPr sz="2600" b="1" i="0">
                <a:solidFill>
                  <a:srgbClr val="FFFFFF"/>
                </a:solidFill>
                <a:latin typeface="Calibri"/>
              </a:rPr>
              <a:t>Conclusion</a:t>
            </a:r>
          </a:p>
        </p:txBody>
      </p:sp>
      <p:sp>
        <p:nvSpPr>
          <p:cNvPr id="5" name="TextBox 4"/>
          <p:cNvSpPr txBox="1"/>
          <p:nvPr/>
        </p:nvSpPr>
        <p:spPr>
          <a:xfrm>
            <a:off x="640080" y="1280160"/>
            <a:ext cx="10972800" cy="4023360"/>
          </a:xfrm>
          <a:prstGeom prst="rect">
            <a:avLst/>
          </a:prstGeom>
          <a:noFill/>
        </p:spPr>
        <p:txBody>
          <a:bodyPr wrap="square" anchor="t" lIns="25400" rIns="25400" tIns="25400" bIns="25400">
            <a:spAutoFit/>
          </a:bodyPr>
          <a:lstStyle/>
          <a:p>
            <a:pPr algn="l">
              <a:lnSpc>
                <a:spcPct val="105000"/>
              </a:lnSpc>
              <a:spcAft>
                <a:spcPts val="1400"/>
              </a:spcAft>
            </a:pPr>
            <a:r>
              <a:rPr sz="1500" b="0" i="0">
                <a:solidFill>
                  <a:srgbClr val="1B2A38"/>
                </a:solidFill>
                <a:latin typeface="Calibri"/>
              </a:rPr>
              <a:t>•  Agentic coding tools have crossed into mainstream enterprise engineering: 9 of 10 firms show some adoption, and the lone laggard signal (Marvell) is domain-specific, not an absence of interest.</a:t>
            </a:r>
          </a:p>
          <a:p>
            <a:pPr algn="l">
              <a:lnSpc>
                <a:spcPct val="105000"/>
              </a:lnSpc>
              <a:spcAft>
                <a:spcPts val="1400"/>
              </a:spcAft>
            </a:pPr>
            <a:r>
              <a:rPr sz="1500" b="0" i="0">
                <a:solidFill>
                  <a:srgbClr val="1B2A38"/>
                </a:solidFill>
                <a:latin typeface="Calibri"/>
              </a:rPr>
              <a:t>•  The strategic split is structural — hyperscalers and IP-sensitive chip firms favor in-house / on-device tooling, while others adopt best-of-breed third-party agents (Cursor, Codex, Claude Code, Copilot).</a:t>
            </a:r>
          </a:p>
          <a:p>
            <a:pPr algn="l">
              <a:lnSpc>
                <a:spcPct val="105000"/>
              </a:lnSpc>
              <a:spcAft>
                <a:spcPts val="1400"/>
              </a:spcAft>
            </a:pPr>
            <a:r>
              <a:rPr sz="1500" b="0" i="0">
                <a:solidFill>
                  <a:srgbClr val="1B2A38"/>
                </a:solidFill>
                <a:latin typeface="Calibri"/>
              </a:rPr>
              <a:t>•  Anthropic's Claude Code is the breakout cross-company tool; Microsoft's internal migration away from it toward Copilot CLI is the key counter-signal to watch.</a:t>
            </a:r>
          </a:p>
          <a:p>
            <a:pPr algn="l">
              <a:lnSpc>
                <a:spcPct val="105000"/>
              </a:lnSpc>
              <a:spcAft>
                <a:spcPts val="1400"/>
              </a:spcAft>
            </a:pPr>
            <a:r>
              <a:rPr sz="1500" b="0" i="0">
                <a:solidFill>
                  <a:srgbClr val="1B2A38"/>
                </a:solidFill>
                <a:latin typeface="Calibri"/>
              </a:rPr>
              <a:t>•  Vendor-makers (Google, Microsoft, NVIDIA) both build and dogfood — product strategy and internal adoption are converging.</a:t>
            </a:r>
          </a:p>
          <a:p>
            <a:pPr algn="l">
              <a:lnSpc>
                <a:spcPct val="105000"/>
              </a:lnSpc>
              <a:spcAft>
                <a:spcPts val="1400"/>
              </a:spcAft>
            </a:pPr>
            <a:r>
              <a:rPr sz="1500" b="0" i="0">
                <a:solidFill>
                  <a:srgbClr val="1B2A38"/>
                </a:solidFill>
                <a:latin typeface="Calibri"/>
              </a:rPr>
              <a:t>•  Confidence is solid but bounded: figures are self-reported and fetch-limited; treat scale numbers as directional and revisit as primary disclosures emerge.</a:t>
            </a:r>
          </a:p>
        </p:txBody>
      </p:sp>
      <p:sp>
        <p:nvSpPr>
          <p:cNvPr id="6" name="Rectangle 5"/>
          <p:cNvSpPr/>
          <p:nvPr/>
        </p:nvSpPr>
        <p:spPr>
          <a:xfrm>
            <a:off x="640080" y="5440680"/>
            <a:ext cx="10927080" cy="77724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5440680"/>
            <a:ext cx="146304" cy="777240"/>
          </a:xfrm>
          <a:prstGeom prst="rect">
            <a:avLst/>
          </a:prstGeom>
          <a:solidFill>
            <a:srgbClr val="12B5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5440680"/>
            <a:ext cx="10515600" cy="777240"/>
          </a:xfrm>
          <a:prstGeom prst="rect">
            <a:avLst/>
          </a:prstGeom>
          <a:noFill/>
        </p:spPr>
        <p:txBody>
          <a:bodyPr wrap="square" anchor="ctr" lIns="25400" rIns="25400" tIns="25400" bIns="25400">
            <a:spAutoFit/>
          </a:bodyPr>
          <a:lstStyle/>
          <a:p>
            <a:pPr algn="l"/>
            <a:r>
              <a:rPr sz="1500" b="1" i="0">
                <a:solidFill>
                  <a:srgbClr val="FFFFFF"/>
                </a:solidFill>
                <a:latin typeface="Calibri"/>
              </a:rPr>
              <a:t>Bottom line:  adoption is confirmed and accelerating — the open question is in-house vs third-party, not whether.</a:t>
            </a:r>
          </a:p>
        </p:txBody>
      </p:sp>
      <p:sp>
        <p:nvSpPr>
          <p:cNvPr id="9" name="TextBox 8"/>
          <p:cNvSpPr txBox="1"/>
          <p:nvPr/>
        </p:nvSpPr>
        <p:spPr>
          <a:xfrm>
            <a:off x="411480" y="6510528"/>
            <a:ext cx="8229600" cy="274320"/>
          </a:xfrm>
          <a:prstGeom prst="rect">
            <a:avLst/>
          </a:prstGeom>
          <a:noFill/>
        </p:spPr>
        <p:txBody>
          <a:bodyPr wrap="square" anchor="t" lIns="25400" rIns="25400" tIns="25400" bIns="25400">
            <a:spAutoFit/>
          </a:bodyPr>
          <a:lstStyle/>
          <a:p>
            <a:pPr algn="l"/>
            <a:r>
              <a:rPr sz="800" b="0" i="0">
                <a:solidFill>
                  <a:srgbClr val="5A6B7B"/>
                </a:solidFill>
                <a:latin typeface="Calibri"/>
              </a:rPr>
              <a:t>Agentic AI Developer-Tool Adoption  ·  Public-intelligence sweep  ·  2026-05-25</a:t>
            </a:r>
          </a:p>
        </p:txBody>
      </p:sp>
      <p:sp>
        <p:nvSpPr>
          <p:cNvPr id="10" name="TextBox 9"/>
          <p:cNvSpPr txBox="1"/>
          <p:nvPr/>
        </p:nvSpPr>
        <p:spPr>
          <a:xfrm>
            <a:off x="11247120" y="6510528"/>
            <a:ext cx="731520" cy="274320"/>
          </a:xfrm>
          <a:prstGeom prst="rect">
            <a:avLst/>
          </a:prstGeom>
          <a:noFill/>
        </p:spPr>
        <p:txBody>
          <a:bodyPr wrap="square" anchor="t" lIns="25400" rIns="25400" tIns="25400" bIns="25400">
            <a:spAutoFit/>
          </a:bodyPr>
          <a:lstStyle/>
          <a:p>
            <a:pPr algn="r"/>
            <a:r>
              <a:rPr sz="900" b="1" i="0">
                <a:solidFill>
                  <a:srgbClr val="5A6B7B"/>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